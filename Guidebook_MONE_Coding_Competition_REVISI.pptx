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onsolas Bold" charset="1" panose="020B0709020204030204"/>
      <p:regular r:id="rId25"/>
    </p:embeddedFont>
    <p:embeddedFont>
      <p:font typeface="Arial Bold" charset="1" panose="020B0704020202020204"/>
      <p:regular r:id="rId26"/>
    </p:embeddedFont>
    <p:embeddedFont>
      <p:font typeface="Calibri (MS) Italics" charset="1" panose="020F05020202040A0204"/>
      <p:regular r:id="rId27"/>
    </p:embeddedFont>
    <p:embeddedFont>
      <p:font typeface="Calibri (MS)" charset="1" panose="020F0502020204030204"/>
      <p:regular r:id="rId28"/>
    </p:embeddedFont>
    <p:embeddedFont>
      <p:font typeface="Consolas" charset="1" panose="020B0609020204030204"/>
      <p:regular r:id="rId30"/>
    </p:embeddedFont>
    <p:embeddedFont>
      <p:font typeface="Calibri (MS) Bold" charset="1" panose="020F070203040403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notesMaster" Target="notesMasters/notesMaster1.xml"/><Relationship Id="rId23" Type="http://schemas.openxmlformats.org/officeDocument/2006/relationships/theme" Target="theme/theme2.xml"/><Relationship Id="rId24" Type="http://schemas.openxmlformats.org/officeDocument/2006/relationships/notesSlide" Target="notesSlides/notesSlide1.xml"/><Relationship Id="rId25" Type="http://schemas.openxmlformats.org/officeDocument/2006/relationships/font" Target="fonts/font25.fntdata"/><Relationship Id="rId26" Type="http://schemas.openxmlformats.org/officeDocument/2006/relationships/font" Target="fonts/font26.fntdata"/><Relationship Id="rId27" Type="http://schemas.openxmlformats.org/officeDocument/2006/relationships/font" Target="fonts/font27.fntdata"/><Relationship Id="rId28" Type="http://schemas.openxmlformats.org/officeDocument/2006/relationships/font" Target="fonts/font28.fntdata"/><Relationship Id="rId29" Type="http://schemas.openxmlformats.org/officeDocument/2006/relationships/notesSlide" Target="notesSlides/notesSlide2.xml"/><Relationship Id="rId30" Type="http://schemas.openxmlformats.org/officeDocument/2006/relationships/font" Target="fonts/font30.fntdata"/><Relationship Id="rId31" Type="http://schemas.openxmlformats.org/officeDocument/2006/relationships/notesSlide" Target="notesSlides/notesSlide3.xml"/><Relationship Id="rId32" Type="http://schemas.openxmlformats.org/officeDocument/2006/relationships/notesSlide" Target="notesSlides/notesSlide4.xml"/><Relationship Id="rId33" Type="http://schemas.openxmlformats.org/officeDocument/2006/relationships/font" Target="fonts/font33.fntdata"/><Relationship Id="rId34" Type="http://schemas.openxmlformats.org/officeDocument/2006/relationships/notesSlide" Target="notesSlides/notesSlide5.xml"/><Relationship Id="rId35" Type="http://schemas.openxmlformats.org/officeDocument/2006/relationships/notesSlide" Target="notesSlides/notesSlide6.xml"/><Relationship Id="rId36" Type="http://schemas.openxmlformats.org/officeDocument/2006/relationships/notesSlide" Target="notesSlides/notesSlide7.xml"/><Relationship Id="rId37" Type="http://schemas.openxmlformats.org/officeDocument/2006/relationships/notesSlide" Target="notesSlides/notesSlide8.xml"/><Relationship Id="rId38" Type="http://schemas.openxmlformats.org/officeDocument/2006/relationships/notesSlide" Target="notesSlides/notesSlide9.xml"/><Relationship Id="rId39" Type="http://schemas.openxmlformats.org/officeDocument/2006/relationships/notesSlide" Target="notesSlides/notesSlide10.xml"/><Relationship Id="rId40" Type="http://schemas.openxmlformats.org/officeDocument/2006/relationships/notesSlide" Target="notesSlides/notesSlide11.xml"/><Relationship Id="rId41" Type="http://schemas.openxmlformats.org/officeDocument/2006/relationships/notesSlide" Target="notesSlides/notesSlide12.xml"/><Relationship Id="rId42" Type="http://schemas.openxmlformats.org/officeDocument/2006/relationships/notesSlide" Target="notesSlides/notesSlide13.xml"/><Relationship Id="rId43" Type="http://schemas.openxmlformats.org/officeDocument/2006/relationships/notesSlide" Target="notesSlides/notesSlide14.xml"/><Relationship Id="rId44" Type="http://schemas.openxmlformats.org/officeDocument/2006/relationships/notesSlide" Target="notesSlides/notesSlide15.xml"/><Relationship Id="rId45" Type="http://schemas.openxmlformats.org/officeDocument/2006/relationships/notesSlide" Target="notesSlides/not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s>
</file>

<file path=ppt/slides/_rels/slide2.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0.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jpe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jpe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jpe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jpeg"/><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jpe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jpeg"/><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jpeg"/><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jpe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jpeg"/><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jpeg"/><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Logo1" Type="http://schemas.openxmlformats.org/officeDocument/2006/relationships/image" Target="../media/logo_watermark.png"/><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267463" y="7028183"/>
            <a:ext cx="5328923" cy="683771"/>
            <a:chOff x="0" y="0"/>
            <a:chExt cx="7105231" cy="911695"/>
          </a:xfrm>
        </p:grpSpPr>
        <p:sp>
          <p:nvSpPr>
            <p:cNvPr name="Freeform 4" id="4"/>
            <p:cNvSpPr/>
            <p:nvPr/>
          </p:nvSpPr>
          <p:spPr>
            <a:xfrm flipH="false" flipV="false" rot="0">
              <a:off x="0" y="0"/>
              <a:ext cx="7105142" cy="911733"/>
            </a:xfrm>
            <a:custGeom>
              <a:avLst/>
              <a:gdLst/>
              <a:ahLst/>
              <a:cxnLst/>
              <a:rect r="r" b="b" t="t" l="l"/>
              <a:pathLst>
                <a:path h="911733" w="7105142">
                  <a:moveTo>
                    <a:pt x="0" y="455803"/>
                  </a:moveTo>
                  <a:cubicBezTo>
                    <a:pt x="0" y="204089"/>
                    <a:pt x="204089" y="0"/>
                    <a:pt x="455803" y="0"/>
                  </a:cubicBezTo>
                  <a:lnTo>
                    <a:pt x="6649339" y="0"/>
                  </a:lnTo>
                  <a:cubicBezTo>
                    <a:pt x="6901053" y="0"/>
                    <a:pt x="7105142" y="204089"/>
                    <a:pt x="7105142" y="455803"/>
                  </a:cubicBezTo>
                  <a:cubicBezTo>
                    <a:pt x="7105142" y="707517"/>
                    <a:pt x="6901180" y="911733"/>
                    <a:pt x="6649339" y="911733"/>
                  </a:cubicBezTo>
                  <a:lnTo>
                    <a:pt x="455803" y="911733"/>
                  </a:lnTo>
                  <a:cubicBezTo>
                    <a:pt x="204089" y="911733"/>
                    <a:pt x="0" y="707644"/>
                    <a:pt x="0" y="455803"/>
                  </a:cubicBezTo>
                  <a:close/>
                </a:path>
              </a:pathLst>
            </a:custGeom>
            <a:solidFill>
              <a:srgbClr val="FFC81E"/>
            </a:solidFill>
            <a:ln w="25400" cap="sq">
              <a:solidFill>
                <a:srgbClr val="FFC81E"/>
              </a:solidFill>
              <a:prstDash val="solid"/>
              <a:miter/>
            </a:ln>
          </p:spPr>
        </p:sp>
      </p:grpSp>
      <p:grpSp>
        <p:nvGrpSpPr>
          <p:cNvPr name="Group 5" id="5"/>
          <p:cNvGrpSpPr/>
          <p:nvPr/>
        </p:nvGrpSpPr>
        <p:grpSpPr>
          <a:xfrm rot="0">
            <a:off x="1280160" y="7040880"/>
            <a:ext cx="5303520" cy="658368"/>
            <a:chOff x="0" y="0"/>
            <a:chExt cx="7071360" cy="877824"/>
          </a:xfrm>
        </p:grpSpPr>
        <p:sp>
          <p:nvSpPr>
            <p:cNvPr name="Freeform 6" id="6"/>
            <p:cNvSpPr/>
            <p:nvPr/>
          </p:nvSpPr>
          <p:spPr>
            <a:xfrm flipH="false" flipV="false" rot="0">
              <a:off x="0" y="0"/>
              <a:ext cx="7071360" cy="877824"/>
            </a:xfrm>
            <a:custGeom>
              <a:avLst/>
              <a:gdLst/>
              <a:ahLst/>
              <a:cxnLst/>
              <a:rect r="r" b="b" t="t" l="l"/>
              <a:pathLst>
                <a:path h="877824" w="7071360">
                  <a:moveTo>
                    <a:pt x="0" y="0"/>
                  </a:moveTo>
                  <a:lnTo>
                    <a:pt x="7071360" y="0"/>
                  </a:lnTo>
                  <a:lnTo>
                    <a:pt x="7071360" y="877824"/>
                  </a:lnTo>
                  <a:lnTo>
                    <a:pt x="0" y="877824"/>
                  </a:lnTo>
                  <a:close/>
                </a:path>
              </a:pathLst>
            </a:custGeom>
            <a:blipFill>
              <a:blip r:embed="rId4">
                <a:alphaModFix amt="0"/>
              </a:blip>
              <a:stretch>
                <a:fillRect l="0" t="-106962" r="0" b="-106962"/>
              </a:stretch>
            </a:blipFill>
          </p:spPr>
        </p:sp>
        <p:sp>
          <p:nvSpPr>
            <p:cNvPr name="TextBox 7" id="7"/>
            <p:cNvSpPr txBox="true"/>
            <p:nvPr/>
          </p:nvSpPr>
          <p:spPr>
            <a:xfrm>
              <a:off x="0" y="-47625"/>
              <a:ext cx="7071360" cy="925449"/>
            </a:xfrm>
            <a:prstGeom prst="rect">
              <a:avLst/>
            </a:prstGeom>
          </p:spPr>
          <p:txBody>
            <a:bodyPr anchor="ctr" rtlCol="false" tIns="0" lIns="0" bIns="0" rIns="0"/>
            <a:lstStyle/>
            <a:p>
              <a:pPr algn="ctr">
                <a:lnSpc>
                  <a:spcPts val="2400"/>
                </a:lnSpc>
              </a:pPr>
              <a:r>
                <a:rPr lang="en-US" sz="2000" b="true">
                  <a:solidFill>
                    <a:srgbClr val="0A1F44"/>
                  </a:solidFill>
                  <a:latin typeface="Consolas Bold"/>
                  <a:ea typeface="Consolas Bold"/>
                  <a:cs typeface="Consolas Bold"/>
                  <a:sym typeface="Consolas Bold"/>
                </a:rPr>
                <a:t>WEB EDUCATION FOR KIDS · SD</a:t>
              </a:r>
            </a:p>
          </p:txBody>
        </p:sp>
      </p:grpSp>
      <p:grpSp>
        <p:nvGrpSpPr>
          <p:cNvPr name="Group 8" id="8"/>
          <p:cNvGrpSpPr/>
          <p:nvPr/>
        </p:nvGrpSpPr>
        <p:grpSpPr>
          <a:xfrm rot="0">
            <a:off x="12060555" y="2185035"/>
            <a:ext cx="5322570" cy="5322570"/>
            <a:chOff x="0" y="0"/>
            <a:chExt cx="7096760" cy="7096760"/>
          </a:xfrm>
        </p:grpSpPr>
        <p:sp>
          <p:nvSpPr>
            <p:cNvPr name="Freeform 9" id="9"/>
            <p:cNvSpPr/>
            <p:nvPr/>
          </p:nvSpPr>
          <p:spPr>
            <a:xfrm flipH="false" flipV="false" rot="0">
              <a:off x="0" y="0"/>
              <a:ext cx="7096760" cy="7096760"/>
            </a:xfrm>
            <a:custGeom>
              <a:avLst/>
              <a:gdLst/>
              <a:ahLst/>
              <a:cxnLst/>
              <a:rect r="r" b="b" t="t" l="l"/>
              <a:pathLst>
                <a:path h="7096760" w="7096760">
                  <a:moveTo>
                    <a:pt x="0" y="367030"/>
                  </a:moveTo>
                  <a:cubicBezTo>
                    <a:pt x="0" y="164338"/>
                    <a:pt x="164338" y="0"/>
                    <a:pt x="367030" y="0"/>
                  </a:cubicBezTo>
                  <a:lnTo>
                    <a:pt x="6729730" y="0"/>
                  </a:lnTo>
                  <a:cubicBezTo>
                    <a:pt x="6932422" y="0"/>
                    <a:pt x="7096760" y="164338"/>
                    <a:pt x="7096760" y="367030"/>
                  </a:cubicBezTo>
                  <a:lnTo>
                    <a:pt x="7096760" y="6729730"/>
                  </a:lnTo>
                  <a:cubicBezTo>
                    <a:pt x="7096760" y="6932422"/>
                    <a:pt x="6932422" y="7096760"/>
                    <a:pt x="6729730" y="7096760"/>
                  </a:cubicBezTo>
                  <a:lnTo>
                    <a:pt x="367030" y="7096760"/>
                  </a:lnTo>
                  <a:cubicBezTo>
                    <a:pt x="164338" y="7096760"/>
                    <a:pt x="0" y="6932422"/>
                    <a:pt x="0" y="6729730"/>
                  </a:cubicBezTo>
                  <a:close/>
                </a:path>
              </a:pathLst>
            </a:custGeom>
            <a:solidFill>
              <a:srgbClr val="0F2A5E"/>
            </a:solidFill>
            <a:ln w="19050" cap="sq">
              <a:solidFill>
                <a:srgbClr val="3A66D8"/>
              </a:solidFill>
              <a:prstDash val="solid"/>
              <a:miter/>
            </a:ln>
          </p:spPr>
        </p:sp>
      </p:grpSp>
      <p:grpSp>
        <p:nvGrpSpPr>
          <p:cNvPr name="Group 10" id="10"/>
          <p:cNvGrpSpPr/>
          <p:nvPr/>
        </p:nvGrpSpPr>
        <p:grpSpPr>
          <a:xfrm rot="0">
            <a:off x="12423143" y="2474471"/>
            <a:ext cx="263147" cy="263147"/>
            <a:chOff x="0" y="0"/>
            <a:chExt cx="350863" cy="350863"/>
          </a:xfrm>
        </p:grpSpPr>
        <p:sp>
          <p:nvSpPr>
            <p:cNvPr name="Freeform 11" id="11"/>
            <p:cNvSpPr/>
            <p:nvPr/>
          </p:nvSpPr>
          <p:spPr>
            <a:xfrm flipH="false" flipV="false" rot="0">
              <a:off x="0" y="0"/>
              <a:ext cx="350901" cy="350901"/>
            </a:xfrm>
            <a:custGeom>
              <a:avLst/>
              <a:gdLst/>
              <a:ahLst/>
              <a:cxnLst/>
              <a:rect r="r" b="b" t="t" l="l"/>
              <a:pathLst>
                <a:path h="350901" w="350901">
                  <a:moveTo>
                    <a:pt x="0" y="175387"/>
                  </a:moveTo>
                  <a:cubicBezTo>
                    <a:pt x="0" y="78486"/>
                    <a:pt x="78486" y="0"/>
                    <a:pt x="175387" y="0"/>
                  </a:cubicBezTo>
                  <a:cubicBezTo>
                    <a:pt x="272288" y="0"/>
                    <a:pt x="350901" y="78486"/>
                    <a:pt x="350901" y="175387"/>
                  </a:cubicBezTo>
                  <a:cubicBezTo>
                    <a:pt x="350901" y="272288"/>
                    <a:pt x="272288" y="350901"/>
                    <a:pt x="175387" y="350901"/>
                  </a:cubicBezTo>
                  <a:cubicBezTo>
                    <a:pt x="78486" y="350901"/>
                    <a:pt x="0" y="272288"/>
                    <a:pt x="0" y="175387"/>
                  </a:cubicBezTo>
                  <a:close/>
                </a:path>
              </a:pathLst>
            </a:custGeom>
            <a:solidFill>
              <a:srgbClr val="FFC81E"/>
            </a:solidFill>
            <a:ln w="25400" cap="sq">
              <a:solidFill>
                <a:srgbClr val="FFC81E"/>
              </a:solidFill>
              <a:prstDash val="solid"/>
              <a:miter/>
            </a:ln>
          </p:spPr>
        </p:sp>
      </p:grpSp>
      <p:grpSp>
        <p:nvGrpSpPr>
          <p:cNvPr name="Group 12" id="12"/>
          <p:cNvGrpSpPr/>
          <p:nvPr/>
        </p:nvGrpSpPr>
        <p:grpSpPr>
          <a:xfrm rot="0">
            <a:off x="12825479" y="2474471"/>
            <a:ext cx="263147" cy="263147"/>
            <a:chOff x="0" y="0"/>
            <a:chExt cx="350863" cy="350863"/>
          </a:xfrm>
        </p:grpSpPr>
        <p:sp>
          <p:nvSpPr>
            <p:cNvPr name="Freeform 13" id="13"/>
            <p:cNvSpPr/>
            <p:nvPr/>
          </p:nvSpPr>
          <p:spPr>
            <a:xfrm flipH="false" flipV="false" rot="0">
              <a:off x="0" y="0"/>
              <a:ext cx="350901" cy="350901"/>
            </a:xfrm>
            <a:custGeom>
              <a:avLst/>
              <a:gdLst/>
              <a:ahLst/>
              <a:cxnLst/>
              <a:rect r="r" b="b" t="t" l="l"/>
              <a:pathLst>
                <a:path h="350901" w="350901">
                  <a:moveTo>
                    <a:pt x="0" y="175387"/>
                  </a:moveTo>
                  <a:cubicBezTo>
                    <a:pt x="0" y="78486"/>
                    <a:pt x="78486" y="0"/>
                    <a:pt x="175387" y="0"/>
                  </a:cubicBezTo>
                  <a:cubicBezTo>
                    <a:pt x="272288" y="0"/>
                    <a:pt x="350901" y="78486"/>
                    <a:pt x="350901" y="175387"/>
                  </a:cubicBezTo>
                  <a:cubicBezTo>
                    <a:pt x="350901" y="272288"/>
                    <a:pt x="272288" y="350901"/>
                    <a:pt x="175387" y="350901"/>
                  </a:cubicBezTo>
                  <a:cubicBezTo>
                    <a:pt x="78486" y="350901"/>
                    <a:pt x="0" y="272288"/>
                    <a:pt x="0" y="175387"/>
                  </a:cubicBezTo>
                  <a:close/>
                </a:path>
              </a:pathLst>
            </a:custGeom>
            <a:solidFill>
              <a:srgbClr val="FF6B6B"/>
            </a:solidFill>
            <a:ln w="25400" cap="sq">
              <a:solidFill>
                <a:srgbClr val="FF6B6B"/>
              </a:solidFill>
              <a:prstDash val="solid"/>
              <a:miter/>
            </a:ln>
          </p:spPr>
        </p:sp>
      </p:grpSp>
      <p:grpSp>
        <p:nvGrpSpPr>
          <p:cNvPr name="Group 14" id="14"/>
          <p:cNvGrpSpPr/>
          <p:nvPr/>
        </p:nvGrpSpPr>
        <p:grpSpPr>
          <a:xfrm rot="0">
            <a:off x="13227815" y="2474471"/>
            <a:ext cx="263147" cy="263147"/>
            <a:chOff x="0" y="0"/>
            <a:chExt cx="350863" cy="350863"/>
          </a:xfrm>
        </p:grpSpPr>
        <p:sp>
          <p:nvSpPr>
            <p:cNvPr name="Freeform 15" id="15"/>
            <p:cNvSpPr/>
            <p:nvPr/>
          </p:nvSpPr>
          <p:spPr>
            <a:xfrm flipH="false" flipV="false" rot="0">
              <a:off x="0" y="0"/>
              <a:ext cx="350901" cy="350901"/>
            </a:xfrm>
            <a:custGeom>
              <a:avLst/>
              <a:gdLst/>
              <a:ahLst/>
              <a:cxnLst/>
              <a:rect r="r" b="b" t="t" l="l"/>
              <a:pathLst>
                <a:path h="350901" w="350901">
                  <a:moveTo>
                    <a:pt x="0" y="175387"/>
                  </a:moveTo>
                  <a:cubicBezTo>
                    <a:pt x="0" y="78486"/>
                    <a:pt x="78486" y="0"/>
                    <a:pt x="175387" y="0"/>
                  </a:cubicBezTo>
                  <a:cubicBezTo>
                    <a:pt x="272288" y="0"/>
                    <a:pt x="350901" y="78486"/>
                    <a:pt x="350901" y="175387"/>
                  </a:cubicBezTo>
                  <a:cubicBezTo>
                    <a:pt x="350901" y="272288"/>
                    <a:pt x="272288" y="350901"/>
                    <a:pt x="175387" y="350901"/>
                  </a:cubicBezTo>
                  <a:cubicBezTo>
                    <a:pt x="78486" y="350901"/>
                    <a:pt x="0" y="272288"/>
                    <a:pt x="0" y="175387"/>
                  </a:cubicBezTo>
                  <a:close/>
                </a:path>
              </a:pathLst>
            </a:custGeom>
            <a:solidFill>
              <a:srgbClr val="5BD18B"/>
            </a:solidFill>
            <a:ln w="25400" cap="sq">
              <a:solidFill>
                <a:srgbClr val="5BD18B"/>
              </a:solidFill>
              <a:prstDash val="solid"/>
              <a:miter/>
            </a:ln>
          </p:spPr>
        </p:sp>
      </p:grpSp>
      <p:grpSp>
        <p:nvGrpSpPr>
          <p:cNvPr name="Group 16" id="16"/>
          <p:cNvGrpSpPr/>
          <p:nvPr/>
        </p:nvGrpSpPr>
        <p:grpSpPr>
          <a:xfrm rot="0">
            <a:off x="12514583" y="3279143"/>
            <a:ext cx="2402843" cy="208283"/>
            <a:chOff x="0" y="0"/>
            <a:chExt cx="3203791" cy="277711"/>
          </a:xfrm>
        </p:grpSpPr>
        <p:sp>
          <p:nvSpPr>
            <p:cNvPr name="Freeform 17" id="17"/>
            <p:cNvSpPr/>
            <p:nvPr/>
          </p:nvSpPr>
          <p:spPr>
            <a:xfrm flipH="false" flipV="false" rot="0">
              <a:off x="0" y="0"/>
              <a:ext cx="3203702" cy="277622"/>
            </a:xfrm>
            <a:custGeom>
              <a:avLst/>
              <a:gdLst/>
              <a:ahLst/>
              <a:cxnLst/>
              <a:rect r="r" b="b" t="t" l="l"/>
              <a:pathLst>
                <a:path h="277622" w="3203702">
                  <a:moveTo>
                    <a:pt x="0" y="138811"/>
                  </a:moveTo>
                  <a:cubicBezTo>
                    <a:pt x="0" y="62230"/>
                    <a:pt x="62230" y="0"/>
                    <a:pt x="138811" y="0"/>
                  </a:cubicBezTo>
                  <a:lnTo>
                    <a:pt x="3064891" y="0"/>
                  </a:lnTo>
                  <a:cubicBezTo>
                    <a:pt x="3141599" y="0"/>
                    <a:pt x="3203702" y="62230"/>
                    <a:pt x="3203702" y="138811"/>
                  </a:cubicBezTo>
                  <a:cubicBezTo>
                    <a:pt x="3203702" y="215392"/>
                    <a:pt x="3141472" y="277622"/>
                    <a:pt x="3064891" y="277622"/>
                  </a:cubicBezTo>
                  <a:lnTo>
                    <a:pt x="138811" y="277622"/>
                  </a:lnTo>
                  <a:cubicBezTo>
                    <a:pt x="62230" y="277749"/>
                    <a:pt x="0" y="215519"/>
                    <a:pt x="0" y="138811"/>
                  </a:cubicBezTo>
                  <a:close/>
                </a:path>
              </a:pathLst>
            </a:custGeom>
            <a:solidFill>
              <a:srgbClr val="5B8DEF"/>
            </a:solidFill>
            <a:ln w="25400" cap="sq">
              <a:solidFill>
                <a:srgbClr val="5B8DEF"/>
              </a:solidFill>
              <a:prstDash val="solid"/>
              <a:miter/>
            </a:ln>
          </p:spPr>
        </p:sp>
      </p:grpSp>
      <p:grpSp>
        <p:nvGrpSpPr>
          <p:cNvPr name="Group 18" id="18"/>
          <p:cNvGrpSpPr/>
          <p:nvPr/>
        </p:nvGrpSpPr>
        <p:grpSpPr>
          <a:xfrm rot="0">
            <a:off x="13063223" y="3791207"/>
            <a:ext cx="3317243" cy="208283"/>
            <a:chOff x="0" y="0"/>
            <a:chExt cx="4422991" cy="277711"/>
          </a:xfrm>
        </p:grpSpPr>
        <p:sp>
          <p:nvSpPr>
            <p:cNvPr name="Freeform 19" id="19"/>
            <p:cNvSpPr/>
            <p:nvPr/>
          </p:nvSpPr>
          <p:spPr>
            <a:xfrm flipH="false" flipV="false" rot="0">
              <a:off x="0" y="0"/>
              <a:ext cx="4422902" cy="277622"/>
            </a:xfrm>
            <a:custGeom>
              <a:avLst/>
              <a:gdLst/>
              <a:ahLst/>
              <a:cxnLst/>
              <a:rect r="r" b="b" t="t" l="l"/>
              <a:pathLst>
                <a:path h="277622" w="4422902">
                  <a:moveTo>
                    <a:pt x="0" y="138811"/>
                  </a:moveTo>
                  <a:cubicBezTo>
                    <a:pt x="0" y="62230"/>
                    <a:pt x="62230" y="0"/>
                    <a:pt x="138811" y="0"/>
                  </a:cubicBezTo>
                  <a:lnTo>
                    <a:pt x="4284091" y="0"/>
                  </a:lnTo>
                  <a:cubicBezTo>
                    <a:pt x="4360799" y="0"/>
                    <a:pt x="4422902" y="62230"/>
                    <a:pt x="4422902" y="138811"/>
                  </a:cubicBezTo>
                  <a:cubicBezTo>
                    <a:pt x="4422902" y="215392"/>
                    <a:pt x="4360672" y="277622"/>
                    <a:pt x="4284091" y="277622"/>
                  </a:cubicBezTo>
                  <a:lnTo>
                    <a:pt x="138811" y="277622"/>
                  </a:lnTo>
                  <a:cubicBezTo>
                    <a:pt x="62230" y="277749"/>
                    <a:pt x="0" y="215519"/>
                    <a:pt x="0" y="138811"/>
                  </a:cubicBezTo>
                  <a:close/>
                </a:path>
              </a:pathLst>
            </a:custGeom>
            <a:solidFill>
              <a:srgbClr val="FFC81E"/>
            </a:solidFill>
            <a:ln w="25400" cap="sq">
              <a:solidFill>
                <a:srgbClr val="FFC81E"/>
              </a:solidFill>
              <a:prstDash val="solid"/>
              <a:miter/>
            </a:ln>
          </p:spPr>
        </p:sp>
      </p:grpSp>
      <p:grpSp>
        <p:nvGrpSpPr>
          <p:cNvPr name="Group 20" id="20"/>
          <p:cNvGrpSpPr/>
          <p:nvPr/>
        </p:nvGrpSpPr>
        <p:grpSpPr>
          <a:xfrm rot="0">
            <a:off x="13063223" y="4303271"/>
            <a:ext cx="2037083" cy="208283"/>
            <a:chOff x="0" y="0"/>
            <a:chExt cx="2716111" cy="277711"/>
          </a:xfrm>
        </p:grpSpPr>
        <p:sp>
          <p:nvSpPr>
            <p:cNvPr name="Freeform 21" id="21"/>
            <p:cNvSpPr/>
            <p:nvPr/>
          </p:nvSpPr>
          <p:spPr>
            <a:xfrm flipH="false" flipV="false" rot="0">
              <a:off x="0" y="0"/>
              <a:ext cx="2716022" cy="277622"/>
            </a:xfrm>
            <a:custGeom>
              <a:avLst/>
              <a:gdLst/>
              <a:ahLst/>
              <a:cxnLst/>
              <a:rect r="r" b="b" t="t" l="l"/>
              <a:pathLst>
                <a:path h="277622" w="2716022">
                  <a:moveTo>
                    <a:pt x="0" y="138811"/>
                  </a:moveTo>
                  <a:cubicBezTo>
                    <a:pt x="0" y="62230"/>
                    <a:pt x="62230" y="0"/>
                    <a:pt x="138811" y="0"/>
                  </a:cubicBezTo>
                  <a:lnTo>
                    <a:pt x="2577211" y="0"/>
                  </a:lnTo>
                  <a:cubicBezTo>
                    <a:pt x="2653919" y="0"/>
                    <a:pt x="2716022" y="62230"/>
                    <a:pt x="2716022" y="138811"/>
                  </a:cubicBezTo>
                  <a:cubicBezTo>
                    <a:pt x="2716022" y="215392"/>
                    <a:pt x="2653792" y="277622"/>
                    <a:pt x="2577211" y="277622"/>
                  </a:cubicBezTo>
                  <a:lnTo>
                    <a:pt x="138811" y="277622"/>
                  </a:lnTo>
                  <a:cubicBezTo>
                    <a:pt x="62230" y="277749"/>
                    <a:pt x="0" y="215519"/>
                    <a:pt x="0" y="138811"/>
                  </a:cubicBezTo>
                  <a:close/>
                </a:path>
              </a:pathLst>
            </a:custGeom>
            <a:solidFill>
              <a:srgbClr val="FFFFFF"/>
            </a:solidFill>
            <a:ln w="25400" cap="sq">
              <a:solidFill>
                <a:srgbClr val="FFFFFF"/>
              </a:solidFill>
              <a:prstDash val="solid"/>
              <a:miter/>
            </a:ln>
          </p:spPr>
        </p:sp>
      </p:grpSp>
      <p:grpSp>
        <p:nvGrpSpPr>
          <p:cNvPr name="Group 22" id="22"/>
          <p:cNvGrpSpPr/>
          <p:nvPr/>
        </p:nvGrpSpPr>
        <p:grpSpPr>
          <a:xfrm rot="0">
            <a:off x="13611863" y="4815335"/>
            <a:ext cx="3683003" cy="208283"/>
            <a:chOff x="0" y="0"/>
            <a:chExt cx="4910671" cy="277711"/>
          </a:xfrm>
        </p:grpSpPr>
        <p:sp>
          <p:nvSpPr>
            <p:cNvPr name="Freeform 23" id="23"/>
            <p:cNvSpPr/>
            <p:nvPr/>
          </p:nvSpPr>
          <p:spPr>
            <a:xfrm flipH="false" flipV="false" rot="0">
              <a:off x="0" y="0"/>
              <a:ext cx="4910582" cy="277622"/>
            </a:xfrm>
            <a:custGeom>
              <a:avLst/>
              <a:gdLst/>
              <a:ahLst/>
              <a:cxnLst/>
              <a:rect r="r" b="b" t="t" l="l"/>
              <a:pathLst>
                <a:path h="277622" w="4910582">
                  <a:moveTo>
                    <a:pt x="0" y="138811"/>
                  </a:moveTo>
                  <a:cubicBezTo>
                    <a:pt x="0" y="62230"/>
                    <a:pt x="62230" y="0"/>
                    <a:pt x="138811" y="0"/>
                  </a:cubicBezTo>
                  <a:lnTo>
                    <a:pt x="4771771" y="0"/>
                  </a:lnTo>
                  <a:cubicBezTo>
                    <a:pt x="4848479" y="0"/>
                    <a:pt x="4910582" y="62230"/>
                    <a:pt x="4910582" y="138811"/>
                  </a:cubicBezTo>
                  <a:cubicBezTo>
                    <a:pt x="4910582" y="215392"/>
                    <a:pt x="4848352" y="277622"/>
                    <a:pt x="4771771" y="277622"/>
                  </a:cubicBezTo>
                  <a:lnTo>
                    <a:pt x="138811" y="277622"/>
                  </a:lnTo>
                  <a:cubicBezTo>
                    <a:pt x="62230" y="277749"/>
                    <a:pt x="0" y="215519"/>
                    <a:pt x="0" y="138811"/>
                  </a:cubicBezTo>
                  <a:close/>
                </a:path>
              </a:pathLst>
            </a:custGeom>
            <a:solidFill>
              <a:srgbClr val="5B8DEF"/>
            </a:solidFill>
            <a:ln w="25400" cap="sq">
              <a:solidFill>
                <a:srgbClr val="5B8DEF"/>
              </a:solidFill>
              <a:prstDash val="solid"/>
              <a:miter/>
            </a:ln>
          </p:spPr>
        </p:sp>
      </p:grpSp>
      <p:grpSp>
        <p:nvGrpSpPr>
          <p:cNvPr name="Group 24" id="24"/>
          <p:cNvGrpSpPr/>
          <p:nvPr/>
        </p:nvGrpSpPr>
        <p:grpSpPr>
          <a:xfrm rot="0">
            <a:off x="13611863" y="5327399"/>
            <a:ext cx="1305563" cy="208283"/>
            <a:chOff x="0" y="0"/>
            <a:chExt cx="1740751" cy="277711"/>
          </a:xfrm>
        </p:grpSpPr>
        <p:sp>
          <p:nvSpPr>
            <p:cNvPr name="Freeform 25" id="25"/>
            <p:cNvSpPr/>
            <p:nvPr/>
          </p:nvSpPr>
          <p:spPr>
            <a:xfrm flipH="false" flipV="false" rot="0">
              <a:off x="0" y="0"/>
              <a:ext cx="1740662" cy="277622"/>
            </a:xfrm>
            <a:custGeom>
              <a:avLst/>
              <a:gdLst/>
              <a:ahLst/>
              <a:cxnLst/>
              <a:rect r="r" b="b" t="t" l="l"/>
              <a:pathLst>
                <a:path h="277622" w="1740662">
                  <a:moveTo>
                    <a:pt x="0" y="138811"/>
                  </a:moveTo>
                  <a:cubicBezTo>
                    <a:pt x="0" y="62230"/>
                    <a:pt x="62230" y="0"/>
                    <a:pt x="138811" y="0"/>
                  </a:cubicBezTo>
                  <a:lnTo>
                    <a:pt x="1601851" y="0"/>
                  </a:lnTo>
                  <a:cubicBezTo>
                    <a:pt x="1678559" y="0"/>
                    <a:pt x="1740662" y="62230"/>
                    <a:pt x="1740662" y="138811"/>
                  </a:cubicBezTo>
                  <a:cubicBezTo>
                    <a:pt x="1740662" y="215392"/>
                    <a:pt x="1678432" y="277622"/>
                    <a:pt x="1601851" y="277622"/>
                  </a:cubicBezTo>
                  <a:lnTo>
                    <a:pt x="138811" y="277622"/>
                  </a:lnTo>
                  <a:cubicBezTo>
                    <a:pt x="62230" y="277749"/>
                    <a:pt x="0" y="215519"/>
                    <a:pt x="0" y="138811"/>
                  </a:cubicBezTo>
                  <a:close/>
                </a:path>
              </a:pathLst>
            </a:custGeom>
            <a:solidFill>
              <a:srgbClr val="FFC81E"/>
            </a:solidFill>
            <a:ln w="25400" cap="sq">
              <a:solidFill>
                <a:srgbClr val="FFC81E"/>
              </a:solidFill>
              <a:prstDash val="solid"/>
              <a:miter/>
            </a:ln>
          </p:spPr>
        </p:sp>
      </p:grpSp>
      <p:grpSp>
        <p:nvGrpSpPr>
          <p:cNvPr name="Group 26" id="26"/>
          <p:cNvGrpSpPr/>
          <p:nvPr/>
        </p:nvGrpSpPr>
        <p:grpSpPr>
          <a:xfrm rot="0">
            <a:off x="13063223" y="5839463"/>
            <a:ext cx="2768603" cy="208283"/>
            <a:chOff x="0" y="0"/>
            <a:chExt cx="3691471" cy="277711"/>
          </a:xfrm>
        </p:grpSpPr>
        <p:sp>
          <p:nvSpPr>
            <p:cNvPr name="Freeform 27" id="27"/>
            <p:cNvSpPr/>
            <p:nvPr/>
          </p:nvSpPr>
          <p:spPr>
            <a:xfrm flipH="false" flipV="false" rot="0">
              <a:off x="0" y="0"/>
              <a:ext cx="3691382" cy="277622"/>
            </a:xfrm>
            <a:custGeom>
              <a:avLst/>
              <a:gdLst/>
              <a:ahLst/>
              <a:cxnLst/>
              <a:rect r="r" b="b" t="t" l="l"/>
              <a:pathLst>
                <a:path h="277622" w="3691382">
                  <a:moveTo>
                    <a:pt x="0" y="138811"/>
                  </a:moveTo>
                  <a:cubicBezTo>
                    <a:pt x="0" y="62230"/>
                    <a:pt x="62230" y="0"/>
                    <a:pt x="138811" y="0"/>
                  </a:cubicBezTo>
                  <a:lnTo>
                    <a:pt x="3552571" y="0"/>
                  </a:lnTo>
                  <a:cubicBezTo>
                    <a:pt x="3629279" y="0"/>
                    <a:pt x="3691382" y="62230"/>
                    <a:pt x="3691382" y="138811"/>
                  </a:cubicBezTo>
                  <a:cubicBezTo>
                    <a:pt x="3691382" y="215392"/>
                    <a:pt x="3629152" y="277622"/>
                    <a:pt x="3552571" y="277622"/>
                  </a:cubicBezTo>
                  <a:lnTo>
                    <a:pt x="138811" y="277622"/>
                  </a:lnTo>
                  <a:cubicBezTo>
                    <a:pt x="62230" y="277749"/>
                    <a:pt x="0" y="215519"/>
                    <a:pt x="0" y="138811"/>
                  </a:cubicBezTo>
                  <a:close/>
                </a:path>
              </a:pathLst>
            </a:custGeom>
            <a:solidFill>
              <a:srgbClr val="FFFFFF"/>
            </a:solidFill>
            <a:ln w="25400" cap="sq">
              <a:solidFill>
                <a:srgbClr val="FFFFFF"/>
              </a:solidFill>
              <a:prstDash val="solid"/>
              <a:miter/>
            </a:ln>
          </p:spPr>
        </p:sp>
      </p:grpSp>
      <p:grpSp>
        <p:nvGrpSpPr>
          <p:cNvPr name="Group 28" id="28"/>
          <p:cNvGrpSpPr/>
          <p:nvPr/>
        </p:nvGrpSpPr>
        <p:grpSpPr>
          <a:xfrm rot="0">
            <a:off x="12514583" y="6351527"/>
            <a:ext cx="1671323" cy="208283"/>
            <a:chOff x="0" y="0"/>
            <a:chExt cx="2228431" cy="277711"/>
          </a:xfrm>
        </p:grpSpPr>
        <p:sp>
          <p:nvSpPr>
            <p:cNvPr name="Freeform 29" id="29"/>
            <p:cNvSpPr/>
            <p:nvPr/>
          </p:nvSpPr>
          <p:spPr>
            <a:xfrm flipH="false" flipV="false" rot="0">
              <a:off x="0" y="0"/>
              <a:ext cx="2228342" cy="277622"/>
            </a:xfrm>
            <a:custGeom>
              <a:avLst/>
              <a:gdLst/>
              <a:ahLst/>
              <a:cxnLst/>
              <a:rect r="r" b="b" t="t" l="l"/>
              <a:pathLst>
                <a:path h="277622" w="2228342">
                  <a:moveTo>
                    <a:pt x="0" y="138811"/>
                  </a:moveTo>
                  <a:cubicBezTo>
                    <a:pt x="0" y="62230"/>
                    <a:pt x="62230" y="0"/>
                    <a:pt x="138811" y="0"/>
                  </a:cubicBezTo>
                  <a:lnTo>
                    <a:pt x="2089531" y="0"/>
                  </a:lnTo>
                  <a:cubicBezTo>
                    <a:pt x="2166239" y="0"/>
                    <a:pt x="2228342" y="62230"/>
                    <a:pt x="2228342" y="138811"/>
                  </a:cubicBezTo>
                  <a:cubicBezTo>
                    <a:pt x="2228342" y="215392"/>
                    <a:pt x="2166112" y="277622"/>
                    <a:pt x="2089531" y="277622"/>
                  </a:cubicBezTo>
                  <a:lnTo>
                    <a:pt x="138811" y="277622"/>
                  </a:lnTo>
                  <a:cubicBezTo>
                    <a:pt x="62230" y="277749"/>
                    <a:pt x="0" y="215519"/>
                    <a:pt x="0" y="138811"/>
                  </a:cubicBezTo>
                  <a:close/>
                </a:path>
              </a:pathLst>
            </a:custGeom>
            <a:solidFill>
              <a:srgbClr val="5B8DEF"/>
            </a:solidFill>
            <a:ln w="25400" cap="sq">
              <a:solidFill>
                <a:srgbClr val="5B8DEF"/>
              </a:solidFill>
              <a:prstDash val="solid"/>
              <a:miter/>
            </a:ln>
          </p:spPr>
        </p:sp>
      </p:grpSp>
      <p:grpSp>
        <p:nvGrpSpPr>
          <p:cNvPr name="Group 30" id="30"/>
          <p:cNvGrpSpPr/>
          <p:nvPr/>
        </p:nvGrpSpPr>
        <p:grpSpPr>
          <a:xfrm rot="0">
            <a:off x="12514583" y="6863591"/>
            <a:ext cx="3500123" cy="208283"/>
            <a:chOff x="0" y="0"/>
            <a:chExt cx="4666831" cy="277711"/>
          </a:xfrm>
        </p:grpSpPr>
        <p:sp>
          <p:nvSpPr>
            <p:cNvPr name="Freeform 31" id="31"/>
            <p:cNvSpPr/>
            <p:nvPr/>
          </p:nvSpPr>
          <p:spPr>
            <a:xfrm flipH="false" flipV="false" rot="0">
              <a:off x="0" y="0"/>
              <a:ext cx="4666742" cy="277622"/>
            </a:xfrm>
            <a:custGeom>
              <a:avLst/>
              <a:gdLst/>
              <a:ahLst/>
              <a:cxnLst/>
              <a:rect r="r" b="b" t="t" l="l"/>
              <a:pathLst>
                <a:path h="277622" w="4666742">
                  <a:moveTo>
                    <a:pt x="0" y="138811"/>
                  </a:moveTo>
                  <a:cubicBezTo>
                    <a:pt x="0" y="62230"/>
                    <a:pt x="62230" y="0"/>
                    <a:pt x="138811" y="0"/>
                  </a:cubicBezTo>
                  <a:lnTo>
                    <a:pt x="4527931" y="0"/>
                  </a:lnTo>
                  <a:cubicBezTo>
                    <a:pt x="4604639" y="0"/>
                    <a:pt x="4666742" y="62230"/>
                    <a:pt x="4666742" y="138811"/>
                  </a:cubicBezTo>
                  <a:cubicBezTo>
                    <a:pt x="4666742" y="215392"/>
                    <a:pt x="4604512" y="277622"/>
                    <a:pt x="4527931" y="277622"/>
                  </a:cubicBezTo>
                  <a:lnTo>
                    <a:pt x="138811" y="277622"/>
                  </a:lnTo>
                  <a:cubicBezTo>
                    <a:pt x="62230" y="277749"/>
                    <a:pt x="0" y="215519"/>
                    <a:pt x="0" y="138811"/>
                  </a:cubicBezTo>
                  <a:close/>
                </a:path>
              </a:pathLst>
            </a:custGeom>
            <a:solidFill>
              <a:srgbClr val="FFFFFF"/>
            </a:solidFill>
            <a:ln w="25400" cap="sq">
              <a:solidFill>
                <a:srgbClr val="FFFFFF"/>
              </a:solidFill>
              <a:prstDash val="solid"/>
              <a:miter/>
            </a:ln>
          </p:spPr>
        </p:sp>
      </p:grpSp>
      <p:sp>
        <p:nvSpPr>
          <p:cNvPr name="Freeform 32" id="32"/>
          <p:cNvSpPr/>
          <p:nvPr/>
        </p:nvSpPr>
        <p:spPr>
          <a:xfrm flipH="false" flipV="false" rot="0">
            <a:off x="688506" y="205740"/>
            <a:ext cx="7761228" cy="1746276"/>
          </a:xfrm>
          <a:custGeom>
            <a:avLst/>
            <a:gdLst/>
            <a:ahLst/>
            <a:cxnLst/>
            <a:rect r="r" b="b" t="t" l="l"/>
            <a:pathLst>
              <a:path h="1746276" w="7761228">
                <a:moveTo>
                  <a:pt x="0" y="0"/>
                </a:moveTo>
                <a:lnTo>
                  <a:pt x="7761228" y="0"/>
                </a:lnTo>
                <a:lnTo>
                  <a:pt x="7761228" y="1746276"/>
                </a:lnTo>
                <a:lnTo>
                  <a:pt x="0" y="17462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3" id="33"/>
          <p:cNvSpPr txBox="true"/>
          <p:nvPr/>
        </p:nvSpPr>
        <p:spPr>
          <a:xfrm rot="0">
            <a:off x="1280160" y="2055495"/>
            <a:ext cx="9144000" cy="596265"/>
          </a:xfrm>
          <a:prstGeom prst="rect">
            <a:avLst/>
          </a:prstGeom>
        </p:spPr>
        <p:txBody>
          <a:bodyPr anchor="t" rtlCol="false" tIns="0" lIns="0" bIns="0" rIns="0">
            <a:spAutoFit/>
          </a:bodyPr>
          <a:lstStyle/>
          <a:p>
            <a:pPr algn="l">
              <a:lnSpc>
                <a:spcPts val="2639"/>
              </a:lnSpc>
            </a:pPr>
            <a:r>
              <a:rPr lang="en-US" b="true" sz="2199" spc="599">
                <a:solidFill>
                  <a:srgbClr val="FFC81E"/>
                </a:solidFill>
                <a:latin typeface="Consolas Bold"/>
                <a:ea typeface="Consolas Bold"/>
                <a:cs typeface="Consolas Bold"/>
                <a:sym typeface="Consolas Bold"/>
              </a:rPr>
              <a:t>GUIDEBOOK PESERTA · KATEGORI UMUM</a:t>
            </a:r>
          </a:p>
        </p:txBody>
      </p:sp>
      <p:sp>
        <p:nvSpPr>
          <p:cNvPr name="Freeform 34" id="34"/>
          <p:cNvSpPr/>
          <p:nvPr/>
        </p:nvSpPr>
        <p:spPr>
          <a:xfrm flipH="false" flipV="false" rot="0">
            <a:off x="2484532" y="36584"/>
            <a:ext cx="2084588" cy="2084588"/>
          </a:xfrm>
          <a:custGeom>
            <a:avLst/>
            <a:gdLst/>
            <a:ahLst/>
            <a:cxnLst/>
            <a:rect r="r" b="b" t="t" l="l"/>
            <a:pathLst>
              <a:path h="2084588" w="2084588">
                <a:moveTo>
                  <a:pt x="0" y="0"/>
                </a:moveTo>
                <a:lnTo>
                  <a:pt x="2084588" y="0"/>
                </a:lnTo>
                <a:lnTo>
                  <a:pt x="2084588" y="2084588"/>
                </a:lnTo>
                <a:lnTo>
                  <a:pt x="0" y="2084588"/>
                </a:lnTo>
                <a:lnTo>
                  <a:pt x="0" y="0"/>
                </a:lnTo>
                <a:close/>
              </a:path>
            </a:pathLst>
          </a:custGeom>
          <a:blipFill>
            <a:blip r:embed="rId7"/>
            <a:stretch>
              <a:fillRect l="0" t="0" r="0" b="0"/>
            </a:stretch>
          </a:blipFill>
        </p:spPr>
      </p:sp>
      <p:sp>
        <p:nvSpPr>
          <p:cNvPr name="Freeform 35" id="35"/>
          <p:cNvSpPr/>
          <p:nvPr/>
        </p:nvSpPr>
        <p:spPr>
          <a:xfrm flipH="false" flipV="false" rot="0">
            <a:off x="1418041" y="354026"/>
            <a:ext cx="1066491" cy="1449705"/>
          </a:xfrm>
          <a:custGeom>
            <a:avLst/>
            <a:gdLst/>
            <a:ahLst/>
            <a:cxnLst/>
            <a:rect r="r" b="b" t="t" l="l"/>
            <a:pathLst>
              <a:path h="1449705" w="1066491">
                <a:moveTo>
                  <a:pt x="0" y="0"/>
                </a:moveTo>
                <a:lnTo>
                  <a:pt x="1066491" y="0"/>
                </a:lnTo>
                <a:lnTo>
                  <a:pt x="1066491" y="1449705"/>
                </a:lnTo>
                <a:lnTo>
                  <a:pt x="0" y="1449705"/>
                </a:lnTo>
                <a:lnTo>
                  <a:pt x="0" y="0"/>
                </a:lnTo>
                <a:close/>
              </a:path>
            </a:pathLst>
          </a:custGeom>
          <a:blipFill>
            <a:blip r:embed="rId8"/>
            <a:stretch>
              <a:fillRect l="0" t="0" r="0" b="0"/>
            </a:stretch>
          </a:blipFill>
        </p:spPr>
      </p:sp>
      <p:sp>
        <p:nvSpPr>
          <p:cNvPr name="Freeform 36" id="36"/>
          <p:cNvSpPr/>
          <p:nvPr/>
        </p:nvSpPr>
        <p:spPr>
          <a:xfrm flipH="false" flipV="false" rot="0">
            <a:off x="5622241" y="607333"/>
            <a:ext cx="2600550" cy="943091"/>
          </a:xfrm>
          <a:custGeom>
            <a:avLst/>
            <a:gdLst/>
            <a:ahLst/>
            <a:cxnLst/>
            <a:rect r="r" b="b" t="t" l="l"/>
            <a:pathLst>
              <a:path h="943091" w="2600550">
                <a:moveTo>
                  <a:pt x="0" y="0"/>
                </a:moveTo>
                <a:lnTo>
                  <a:pt x="2600550" y="0"/>
                </a:lnTo>
                <a:lnTo>
                  <a:pt x="2600550" y="943091"/>
                </a:lnTo>
                <a:lnTo>
                  <a:pt x="0" y="943091"/>
                </a:lnTo>
                <a:lnTo>
                  <a:pt x="0" y="0"/>
                </a:lnTo>
                <a:close/>
              </a:path>
            </a:pathLst>
          </a:custGeom>
          <a:blipFill>
            <a:blip r:embed="rId9"/>
            <a:stretch>
              <a:fillRect l="0" t="0" r="0" b="0"/>
            </a:stretch>
          </a:blipFill>
        </p:spPr>
      </p:sp>
      <p:sp>
        <p:nvSpPr>
          <p:cNvPr name="Freeform 37" id="37"/>
          <p:cNvSpPr/>
          <p:nvPr/>
        </p:nvSpPr>
        <p:spPr>
          <a:xfrm flipH="false" flipV="false" rot="0">
            <a:off x="4543940" y="324580"/>
            <a:ext cx="1078301" cy="1479151"/>
          </a:xfrm>
          <a:custGeom>
            <a:avLst/>
            <a:gdLst/>
            <a:ahLst/>
            <a:cxnLst/>
            <a:rect r="r" b="b" t="t" l="l"/>
            <a:pathLst>
              <a:path h="1479151" w="1078301">
                <a:moveTo>
                  <a:pt x="0" y="0"/>
                </a:moveTo>
                <a:lnTo>
                  <a:pt x="1078301" y="0"/>
                </a:lnTo>
                <a:lnTo>
                  <a:pt x="1078301" y="1479151"/>
                </a:lnTo>
                <a:lnTo>
                  <a:pt x="0" y="1479151"/>
                </a:lnTo>
                <a:lnTo>
                  <a:pt x="0" y="0"/>
                </a:lnTo>
                <a:close/>
              </a:path>
            </a:pathLst>
          </a:custGeom>
          <a:blipFill>
            <a:blip r:embed="rId10"/>
            <a:stretch>
              <a:fillRect l="0" t="0" r="0" b="0"/>
            </a:stretch>
          </a:blipFill>
        </p:spPr>
      </p:sp>
      <p:sp>
        <p:nvSpPr>
          <p:cNvPr name="Freeform 38" id="38"/>
          <p:cNvSpPr/>
          <p:nvPr/>
        </p:nvSpPr>
        <p:spPr>
          <a:xfrm flipH="false" flipV="false" rot="0">
            <a:off x="13446010" y="7224095"/>
            <a:ext cx="3308593" cy="3308593"/>
          </a:xfrm>
          <a:custGeom>
            <a:avLst/>
            <a:gdLst/>
            <a:ahLst/>
            <a:cxnLst/>
            <a:rect r="r" b="b" t="t" l="l"/>
            <a:pathLst>
              <a:path h="3308593" w="3308593">
                <a:moveTo>
                  <a:pt x="0" y="0"/>
                </a:moveTo>
                <a:lnTo>
                  <a:pt x="3308593" y="0"/>
                </a:lnTo>
                <a:lnTo>
                  <a:pt x="3308593" y="3308593"/>
                </a:lnTo>
                <a:lnTo>
                  <a:pt x="0" y="3308593"/>
                </a:lnTo>
                <a:lnTo>
                  <a:pt x="0" y="0"/>
                </a:lnTo>
                <a:close/>
              </a:path>
            </a:pathLst>
          </a:custGeom>
          <a:blipFill>
            <a:blip r:embed="rId11"/>
            <a:stretch>
              <a:fillRect l="0" t="0" r="0" b="0"/>
            </a:stretch>
          </a:blipFill>
        </p:spPr>
      </p:sp>
      <p:sp>
        <p:nvSpPr>
          <p:cNvPr name="TextBox 39" id="39"/>
          <p:cNvSpPr txBox="true"/>
          <p:nvPr/>
        </p:nvSpPr>
        <p:spPr>
          <a:xfrm rot="0">
            <a:off x="1280160" y="2806065"/>
            <a:ext cx="10241280" cy="2771775"/>
          </a:xfrm>
          <a:prstGeom prst="rect">
            <a:avLst/>
          </a:prstGeom>
        </p:spPr>
        <p:txBody>
          <a:bodyPr anchor="t" rtlCol="false" tIns="0" lIns="0" bIns="0" rIns="0">
            <a:spAutoFit/>
          </a:bodyPr>
          <a:lstStyle/>
          <a:p>
            <a:pPr algn="l">
              <a:lnSpc>
                <a:spcPts val="8160"/>
              </a:lnSpc>
            </a:pPr>
            <a:r>
              <a:rPr lang="en-US" sz="6800" b="true">
                <a:solidFill>
                  <a:srgbClr val="FFFFFF"/>
                </a:solidFill>
                <a:latin typeface="Arial Bold"/>
                <a:ea typeface="Arial Bold"/>
                <a:cs typeface="Arial Bold"/>
                <a:sym typeface="Arial Bold"/>
              </a:rPr>
              <a:t>M-ONE TELKOMSEL</a:t>
            </a:r>
          </a:p>
          <a:p>
            <a:pPr algn="l">
              <a:lnSpc>
                <a:spcPts val="8160"/>
              </a:lnSpc>
            </a:pPr>
            <a:r>
              <a:rPr lang="en-US" sz="6800" b="true">
                <a:solidFill>
                  <a:srgbClr val="FFFFFF"/>
                </a:solidFill>
                <a:latin typeface="Arial Bold"/>
                <a:ea typeface="Arial Bold"/>
                <a:cs typeface="Arial Bold"/>
                <a:sym typeface="Arial Bold"/>
              </a:rPr>
              <a:t>CODING COMPETITION</a:t>
            </a:r>
          </a:p>
        </p:txBody>
      </p:sp>
      <p:sp>
        <p:nvSpPr>
          <p:cNvPr name="TextBox 40" id="40"/>
          <p:cNvSpPr txBox="true"/>
          <p:nvPr/>
        </p:nvSpPr>
        <p:spPr>
          <a:xfrm rot="0">
            <a:off x="1280160" y="5795010"/>
            <a:ext cx="9875520" cy="788670"/>
          </a:xfrm>
          <a:prstGeom prst="rect">
            <a:avLst/>
          </a:prstGeom>
        </p:spPr>
        <p:txBody>
          <a:bodyPr anchor="t" rtlCol="false" tIns="0" lIns="0" bIns="0" rIns="0">
            <a:spAutoFit/>
          </a:bodyPr>
          <a:lstStyle/>
          <a:p>
            <a:pPr algn="l">
              <a:lnSpc>
                <a:spcPts val="3840"/>
              </a:lnSpc>
            </a:pPr>
            <a:r>
              <a:rPr lang="en-US" sz="3200" i="true">
                <a:solidFill>
                  <a:srgbClr val="FFD966"/>
                </a:solidFill>
                <a:latin typeface="Calibri (MS) Italics"/>
                <a:ea typeface="Calibri (MS) Italics"/>
                <a:cs typeface="Calibri (MS) Italics"/>
                <a:sym typeface="Calibri (MS) Italics"/>
              </a:rPr>
              <a:t>Innovating Education Through Technology</a:t>
            </a:r>
          </a:p>
        </p:txBody>
      </p:sp>
      <p:sp>
        <p:nvSpPr>
          <p:cNvPr name="TextBox 41" id="41"/>
          <p:cNvSpPr txBox="true"/>
          <p:nvPr/>
        </p:nvSpPr>
        <p:spPr>
          <a:xfrm rot="0">
            <a:off x="1280160" y="9014460"/>
            <a:ext cx="11887200" cy="586740"/>
          </a:xfrm>
          <a:prstGeom prst="rect">
            <a:avLst/>
          </a:prstGeom>
        </p:spPr>
        <p:txBody>
          <a:bodyPr anchor="t" rtlCol="false" tIns="0" lIns="0" bIns="0" rIns="0">
            <a:spAutoFit/>
          </a:bodyPr>
          <a:lstStyle/>
          <a:p>
            <a:pPr algn="l">
              <a:lnSpc>
                <a:spcPts val="2400"/>
              </a:lnSpc>
            </a:pPr>
            <a:r>
              <a:rPr lang="en-US" sz="2000">
                <a:solidFill>
                  <a:srgbClr val="BFD3FA"/>
                </a:solidFill>
                <a:latin typeface="Calibri (MS)"/>
                <a:ea typeface="Calibri (MS)"/>
                <a:cs typeface="Calibri (MS)"/>
                <a:sym typeface="Calibri (MS)"/>
              </a:rPr>
              <a:t>Diselenggarakan oleh M-One Solution — Business Center SMK Muhammadiyah 1 Sukoharjo ·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21"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02</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Tentang Kompetisi</a:t>
              </a:r>
            </a:p>
          </p:txBody>
        </p:sp>
      </p:grpSp>
      <p:sp>
        <p:nvSpPr>
          <p:cNvPr name="TextBox 11" id="11"/>
          <p:cNvSpPr txBox="true"/>
          <p:nvPr/>
        </p:nvSpPr>
        <p:spPr>
          <a:xfrm rot="0">
            <a:off x="2194560" y="1305687"/>
            <a:ext cx="15179040" cy="504825"/>
          </a:xfrm>
          <a:prstGeom prst="rect">
            <a:avLst/>
          </a:prstGeom>
        </p:spPr>
        <p:txBody>
          <a:bodyPr anchor="t" rtlCol="false" tIns="0" lIns="0" bIns="0" rIns="0">
            <a:spAutoFit/>
          </a:bodyPr>
          <a:lstStyle/>
          <a:p>
            <a:pPr algn="l">
              <a:lnSpc>
                <a:spcPts val="2760"/>
              </a:lnSpc>
            </a:pPr>
            <a:r>
              <a:rPr lang="en-US" sz="2300">
                <a:solidFill>
                  <a:srgbClr val="5B6B85"/>
                </a:solidFill>
                <a:latin typeface="Calibri (MS)"/>
                <a:ea typeface="Calibri (MS)"/>
                <a:cs typeface="Calibri (MS)"/>
                <a:sym typeface="Calibri (MS)"/>
              </a:rPr>
              <a:t>Kompetisi website individu berbasis Artificial Intelligence (AI)</a:t>
            </a:r>
          </a:p>
        </p:txBody>
      </p:sp>
      <p:sp>
        <p:nvSpPr>
          <p:cNvPr name="TextBox 12" id="12"/>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3" id="13"/>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pSp>
        <p:nvGrpSpPr>
          <p:cNvPr name="Group 14" id="14"/>
          <p:cNvGrpSpPr/>
          <p:nvPr/>
        </p:nvGrpSpPr>
        <p:grpSpPr>
          <a:xfrm rot="0">
            <a:off x="904875" y="2459355"/>
            <a:ext cx="8980170" cy="6785610"/>
            <a:chOff x="0" y="0"/>
            <a:chExt cx="11973560" cy="9047480"/>
          </a:xfrm>
        </p:grpSpPr>
        <p:sp>
          <p:nvSpPr>
            <p:cNvPr name="Freeform 15" id="15"/>
            <p:cNvSpPr/>
            <p:nvPr/>
          </p:nvSpPr>
          <p:spPr>
            <a:xfrm flipH="false" flipV="false" rot="0">
              <a:off x="0" y="0"/>
              <a:ext cx="11973560" cy="9047480"/>
            </a:xfrm>
            <a:custGeom>
              <a:avLst/>
              <a:gdLst/>
              <a:ahLst/>
              <a:cxnLst/>
              <a:rect r="r" b="b" t="t" l="l"/>
              <a:pathLst>
                <a:path h="9047480" w="11973560">
                  <a:moveTo>
                    <a:pt x="0" y="244602"/>
                  </a:moveTo>
                  <a:cubicBezTo>
                    <a:pt x="0" y="109474"/>
                    <a:pt x="109474" y="0"/>
                    <a:pt x="244602" y="0"/>
                  </a:cubicBezTo>
                  <a:lnTo>
                    <a:pt x="11728958" y="0"/>
                  </a:lnTo>
                  <a:cubicBezTo>
                    <a:pt x="11863959" y="0"/>
                    <a:pt x="11973560" y="109474"/>
                    <a:pt x="11973560" y="244602"/>
                  </a:cubicBezTo>
                  <a:lnTo>
                    <a:pt x="11973560" y="8802878"/>
                  </a:lnTo>
                  <a:cubicBezTo>
                    <a:pt x="11973560" y="8937879"/>
                    <a:pt x="11864086" y="9047480"/>
                    <a:pt x="11728958" y="9047480"/>
                  </a:cubicBezTo>
                  <a:lnTo>
                    <a:pt x="244602" y="9047480"/>
                  </a:lnTo>
                  <a:cubicBezTo>
                    <a:pt x="109474" y="9047480"/>
                    <a:pt x="0" y="8938006"/>
                    <a:pt x="0" y="8802878"/>
                  </a:cubicBezTo>
                  <a:close/>
                </a:path>
              </a:pathLst>
            </a:custGeom>
            <a:solidFill>
              <a:srgbClr val="FFFFFF">
                <a:alpha val="50000"/>
              </a:srgbClr>
            </a:solidFill>
            <a:ln w="19050" cap="sq">
              <a:solidFill>
                <a:srgbClr val="D6E0F2"/>
              </a:solidFill>
              <a:prstDash val="solid"/>
              <a:miter/>
            </a:ln>
          </p:spPr>
        </p:sp>
      </p:grpSp>
      <p:sp>
        <p:nvSpPr>
          <p:cNvPr name="TextBox 16" id="16"/>
          <p:cNvSpPr txBox="true"/>
          <p:nvPr/>
        </p:nvSpPr>
        <p:spPr>
          <a:xfrm rot="0">
            <a:off x="1371600" y="2830830"/>
            <a:ext cx="8046720" cy="5947410"/>
          </a:xfrm>
          <a:prstGeom prst="rect">
            <a:avLst/>
          </a:prstGeom>
        </p:spPr>
        <p:txBody>
          <a:bodyPr anchor="t" rtlCol="false" tIns="0" lIns="0" bIns="0" rIns="0">
            <a:spAutoFit/>
          </a:bodyPr>
          <a:lstStyle/>
          <a:p>
            <a:pPr algn="l">
              <a:lnSpc>
                <a:spcPts val="3588"/>
              </a:lnSpc>
            </a:pPr>
            <a:r>
              <a:rPr lang="en-US" sz="2600">
                <a:solidFill>
                  <a:srgbClr val="0B1D3A"/>
                </a:solidFill>
                <a:latin typeface="Calibri (MS)"/>
                <a:ea typeface="Calibri (MS)"/>
                <a:cs typeface="Calibri (MS)"/>
                <a:sym typeface="Calibri (MS)"/>
              </a:rPr>
              <a:t>Kompetisi pengembangan website individu yang memanfaatkan Artificial Intelligence (AI) sebagai alat bantu pengembangan. Kategori Umum menantang peserta merancang dan membangun website edukasi bertema coding for kids (untuk anak SD) berbasis AI yang mendukung inovasi di bidang pendidikan — informatif, kreatif, dan aplikatif dalam menjawab tantangan pendidikan di era teknologi.</a:t>
            </a:r>
          </a:p>
        </p:txBody>
      </p:sp>
      <p:grpSp>
        <p:nvGrpSpPr>
          <p:cNvPr name="Group 17" id="17"/>
          <p:cNvGrpSpPr/>
          <p:nvPr/>
        </p:nvGrpSpPr>
        <p:grpSpPr>
          <a:xfrm rot="0">
            <a:off x="10320023" y="2456183"/>
            <a:ext cx="7066283" cy="6791963"/>
            <a:chOff x="0" y="0"/>
            <a:chExt cx="9421711" cy="9055951"/>
          </a:xfrm>
        </p:grpSpPr>
        <p:sp>
          <p:nvSpPr>
            <p:cNvPr name="Freeform 18" id="18"/>
            <p:cNvSpPr/>
            <p:nvPr/>
          </p:nvSpPr>
          <p:spPr>
            <a:xfrm flipH="false" flipV="false" rot="0">
              <a:off x="0" y="0"/>
              <a:ext cx="9421623" cy="9055862"/>
            </a:xfrm>
            <a:custGeom>
              <a:avLst/>
              <a:gdLst/>
              <a:ahLst/>
              <a:cxnLst/>
              <a:rect r="r" b="b" t="t" l="l"/>
              <a:pathLst>
                <a:path h="9055862" w="9421623">
                  <a:moveTo>
                    <a:pt x="0" y="244729"/>
                  </a:moveTo>
                  <a:cubicBezTo>
                    <a:pt x="0" y="109601"/>
                    <a:pt x="109601" y="0"/>
                    <a:pt x="244729" y="0"/>
                  </a:cubicBezTo>
                  <a:lnTo>
                    <a:pt x="9176893" y="0"/>
                  </a:lnTo>
                  <a:cubicBezTo>
                    <a:pt x="9312022" y="0"/>
                    <a:pt x="9421623" y="109601"/>
                    <a:pt x="9421623" y="244729"/>
                  </a:cubicBezTo>
                  <a:lnTo>
                    <a:pt x="9421623" y="8811133"/>
                  </a:lnTo>
                  <a:cubicBezTo>
                    <a:pt x="9421623" y="8946261"/>
                    <a:pt x="9312022" y="9055862"/>
                    <a:pt x="9176893" y="9055862"/>
                  </a:cubicBezTo>
                  <a:lnTo>
                    <a:pt x="244729" y="9055862"/>
                  </a:lnTo>
                  <a:cubicBezTo>
                    <a:pt x="109601" y="9055989"/>
                    <a:pt x="0" y="8946388"/>
                    <a:pt x="0" y="8811133"/>
                  </a:cubicBezTo>
                  <a:close/>
                </a:path>
              </a:pathLst>
            </a:custGeom>
            <a:solidFill>
              <a:srgbClr val="0A1F44">
                <a:alpha val="85000"/>
              </a:srgbClr>
            </a:solidFill>
            <a:ln w="25400" cap="sq">
              <a:solidFill>
                <a:srgbClr val="0A1F44"/>
              </a:solidFill>
              <a:prstDash val="solid"/>
              <a:miter/>
            </a:ln>
          </p:spPr>
        </p:sp>
      </p:grpSp>
      <p:sp>
        <p:nvSpPr>
          <p:cNvPr name="TextBox 19" id="19"/>
          <p:cNvSpPr txBox="true"/>
          <p:nvPr/>
        </p:nvSpPr>
        <p:spPr>
          <a:xfrm rot="0">
            <a:off x="10789920" y="2841879"/>
            <a:ext cx="6217920" cy="596265"/>
          </a:xfrm>
          <a:prstGeom prst="rect">
            <a:avLst/>
          </a:prstGeom>
        </p:spPr>
        <p:txBody>
          <a:bodyPr anchor="t" rtlCol="false" tIns="0" lIns="0" bIns="0" rIns="0">
            <a:spAutoFit/>
          </a:bodyPr>
          <a:lstStyle/>
          <a:p>
            <a:pPr algn="l">
              <a:lnSpc>
                <a:spcPts val="2639"/>
              </a:lnSpc>
            </a:pPr>
            <a:r>
              <a:rPr lang="en-US" sz="2199" b="true">
                <a:solidFill>
                  <a:srgbClr val="FFC81E"/>
                </a:solidFill>
                <a:latin typeface="Consolas Bold"/>
                <a:ea typeface="Consolas Bold"/>
                <a:cs typeface="Consolas Bold"/>
                <a:sym typeface="Consolas Bold"/>
              </a:rPr>
              <a:t>KHUSUS KATEGORI INI</a:t>
            </a:r>
          </a:p>
        </p:txBody>
      </p:sp>
      <p:sp>
        <p:nvSpPr>
          <p:cNvPr name="TextBox 20" id="20"/>
          <p:cNvSpPr txBox="true"/>
          <p:nvPr/>
        </p:nvSpPr>
        <p:spPr>
          <a:xfrm rot="0">
            <a:off x="10789920" y="3609975"/>
            <a:ext cx="6126480" cy="5351145"/>
          </a:xfrm>
          <a:prstGeom prst="rect">
            <a:avLst/>
          </a:prstGeom>
        </p:spPr>
        <p:txBody>
          <a:bodyPr anchor="t" rtlCol="false" tIns="0" lIns="0" bIns="0" rIns="0">
            <a:spAutoFit/>
          </a:bodyPr>
          <a:lstStyle/>
          <a:p>
            <a:pPr algn="l" marL="603249" indent="-301625" lvl="1">
              <a:lnSpc>
                <a:spcPts val="2999"/>
              </a:lnSpc>
              <a:buFont typeface="Arial"/>
              <a:buChar char="•"/>
            </a:pPr>
            <a:r>
              <a:rPr lang="en-US" sz="2499">
                <a:solidFill>
                  <a:srgbClr val="FFFFFF"/>
                </a:solidFill>
                <a:latin typeface="Calibri (MS)"/>
                <a:ea typeface="Calibri (MS)"/>
                <a:cs typeface="Calibri (MS)"/>
                <a:sym typeface="Calibri (MS)"/>
              </a:rPr>
              <a:t>Babak Penyisihan dilaksanakan sepenuhnya secara daring (online).</a:t>
            </a:r>
          </a:p>
          <a:p>
            <a:pPr algn="l" marL="603249" indent="-301625" lvl="1">
              <a:lnSpc>
                <a:spcPts val="2999"/>
              </a:lnSpc>
              <a:buFont typeface="Arial"/>
              <a:buChar char="•"/>
            </a:pPr>
            <a:r>
              <a:rPr lang="en-US" sz="2499">
                <a:solidFill>
                  <a:srgbClr val="FFFFFF"/>
                </a:solidFill>
                <a:latin typeface="Calibri (MS)"/>
                <a:ea typeface="Calibri (MS)"/>
                <a:cs typeface="Calibri (MS)"/>
                <a:sym typeface="Calibri (MS)"/>
              </a:rPr>
              <a:t>Juara 1, 2, dan 3 ditentukan langsung dari hasil penilaian dewan juri pada babak penyisihan.</a:t>
            </a:r>
          </a:p>
          <a:p>
            <a:pPr algn="l" marL="603249" indent="-301625" lvl="1">
              <a:lnSpc>
                <a:spcPts val="2999"/>
              </a:lnSpc>
              <a:buFont typeface="Arial"/>
              <a:buChar char="•"/>
            </a:pPr>
            <a:r>
              <a:rPr lang="en-US" sz="2499">
                <a:solidFill>
                  <a:srgbClr val="FFFFFF"/>
                </a:solidFill>
                <a:latin typeface="Calibri (MS)"/>
                <a:ea typeface="Calibri (MS)"/>
                <a:cs typeface="Calibri (MS)"/>
                <a:sym typeface="Calibri (MS)"/>
              </a:rPr>
              <a:t>Tidak ada babak final luring untuk kategori ini.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57"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03</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Syarat Peserta</a:t>
              </a:r>
            </a:p>
          </p:txBody>
        </p:sp>
      </p:grpSp>
      <p:sp>
        <p:nvSpPr>
          <p:cNvPr name="TextBox 11" id="11"/>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2" id="12"/>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pSp>
        <p:nvGrpSpPr>
          <p:cNvPr name="Group 13" id="13"/>
          <p:cNvGrpSpPr/>
          <p:nvPr/>
        </p:nvGrpSpPr>
        <p:grpSpPr>
          <a:xfrm rot="0">
            <a:off x="904875" y="2367915"/>
            <a:ext cx="8065770" cy="3219450"/>
            <a:chOff x="0" y="0"/>
            <a:chExt cx="10754360" cy="4292600"/>
          </a:xfrm>
        </p:grpSpPr>
        <p:sp>
          <p:nvSpPr>
            <p:cNvPr name="Freeform 14" id="14"/>
            <p:cNvSpPr/>
            <p:nvPr/>
          </p:nvSpPr>
          <p:spPr>
            <a:xfrm flipH="false" flipV="false" rot="0">
              <a:off x="0" y="0"/>
              <a:ext cx="10754360" cy="4292600"/>
            </a:xfrm>
            <a:custGeom>
              <a:avLst/>
              <a:gdLst/>
              <a:ahLst/>
              <a:cxnLst/>
              <a:rect r="r" b="b" t="t" l="l"/>
              <a:pathLst>
                <a:path h="4292600" w="10754360">
                  <a:moveTo>
                    <a:pt x="0" y="245237"/>
                  </a:moveTo>
                  <a:cubicBezTo>
                    <a:pt x="0" y="109855"/>
                    <a:pt x="109855" y="0"/>
                    <a:pt x="245237" y="0"/>
                  </a:cubicBezTo>
                  <a:lnTo>
                    <a:pt x="10509123" y="0"/>
                  </a:lnTo>
                  <a:cubicBezTo>
                    <a:pt x="10644632" y="0"/>
                    <a:pt x="10754360" y="109855"/>
                    <a:pt x="10754360" y="245237"/>
                  </a:cubicBezTo>
                  <a:lnTo>
                    <a:pt x="10754360" y="4047363"/>
                  </a:lnTo>
                  <a:cubicBezTo>
                    <a:pt x="10754360" y="4182872"/>
                    <a:pt x="10644505" y="4292600"/>
                    <a:pt x="10509123" y="4292600"/>
                  </a:cubicBezTo>
                  <a:lnTo>
                    <a:pt x="245237" y="4292600"/>
                  </a:lnTo>
                  <a:cubicBezTo>
                    <a:pt x="109855" y="4292600"/>
                    <a:pt x="0" y="4182745"/>
                    <a:pt x="0" y="4047363"/>
                  </a:cubicBezTo>
                  <a:close/>
                </a:path>
              </a:pathLst>
            </a:custGeom>
            <a:solidFill>
              <a:srgbClr val="FFFFFF">
                <a:alpha val="50000"/>
              </a:srgbClr>
            </a:solidFill>
            <a:ln w="19050" cap="sq">
              <a:solidFill>
                <a:srgbClr val="D6E0F2"/>
              </a:solidFill>
              <a:prstDash val="solid"/>
              <a:miter/>
            </a:ln>
          </p:spPr>
        </p:sp>
      </p:grpSp>
      <p:grpSp>
        <p:nvGrpSpPr>
          <p:cNvPr name="Group 15" id="15"/>
          <p:cNvGrpSpPr/>
          <p:nvPr/>
        </p:nvGrpSpPr>
        <p:grpSpPr>
          <a:xfrm rot="0">
            <a:off x="1358903" y="2821943"/>
            <a:ext cx="848363" cy="848363"/>
            <a:chOff x="0" y="0"/>
            <a:chExt cx="1131151" cy="1131151"/>
          </a:xfrm>
        </p:grpSpPr>
        <p:sp>
          <p:nvSpPr>
            <p:cNvPr name="Freeform 16" id="16"/>
            <p:cNvSpPr/>
            <p:nvPr/>
          </p:nvSpPr>
          <p:spPr>
            <a:xfrm flipH="false" flipV="false" rot="0">
              <a:off x="0" y="0"/>
              <a:ext cx="1131189" cy="1131062"/>
            </a:xfrm>
            <a:custGeom>
              <a:avLst/>
              <a:gdLst/>
              <a:ahLst/>
              <a:cxnLst/>
              <a:rect r="r" b="b" t="t" l="l"/>
              <a:pathLst>
                <a:path h="1131062" w="1131189">
                  <a:moveTo>
                    <a:pt x="0" y="251333"/>
                  </a:moveTo>
                  <a:cubicBezTo>
                    <a:pt x="0" y="112522"/>
                    <a:pt x="112522" y="0"/>
                    <a:pt x="251333" y="0"/>
                  </a:cubicBezTo>
                  <a:lnTo>
                    <a:pt x="879729" y="0"/>
                  </a:lnTo>
                  <a:cubicBezTo>
                    <a:pt x="1018667" y="0"/>
                    <a:pt x="1131189" y="112522"/>
                    <a:pt x="1131189" y="251333"/>
                  </a:cubicBezTo>
                  <a:lnTo>
                    <a:pt x="1131189" y="879729"/>
                  </a:lnTo>
                  <a:cubicBezTo>
                    <a:pt x="1131189" y="1018540"/>
                    <a:pt x="1018667" y="1131062"/>
                    <a:pt x="879856" y="1131062"/>
                  </a:cubicBezTo>
                  <a:lnTo>
                    <a:pt x="251333" y="1131062"/>
                  </a:lnTo>
                  <a:cubicBezTo>
                    <a:pt x="112522" y="1131189"/>
                    <a:pt x="0" y="1018667"/>
                    <a:pt x="0" y="879729"/>
                  </a:cubicBezTo>
                  <a:close/>
                </a:path>
              </a:pathLst>
            </a:custGeom>
            <a:solidFill>
              <a:srgbClr val="1448C8"/>
            </a:solidFill>
            <a:ln w="25400" cap="sq">
              <a:solidFill>
                <a:srgbClr val="1448C8"/>
              </a:solidFill>
              <a:prstDash val="solid"/>
              <a:miter/>
            </a:ln>
          </p:spPr>
        </p:sp>
      </p:grpSp>
      <p:grpSp>
        <p:nvGrpSpPr>
          <p:cNvPr name="Group 17" id="17"/>
          <p:cNvGrpSpPr/>
          <p:nvPr/>
        </p:nvGrpSpPr>
        <p:grpSpPr>
          <a:xfrm rot="0">
            <a:off x="1371600" y="2834640"/>
            <a:ext cx="822960" cy="822960"/>
            <a:chOff x="0" y="0"/>
            <a:chExt cx="1097280" cy="1097280"/>
          </a:xfrm>
        </p:grpSpPr>
        <p:sp>
          <p:nvSpPr>
            <p:cNvPr name="Freeform 18" id="1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03" t="0" r="-78303" b="0"/>
              </a:stretch>
            </a:blipFill>
          </p:spPr>
        </p:sp>
        <p:sp>
          <p:nvSpPr>
            <p:cNvPr name="TextBox 19" id="19"/>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C81E"/>
                  </a:solidFill>
                  <a:latin typeface="Arial Bold"/>
                  <a:ea typeface="Arial Bold"/>
                  <a:cs typeface="Arial Bold"/>
                  <a:sym typeface="Arial Bold"/>
                </a:rPr>
                <a:t>1</a:t>
              </a:r>
            </a:p>
          </p:txBody>
        </p:sp>
      </p:grpSp>
      <p:grpSp>
        <p:nvGrpSpPr>
          <p:cNvPr name="Group 20" id="20"/>
          <p:cNvGrpSpPr/>
          <p:nvPr/>
        </p:nvGrpSpPr>
        <p:grpSpPr>
          <a:xfrm rot="0">
            <a:off x="2468880" y="2834640"/>
            <a:ext cx="6035040" cy="822960"/>
            <a:chOff x="0" y="0"/>
            <a:chExt cx="8046720" cy="1097280"/>
          </a:xfrm>
        </p:grpSpPr>
        <p:sp>
          <p:nvSpPr>
            <p:cNvPr name="Freeform 21" id="21"/>
            <p:cNvSpPr/>
            <p:nvPr/>
          </p:nvSpPr>
          <p:spPr>
            <a:xfrm flipH="false" flipV="false" rot="0">
              <a:off x="0" y="0"/>
              <a:ext cx="8046720" cy="1097280"/>
            </a:xfrm>
            <a:custGeom>
              <a:avLst/>
              <a:gdLst/>
              <a:ahLst/>
              <a:cxnLst/>
              <a:rect r="r" b="b" t="t" l="l"/>
              <a:pathLst>
                <a:path h="1097280" w="8046720">
                  <a:moveTo>
                    <a:pt x="0" y="0"/>
                  </a:moveTo>
                  <a:lnTo>
                    <a:pt x="8046720" y="0"/>
                  </a:lnTo>
                  <a:lnTo>
                    <a:pt x="8046720" y="1097280"/>
                  </a:lnTo>
                  <a:lnTo>
                    <a:pt x="0" y="1097280"/>
                  </a:lnTo>
                  <a:close/>
                </a:path>
              </a:pathLst>
            </a:custGeom>
            <a:blipFill>
              <a:blip r:embed="rId4">
                <a:alphaModFix amt="0"/>
              </a:blip>
              <a:stretch>
                <a:fillRect l="0" t="-92890" r="0" b="-92890"/>
              </a:stretch>
            </a:blipFill>
          </p:spPr>
        </p:sp>
        <p:sp>
          <p:nvSpPr>
            <p:cNvPr name="TextBox 22" id="22"/>
            <p:cNvSpPr txBox="true"/>
            <p:nvPr/>
          </p:nvSpPr>
          <p:spPr>
            <a:xfrm>
              <a:off x="0" y="-19050"/>
              <a:ext cx="8046720" cy="1116330"/>
            </a:xfrm>
            <a:prstGeom prst="rect">
              <a:avLst/>
            </a:prstGeom>
          </p:spPr>
          <p:txBody>
            <a:bodyPr anchor="ctr" rtlCol="false" tIns="0" lIns="0" bIns="0" rIns="0"/>
            <a:lstStyle/>
            <a:p>
              <a:pPr algn="l">
                <a:lnSpc>
                  <a:spcPts val="3359"/>
                </a:lnSpc>
              </a:pPr>
              <a:r>
                <a:rPr lang="en-US" sz="2799" b="true">
                  <a:solidFill>
                    <a:srgbClr val="1448C8"/>
                  </a:solidFill>
                  <a:latin typeface="Arial Bold"/>
                  <a:ea typeface="Arial Bold"/>
                  <a:cs typeface="Arial Bold"/>
                  <a:sym typeface="Arial Bold"/>
                </a:rPr>
                <a:t>Siapa saja</a:t>
              </a:r>
            </a:p>
          </p:txBody>
        </p:sp>
      </p:grpSp>
      <p:sp>
        <p:nvSpPr>
          <p:cNvPr name="TextBox 23" id="23"/>
          <p:cNvSpPr txBox="true"/>
          <p:nvPr/>
        </p:nvSpPr>
        <p:spPr>
          <a:xfrm rot="0">
            <a:off x="1371600" y="3884295"/>
            <a:ext cx="7223760" cy="1510665"/>
          </a:xfrm>
          <a:prstGeom prst="rect">
            <a:avLst/>
          </a:prstGeom>
        </p:spPr>
        <p:txBody>
          <a:bodyPr anchor="t" rtlCol="false" tIns="0" lIns="0" bIns="0" rIns="0">
            <a:spAutoFit/>
          </a:bodyPr>
          <a:lstStyle/>
          <a:p>
            <a:pPr algn="l">
              <a:lnSpc>
                <a:spcPts val="2760"/>
              </a:lnSpc>
            </a:pPr>
            <a:r>
              <a:rPr lang="en-US" sz="2300">
                <a:solidFill>
                  <a:srgbClr val="0B1D3A"/>
                </a:solidFill>
                <a:latin typeface="Calibri (MS)"/>
                <a:ea typeface="Calibri (MS)"/>
                <a:cs typeface="Calibri (MS)"/>
                <a:sym typeface="Calibri (MS)"/>
              </a:rPr>
              <a:t>Pelajar SMA/SMK, mahasiswa aktif, atau masyarakat umum — tanpa batasan asal kampus/instansi.</a:t>
            </a:r>
          </a:p>
        </p:txBody>
      </p:sp>
      <p:grpSp>
        <p:nvGrpSpPr>
          <p:cNvPr name="Group 24" id="24"/>
          <p:cNvGrpSpPr/>
          <p:nvPr/>
        </p:nvGrpSpPr>
        <p:grpSpPr>
          <a:xfrm rot="0">
            <a:off x="9317355" y="2367915"/>
            <a:ext cx="8065770" cy="3219450"/>
            <a:chOff x="0" y="0"/>
            <a:chExt cx="10754360" cy="4292600"/>
          </a:xfrm>
        </p:grpSpPr>
        <p:sp>
          <p:nvSpPr>
            <p:cNvPr name="Freeform 25" id="25"/>
            <p:cNvSpPr/>
            <p:nvPr/>
          </p:nvSpPr>
          <p:spPr>
            <a:xfrm flipH="false" flipV="false" rot="0">
              <a:off x="0" y="0"/>
              <a:ext cx="10754360" cy="4292600"/>
            </a:xfrm>
            <a:custGeom>
              <a:avLst/>
              <a:gdLst/>
              <a:ahLst/>
              <a:cxnLst/>
              <a:rect r="r" b="b" t="t" l="l"/>
              <a:pathLst>
                <a:path h="4292600" w="10754360">
                  <a:moveTo>
                    <a:pt x="0" y="245237"/>
                  </a:moveTo>
                  <a:cubicBezTo>
                    <a:pt x="0" y="109855"/>
                    <a:pt x="109855" y="0"/>
                    <a:pt x="245237" y="0"/>
                  </a:cubicBezTo>
                  <a:lnTo>
                    <a:pt x="10509123" y="0"/>
                  </a:lnTo>
                  <a:cubicBezTo>
                    <a:pt x="10644632" y="0"/>
                    <a:pt x="10754360" y="109855"/>
                    <a:pt x="10754360" y="245237"/>
                  </a:cubicBezTo>
                  <a:lnTo>
                    <a:pt x="10754360" y="4047363"/>
                  </a:lnTo>
                  <a:cubicBezTo>
                    <a:pt x="10754360" y="4182872"/>
                    <a:pt x="10644505" y="4292600"/>
                    <a:pt x="10509123" y="4292600"/>
                  </a:cubicBezTo>
                  <a:lnTo>
                    <a:pt x="245237" y="4292600"/>
                  </a:lnTo>
                  <a:cubicBezTo>
                    <a:pt x="109855" y="4292600"/>
                    <a:pt x="0" y="4182745"/>
                    <a:pt x="0" y="4047363"/>
                  </a:cubicBezTo>
                  <a:close/>
                </a:path>
              </a:pathLst>
            </a:custGeom>
            <a:solidFill>
              <a:srgbClr val="FFFFFF">
                <a:alpha val="50000"/>
              </a:srgbClr>
            </a:solidFill>
            <a:ln w="19050" cap="sq">
              <a:solidFill>
                <a:srgbClr val="D6E0F2"/>
              </a:solidFill>
              <a:prstDash val="solid"/>
              <a:miter/>
            </a:ln>
          </p:spPr>
        </p:sp>
      </p:grpSp>
      <p:grpSp>
        <p:nvGrpSpPr>
          <p:cNvPr name="Group 26" id="26"/>
          <p:cNvGrpSpPr/>
          <p:nvPr/>
        </p:nvGrpSpPr>
        <p:grpSpPr>
          <a:xfrm rot="0">
            <a:off x="9771383" y="2821943"/>
            <a:ext cx="848363" cy="848363"/>
            <a:chOff x="0" y="0"/>
            <a:chExt cx="1131151" cy="1131151"/>
          </a:xfrm>
        </p:grpSpPr>
        <p:sp>
          <p:nvSpPr>
            <p:cNvPr name="Freeform 27" id="27"/>
            <p:cNvSpPr/>
            <p:nvPr/>
          </p:nvSpPr>
          <p:spPr>
            <a:xfrm flipH="false" flipV="false" rot="0">
              <a:off x="0" y="0"/>
              <a:ext cx="1131189" cy="1131062"/>
            </a:xfrm>
            <a:custGeom>
              <a:avLst/>
              <a:gdLst/>
              <a:ahLst/>
              <a:cxnLst/>
              <a:rect r="r" b="b" t="t" l="l"/>
              <a:pathLst>
                <a:path h="1131062" w="1131189">
                  <a:moveTo>
                    <a:pt x="0" y="251333"/>
                  </a:moveTo>
                  <a:cubicBezTo>
                    <a:pt x="0" y="112522"/>
                    <a:pt x="112522" y="0"/>
                    <a:pt x="251333" y="0"/>
                  </a:cubicBezTo>
                  <a:lnTo>
                    <a:pt x="879729" y="0"/>
                  </a:lnTo>
                  <a:cubicBezTo>
                    <a:pt x="1018667" y="0"/>
                    <a:pt x="1131189" y="112522"/>
                    <a:pt x="1131189" y="251333"/>
                  </a:cubicBezTo>
                  <a:lnTo>
                    <a:pt x="1131189" y="879729"/>
                  </a:lnTo>
                  <a:cubicBezTo>
                    <a:pt x="1131189" y="1018540"/>
                    <a:pt x="1018667" y="1131062"/>
                    <a:pt x="879856" y="1131062"/>
                  </a:cubicBezTo>
                  <a:lnTo>
                    <a:pt x="251333" y="1131062"/>
                  </a:lnTo>
                  <a:cubicBezTo>
                    <a:pt x="112522" y="1131189"/>
                    <a:pt x="0" y="1018667"/>
                    <a:pt x="0" y="879729"/>
                  </a:cubicBezTo>
                  <a:close/>
                </a:path>
              </a:pathLst>
            </a:custGeom>
            <a:solidFill>
              <a:srgbClr val="1448C8"/>
            </a:solidFill>
            <a:ln w="25400" cap="sq">
              <a:solidFill>
                <a:srgbClr val="1448C8"/>
              </a:solidFill>
              <a:prstDash val="solid"/>
              <a:miter/>
            </a:ln>
          </p:spPr>
        </p:sp>
      </p:grpSp>
      <p:grpSp>
        <p:nvGrpSpPr>
          <p:cNvPr name="Group 28" id="28"/>
          <p:cNvGrpSpPr/>
          <p:nvPr/>
        </p:nvGrpSpPr>
        <p:grpSpPr>
          <a:xfrm rot="0">
            <a:off x="9784080" y="2834640"/>
            <a:ext cx="822960" cy="822960"/>
            <a:chOff x="0" y="0"/>
            <a:chExt cx="1097280" cy="1097280"/>
          </a:xfrm>
        </p:grpSpPr>
        <p:sp>
          <p:nvSpPr>
            <p:cNvPr name="Freeform 29" id="2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03" t="0" r="-78303" b="0"/>
              </a:stretch>
            </a:blipFill>
          </p:spPr>
        </p:sp>
        <p:sp>
          <p:nvSpPr>
            <p:cNvPr name="TextBox 30" id="30"/>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C81E"/>
                  </a:solidFill>
                  <a:latin typeface="Arial Bold"/>
                  <a:ea typeface="Arial Bold"/>
                  <a:cs typeface="Arial Bold"/>
                  <a:sym typeface="Arial Bold"/>
                </a:rPr>
                <a:t>2</a:t>
              </a:r>
            </a:p>
          </p:txBody>
        </p:sp>
      </p:grpSp>
      <p:grpSp>
        <p:nvGrpSpPr>
          <p:cNvPr name="Group 31" id="31"/>
          <p:cNvGrpSpPr/>
          <p:nvPr/>
        </p:nvGrpSpPr>
        <p:grpSpPr>
          <a:xfrm rot="0">
            <a:off x="10881360" y="2834640"/>
            <a:ext cx="6035040" cy="822960"/>
            <a:chOff x="0" y="0"/>
            <a:chExt cx="8046720" cy="1097280"/>
          </a:xfrm>
        </p:grpSpPr>
        <p:sp>
          <p:nvSpPr>
            <p:cNvPr name="Freeform 32" id="32"/>
            <p:cNvSpPr/>
            <p:nvPr/>
          </p:nvSpPr>
          <p:spPr>
            <a:xfrm flipH="false" flipV="false" rot="0">
              <a:off x="0" y="0"/>
              <a:ext cx="8046720" cy="1097280"/>
            </a:xfrm>
            <a:custGeom>
              <a:avLst/>
              <a:gdLst/>
              <a:ahLst/>
              <a:cxnLst/>
              <a:rect r="r" b="b" t="t" l="l"/>
              <a:pathLst>
                <a:path h="1097280" w="8046720">
                  <a:moveTo>
                    <a:pt x="0" y="0"/>
                  </a:moveTo>
                  <a:lnTo>
                    <a:pt x="8046720" y="0"/>
                  </a:lnTo>
                  <a:lnTo>
                    <a:pt x="8046720" y="1097280"/>
                  </a:lnTo>
                  <a:lnTo>
                    <a:pt x="0" y="1097280"/>
                  </a:lnTo>
                  <a:close/>
                </a:path>
              </a:pathLst>
            </a:custGeom>
            <a:blipFill>
              <a:blip r:embed="rId4">
                <a:alphaModFix amt="0"/>
              </a:blip>
              <a:stretch>
                <a:fillRect l="0" t="-92890" r="0" b="-92890"/>
              </a:stretch>
            </a:blipFill>
          </p:spPr>
        </p:sp>
        <p:sp>
          <p:nvSpPr>
            <p:cNvPr name="TextBox 33" id="33"/>
            <p:cNvSpPr txBox="true"/>
            <p:nvPr/>
          </p:nvSpPr>
          <p:spPr>
            <a:xfrm>
              <a:off x="0" y="-19050"/>
              <a:ext cx="8046720" cy="1116330"/>
            </a:xfrm>
            <a:prstGeom prst="rect">
              <a:avLst/>
            </a:prstGeom>
          </p:spPr>
          <p:txBody>
            <a:bodyPr anchor="ctr" rtlCol="false" tIns="0" lIns="0" bIns="0" rIns="0"/>
            <a:lstStyle/>
            <a:p>
              <a:pPr algn="l">
                <a:lnSpc>
                  <a:spcPts val="3359"/>
                </a:lnSpc>
              </a:pPr>
              <a:r>
                <a:rPr lang="en-US" sz="2799" b="true">
                  <a:solidFill>
                    <a:srgbClr val="1448C8"/>
                  </a:solidFill>
                  <a:latin typeface="Arial Bold"/>
                  <a:ea typeface="Arial Bold"/>
                  <a:cs typeface="Arial Bold"/>
                  <a:sym typeface="Arial Bold"/>
                </a:rPr>
                <a:t>Format lomba</a:t>
              </a:r>
            </a:p>
          </p:txBody>
        </p:sp>
      </p:grpSp>
      <p:sp>
        <p:nvSpPr>
          <p:cNvPr name="TextBox 34" id="34"/>
          <p:cNvSpPr txBox="true"/>
          <p:nvPr/>
        </p:nvSpPr>
        <p:spPr>
          <a:xfrm rot="0">
            <a:off x="9784080" y="3884295"/>
            <a:ext cx="7223760" cy="1510665"/>
          </a:xfrm>
          <a:prstGeom prst="rect">
            <a:avLst/>
          </a:prstGeom>
        </p:spPr>
        <p:txBody>
          <a:bodyPr anchor="t" rtlCol="false" tIns="0" lIns="0" bIns="0" rIns="0">
            <a:spAutoFit/>
          </a:bodyPr>
          <a:lstStyle/>
          <a:p>
            <a:pPr algn="l">
              <a:lnSpc>
                <a:spcPts val="2760"/>
              </a:lnSpc>
            </a:pPr>
            <a:r>
              <a:rPr lang="en-US" sz="2300">
                <a:solidFill>
                  <a:srgbClr val="0B1D3A"/>
                </a:solidFill>
                <a:latin typeface="Calibri (MS)"/>
                <a:ea typeface="Calibri (MS)"/>
                <a:cs typeface="Calibri (MS)"/>
                <a:sym typeface="Calibri (MS)"/>
              </a:rPr>
              <a:t>Diikuti secara perorangan (individu). Lomba dikhususkan untuk membuat website education coding for kids (untuk anak SD).</a:t>
            </a:r>
          </a:p>
        </p:txBody>
      </p:sp>
      <p:grpSp>
        <p:nvGrpSpPr>
          <p:cNvPr name="Group 35" id="35"/>
          <p:cNvGrpSpPr/>
          <p:nvPr/>
        </p:nvGrpSpPr>
        <p:grpSpPr>
          <a:xfrm rot="0">
            <a:off x="904875" y="5934075"/>
            <a:ext cx="8065770" cy="3219450"/>
            <a:chOff x="0" y="0"/>
            <a:chExt cx="10754360" cy="4292600"/>
          </a:xfrm>
        </p:grpSpPr>
        <p:sp>
          <p:nvSpPr>
            <p:cNvPr name="Freeform 36" id="36"/>
            <p:cNvSpPr/>
            <p:nvPr/>
          </p:nvSpPr>
          <p:spPr>
            <a:xfrm flipH="false" flipV="false" rot="0">
              <a:off x="0" y="0"/>
              <a:ext cx="10754360" cy="4292600"/>
            </a:xfrm>
            <a:custGeom>
              <a:avLst/>
              <a:gdLst/>
              <a:ahLst/>
              <a:cxnLst/>
              <a:rect r="r" b="b" t="t" l="l"/>
              <a:pathLst>
                <a:path h="4292600" w="10754360">
                  <a:moveTo>
                    <a:pt x="0" y="245237"/>
                  </a:moveTo>
                  <a:cubicBezTo>
                    <a:pt x="0" y="109855"/>
                    <a:pt x="109855" y="0"/>
                    <a:pt x="245237" y="0"/>
                  </a:cubicBezTo>
                  <a:lnTo>
                    <a:pt x="10509123" y="0"/>
                  </a:lnTo>
                  <a:cubicBezTo>
                    <a:pt x="10644632" y="0"/>
                    <a:pt x="10754360" y="109855"/>
                    <a:pt x="10754360" y="245237"/>
                  </a:cubicBezTo>
                  <a:lnTo>
                    <a:pt x="10754360" y="4047363"/>
                  </a:lnTo>
                  <a:cubicBezTo>
                    <a:pt x="10754360" y="4182872"/>
                    <a:pt x="10644505" y="4292600"/>
                    <a:pt x="10509123" y="4292600"/>
                  </a:cubicBezTo>
                  <a:lnTo>
                    <a:pt x="245237" y="4292600"/>
                  </a:lnTo>
                  <a:cubicBezTo>
                    <a:pt x="109855" y="4292600"/>
                    <a:pt x="0" y="4182745"/>
                    <a:pt x="0" y="4047363"/>
                  </a:cubicBezTo>
                  <a:close/>
                </a:path>
              </a:pathLst>
            </a:custGeom>
            <a:solidFill>
              <a:srgbClr val="FFFFFF">
                <a:alpha val="50000"/>
              </a:srgbClr>
            </a:solidFill>
            <a:ln w="19050" cap="sq">
              <a:solidFill>
                <a:srgbClr val="D6E0F2"/>
              </a:solidFill>
              <a:prstDash val="solid"/>
              <a:miter/>
            </a:ln>
          </p:spPr>
        </p:sp>
      </p:grpSp>
      <p:grpSp>
        <p:nvGrpSpPr>
          <p:cNvPr name="Group 37" id="37"/>
          <p:cNvGrpSpPr/>
          <p:nvPr/>
        </p:nvGrpSpPr>
        <p:grpSpPr>
          <a:xfrm rot="0">
            <a:off x="1358903" y="6388103"/>
            <a:ext cx="848363" cy="848363"/>
            <a:chOff x="0" y="0"/>
            <a:chExt cx="1131151" cy="1131151"/>
          </a:xfrm>
        </p:grpSpPr>
        <p:sp>
          <p:nvSpPr>
            <p:cNvPr name="Freeform 38" id="38"/>
            <p:cNvSpPr/>
            <p:nvPr/>
          </p:nvSpPr>
          <p:spPr>
            <a:xfrm flipH="false" flipV="false" rot="0">
              <a:off x="0" y="0"/>
              <a:ext cx="1131189" cy="1131062"/>
            </a:xfrm>
            <a:custGeom>
              <a:avLst/>
              <a:gdLst/>
              <a:ahLst/>
              <a:cxnLst/>
              <a:rect r="r" b="b" t="t" l="l"/>
              <a:pathLst>
                <a:path h="1131062" w="1131189">
                  <a:moveTo>
                    <a:pt x="0" y="251333"/>
                  </a:moveTo>
                  <a:cubicBezTo>
                    <a:pt x="0" y="112522"/>
                    <a:pt x="112522" y="0"/>
                    <a:pt x="251333" y="0"/>
                  </a:cubicBezTo>
                  <a:lnTo>
                    <a:pt x="879729" y="0"/>
                  </a:lnTo>
                  <a:cubicBezTo>
                    <a:pt x="1018667" y="0"/>
                    <a:pt x="1131189" y="112522"/>
                    <a:pt x="1131189" y="251333"/>
                  </a:cubicBezTo>
                  <a:lnTo>
                    <a:pt x="1131189" y="879729"/>
                  </a:lnTo>
                  <a:cubicBezTo>
                    <a:pt x="1131189" y="1018540"/>
                    <a:pt x="1018667" y="1131062"/>
                    <a:pt x="879856" y="1131062"/>
                  </a:cubicBezTo>
                  <a:lnTo>
                    <a:pt x="251333" y="1131062"/>
                  </a:lnTo>
                  <a:cubicBezTo>
                    <a:pt x="112522" y="1131189"/>
                    <a:pt x="0" y="1018667"/>
                    <a:pt x="0" y="879729"/>
                  </a:cubicBezTo>
                  <a:close/>
                </a:path>
              </a:pathLst>
            </a:custGeom>
            <a:solidFill>
              <a:srgbClr val="1448C8"/>
            </a:solidFill>
            <a:ln w="25400" cap="sq">
              <a:solidFill>
                <a:srgbClr val="1448C8"/>
              </a:solidFill>
              <a:prstDash val="solid"/>
              <a:miter/>
            </a:ln>
          </p:spPr>
        </p:sp>
      </p:grpSp>
      <p:grpSp>
        <p:nvGrpSpPr>
          <p:cNvPr name="Group 39" id="39"/>
          <p:cNvGrpSpPr/>
          <p:nvPr/>
        </p:nvGrpSpPr>
        <p:grpSpPr>
          <a:xfrm rot="0">
            <a:off x="1371600" y="6400800"/>
            <a:ext cx="822960" cy="822960"/>
            <a:chOff x="0" y="0"/>
            <a:chExt cx="1097280" cy="1097280"/>
          </a:xfrm>
        </p:grpSpPr>
        <p:sp>
          <p:nvSpPr>
            <p:cNvPr name="Freeform 40" id="4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03" t="0" r="-78303" b="0"/>
              </a:stretch>
            </a:blipFill>
          </p:spPr>
        </p:sp>
        <p:sp>
          <p:nvSpPr>
            <p:cNvPr name="TextBox 41" id="41"/>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C81E"/>
                  </a:solidFill>
                  <a:latin typeface="Arial Bold"/>
                  <a:ea typeface="Arial Bold"/>
                  <a:cs typeface="Arial Bold"/>
                  <a:sym typeface="Arial Bold"/>
                </a:rPr>
                <a:t>3</a:t>
              </a:r>
            </a:p>
          </p:txBody>
        </p:sp>
      </p:grpSp>
      <p:grpSp>
        <p:nvGrpSpPr>
          <p:cNvPr name="Group 42" id="42"/>
          <p:cNvGrpSpPr/>
          <p:nvPr/>
        </p:nvGrpSpPr>
        <p:grpSpPr>
          <a:xfrm rot="0">
            <a:off x="2468880" y="6400800"/>
            <a:ext cx="6035040" cy="822960"/>
            <a:chOff x="0" y="0"/>
            <a:chExt cx="8046720" cy="1097280"/>
          </a:xfrm>
        </p:grpSpPr>
        <p:sp>
          <p:nvSpPr>
            <p:cNvPr name="Freeform 43" id="43"/>
            <p:cNvSpPr/>
            <p:nvPr/>
          </p:nvSpPr>
          <p:spPr>
            <a:xfrm flipH="false" flipV="false" rot="0">
              <a:off x="0" y="0"/>
              <a:ext cx="8046720" cy="1097280"/>
            </a:xfrm>
            <a:custGeom>
              <a:avLst/>
              <a:gdLst/>
              <a:ahLst/>
              <a:cxnLst/>
              <a:rect r="r" b="b" t="t" l="l"/>
              <a:pathLst>
                <a:path h="1097280" w="8046720">
                  <a:moveTo>
                    <a:pt x="0" y="0"/>
                  </a:moveTo>
                  <a:lnTo>
                    <a:pt x="8046720" y="0"/>
                  </a:lnTo>
                  <a:lnTo>
                    <a:pt x="8046720" y="1097280"/>
                  </a:lnTo>
                  <a:lnTo>
                    <a:pt x="0" y="1097280"/>
                  </a:lnTo>
                  <a:close/>
                </a:path>
              </a:pathLst>
            </a:custGeom>
            <a:blipFill>
              <a:blip r:embed="rId4">
                <a:alphaModFix amt="0"/>
              </a:blip>
              <a:stretch>
                <a:fillRect l="0" t="-92890" r="0" b="-92890"/>
              </a:stretch>
            </a:blipFill>
          </p:spPr>
        </p:sp>
        <p:sp>
          <p:nvSpPr>
            <p:cNvPr name="TextBox 44" id="44"/>
            <p:cNvSpPr txBox="true"/>
            <p:nvPr/>
          </p:nvSpPr>
          <p:spPr>
            <a:xfrm>
              <a:off x="0" y="-19050"/>
              <a:ext cx="8046720" cy="1116330"/>
            </a:xfrm>
            <a:prstGeom prst="rect">
              <a:avLst/>
            </a:prstGeom>
          </p:spPr>
          <p:txBody>
            <a:bodyPr anchor="ctr" rtlCol="false" tIns="0" lIns="0" bIns="0" rIns="0"/>
            <a:lstStyle/>
            <a:p>
              <a:pPr algn="l">
                <a:lnSpc>
                  <a:spcPts val="3359"/>
                </a:lnSpc>
              </a:pPr>
              <a:r>
                <a:rPr lang="en-US" sz="2799" b="true">
                  <a:solidFill>
                    <a:srgbClr val="1448C8"/>
                  </a:solidFill>
                  <a:latin typeface="Arial Bold"/>
                  <a:ea typeface="Arial Bold"/>
                  <a:cs typeface="Arial Bold"/>
                  <a:sym typeface="Arial Bold"/>
                </a:rPr>
                <a:t>Dokumen wajib</a:t>
              </a:r>
            </a:p>
          </p:txBody>
        </p:sp>
      </p:grpSp>
      <p:sp>
        <p:nvSpPr>
          <p:cNvPr name="TextBox 45" id="45"/>
          <p:cNvSpPr txBox="true"/>
          <p:nvPr/>
        </p:nvSpPr>
        <p:spPr>
          <a:xfrm rot="0">
            <a:off x="1371600" y="7450455"/>
            <a:ext cx="7223760" cy="1510665"/>
          </a:xfrm>
          <a:prstGeom prst="rect">
            <a:avLst/>
          </a:prstGeom>
        </p:spPr>
        <p:txBody>
          <a:bodyPr anchor="t" rtlCol="false" tIns="0" lIns="0" bIns="0" rIns="0">
            <a:spAutoFit/>
          </a:bodyPr>
          <a:lstStyle/>
          <a:p>
            <a:pPr algn="l">
              <a:lnSpc>
                <a:spcPts val="2760"/>
              </a:lnSpc>
            </a:pPr>
            <a:r>
              <a:rPr lang="en-US" sz="2300">
                <a:solidFill>
                  <a:srgbClr val="0B1D3A"/>
                </a:solidFill>
                <a:latin typeface="Calibri (MS)"/>
                <a:ea typeface="Calibri (MS)"/>
                <a:cs typeface="Calibri (MS)"/>
                <a:sym typeface="Calibri (MS)"/>
              </a:rPr>
              <a:t>Melampirkan KTM, KTP, atau identitas lain yang berlaku saat pendaftaran.</a:t>
            </a:r>
          </a:p>
        </p:txBody>
      </p:sp>
      <p:grpSp>
        <p:nvGrpSpPr>
          <p:cNvPr name="Group 46" id="46"/>
          <p:cNvGrpSpPr/>
          <p:nvPr/>
        </p:nvGrpSpPr>
        <p:grpSpPr>
          <a:xfrm rot="0">
            <a:off x="9317355" y="5934075"/>
            <a:ext cx="8065770" cy="3219450"/>
            <a:chOff x="0" y="0"/>
            <a:chExt cx="10754360" cy="4292600"/>
          </a:xfrm>
        </p:grpSpPr>
        <p:sp>
          <p:nvSpPr>
            <p:cNvPr name="Freeform 47" id="47"/>
            <p:cNvSpPr/>
            <p:nvPr/>
          </p:nvSpPr>
          <p:spPr>
            <a:xfrm flipH="false" flipV="false" rot="0">
              <a:off x="0" y="0"/>
              <a:ext cx="10754360" cy="4292600"/>
            </a:xfrm>
            <a:custGeom>
              <a:avLst/>
              <a:gdLst/>
              <a:ahLst/>
              <a:cxnLst/>
              <a:rect r="r" b="b" t="t" l="l"/>
              <a:pathLst>
                <a:path h="4292600" w="10754360">
                  <a:moveTo>
                    <a:pt x="0" y="245237"/>
                  </a:moveTo>
                  <a:cubicBezTo>
                    <a:pt x="0" y="109855"/>
                    <a:pt x="109855" y="0"/>
                    <a:pt x="245237" y="0"/>
                  </a:cubicBezTo>
                  <a:lnTo>
                    <a:pt x="10509123" y="0"/>
                  </a:lnTo>
                  <a:cubicBezTo>
                    <a:pt x="10644632" y="0"/>
                    <a:pt x="10754360" y="109855"/>
                    <a:pt x="10754360" y="245237"/>
                  </a:cubicBezTo>
                  <a:lnTo>
                    <a:pt x="10754360" y="4047363"/>
                  </a:lnTo>
                  <a:cubicBezTo>
                    <a:pt x="10754360" y="4182872"/>
                    <a:pt x="10644505" y="4292600"/>
                    <a:pt x="10509123" y="4292600"/>
                  </a:cubicBezTo>
                  <a:lnTo>
                    <a:pt x="245237" y="4292600"/>
                  </a:lnTo>
                  <a:cubicBezTo>
                    <a:pt x="109855" y="4292600"/>
                    <a:pt x="0" y="4182745"/>
                    <a:pt x="0" y="4047363"/>
                  </a:cubicBezTo>
                  <a:close/>
                </a:path>
              </a:pathLst>
            </a:custGeom>
            <a:solidFill>
              <a:srgbClr val="FFFFFF">
                <a:alpha val="50000"/>
              </a:srgbClr>
            </a:solidFill>
            <a:ln w="19050" cap="sq">
              <a:solidFill>
                <a:srgbClr val="D6E0F2"/>
              </a:solidFill>
              <a:prstDash val="solid"/>
              <a:miter/>
            </a:ln>
          </p:spPr>
        </p:sp>
      </p:grpSp>
      <p:grpSp>
        <p:nvGrpSpPr>
          <p:cNvPr name="Group 48" id="48"/>
          <p:cNvGrpSpPr/>
          <p:nvPr/>
        </p:nvGrpSpPr>
        <p:grpSpPr>
          <a:xfrm rot="0">
            <a:off x="9771383" y="6388103"/>
            <a:ext cx="848363" cy="848363"/>
            <a:chOff x="0" y="0"/>
            <a:chExt cx="1131151" cy="1131151"/>
          </a:xfrm>
        </p:grpSpPr>
        <p:sp>
          <p:nvSpPr>
            <p:cNvPr name="Freeform 49" id="49"/>
            <p:cNvSpPr/>
            <p:nvPr/>
          </p:nvSpPr>
          <p:spPr>
            <a:xfrm flipH="false" flipV="false" rot="0">
              <a:off x="0" y="0"/>
              <a:ext cx="1131189" cy="1131062"/>
            </a:xfrm>
            <a:custGeom>
              <a:avLst/>
              <a:gdLst/>
              <a:ahLst/>
              <a:cxnLst/>
              <a:rect r="r" b="b" t="t" l="l"/>
              <a:pathLst>
                <a:path h="1131062" w="1131189">
                  <a:moveTo>
                    <a:pt x="0" y="251333"/>
                  </a:moveTo>
                  <a:cubicBezTo>
                    <a:pt x="0" y="112522"/>
                    <a:pt x="112522" y="0"/>
                    <a:pt x="251333" y="0"/>
                  </a:cubicBezTo>
                  <a:lnTo>
                    <a:pt x="879729" y="0"/>
                  </a:lnTo>
                  <a:cubicBezTo>
                    <a:pt x="1018667" y="0"/>
                    <a:pt x="1131189" y="112522"/>
                    <a:pt x="1131189" y="251333"/>
                  </a:cubicBezTo>
                  <a:lnTo>
                    <a:pt x="1131189" y="879729"/>
                  </a:lnTo>
                  <a:cubicBezTo>
                    <a:pt x="1131189" y="1018540"/>
                    <a:pt x="1018667" y="1131062"/>
                    <a:pt x="879856" y="1131062"/>
                  </a:cubicBezTo>
                  <a:lnTo>
                    <a:pt x="251333" y="1131062"/>
                  </a:lnTo>
                  <a:cubicBezTo>
                    <a:pt x="112522" y="1131189"/>
                    <a:pt x="0" y="1018667"/>
                    <a:pt x="0" y="879729"/>
                  </a:cubicBezTo>
                  <a:close/>
                </a:path>
              </a:pathLst>
            </a:custGeom>
            <a:solidFill>
              <a:srgbClr val="1448C8"/>
            </a:solidFill>
            <a:ln w="25400" cap="sq">
              <a:solidFill>
                <a:srgbClr val="1448C8"/>
              </a:solidFill>
              <a:prstDash val="solid"/>
              <a:miter/>
            </a:ln>
          </p:spPr>
        </p:sp>
      </p:grpSp>
      <p:grpSp>
        <p:nvGrpSpPr>
          <p:cNvPr name="Group 50" id="50"/>
          <p:cNvGrpSpPr/>
          <p:nvPr/>
        </p:nvGrpSpPr>
        <p:grpSpPr>
          <a:xfrm rot="0">
            <a:off x="9784080" y="6400800"/>
            <a:ext cx="822960" cy="822960"/>
            <a:chOff x="0" y="0"/>
            <a:chExt cx="1097280" cy="1097280"/>
          </a:xfrm>
        </p:grpSpPr>
        <p:sp>
          <p:nvSpPr>
            <p:cNvPr name="Freeform 51" id="51"/>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03" t="0" r="-78303" b="0"/>
              </a:stretch>
            </a:blipFill>
          </p:spPr>
        </p:sp>
        <p:sp>
          <p:nvSpPr>
            <p:cNvPr name="TextBox 52" id="52"/>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C81E"/>
                  </a:solidFill>
                  <a:latin typeface="Arial Bold"/>
                  <a:ea typeface="Arial Bold"/>
                  <a:cs typeface="Arial Bold"/>
                  <a:sym typeface="Arial Bold"/>
                </a:rPr>
                <a:t>4</a:t>
              </a:r>
            </a:p>
          </p:txBody>
        </p:sp>
      </p:grpSp>
      <p:grpSp>
        <p:nvGrpSpPr>
          <p:cNvPr name="Group 53" id="53"/>
          <p:cNvGrpSpPr/>
          <p:nvPr/>
        </p:nvGrpSpPr>
        <p:grpSpPr>
          <a:xfrm rot="0">
            <a:off x="10881360" y="6400800"/>
            <a:ext cx="6035040" cy="822960"/>
            <a:chOff x="0" y="0"/>
            <a:chExt cx="8046720" cy="1097280"/>
          </a:xfrm>
        </p:grpSpPr>
        <p:sp>
          <p:nvSpPr>
            <p:cNvPr name="Freeform 54" id="54"/>
            <p:cNvSpPr/>
            <p:nvPr/>
          </p:nvSpPr>
          <p:spPr>
            <a:xfrm flipH="false" flipV="false" rot="0">
              <a:off x="0" y="0"/>
              <a:ext cx="8046720" cy="1097280"/>
            </a:xfrm>
            <a:custGeom>
              <a:avLst/>
              <a:gdLst/>
              <a:ahLst/>
              <a:cxnLst/>
              <a:rect r="r" b="b" t="t" l="l"/>
              <a:pathLst>
                <a:path h="1097280" w="8046720">
                  <a:moveTo>
                    <a:pt x="0" y="0"/>
                  </a:moveTo>
                  <a:lnTo>
                    <a:pt x="8046720" y="0"/>
                  </a:lnTo>
                  <a:lnTo>
                    <a:pt x="8046720" y="1097280"/>
                  </a:lnTo>
                  <a:lnTo>
                    <a:pt x="0" y="1097280"/>
                  </a:lnTo>
                  <a:close/>
                </a:path>
              </a:pathLst>
            </a:custGeom>
            <a:blipFill>
              <a:blip r:embed="rId4">
                <a:alphaModFix amt="0"/>
              </a:blip>
              <a:stretch>
                <a:fillRect l="0" t="-92890" r="0" b="-92890"/>
              </a:stretch>
            </a:blipFill>
          </p:spPr>
        </p:sp>
        <p:sp>
          <p:nvSpPr>
            <p:cNvPr name="TextBox 55" id="55"/>
            <p:cNvSpPr txBox="true"/>
            <p:nvPr/>
          </p:nvSpPr>
          <p:spPr>
            <a:xfrm>
              <a:off x="0" y="-19050"/>
              <a:ext cx="8046720" cy="1116330"/>
            </a:xfrm>
            <a:prstGeom prst="rect">
              <a:avLst/>
            </a:prstGeom>
          </p:spPr>
          <p:txBody>
            <a:bodyPr anchor="ctr" rtlCol="false" tIns="0" lIns="0" bIns="0" rIns="0"/>
            <a:lstStyle/>
            <a:p>
              <a:pPr algn="l">
                <a:lnSpc>
                  <a:spcPts val="3359"/>
                </a:lnSpc>
              </a:pPr>
              <a:r>
                <a:rPr lang="en-US" sz="2799" b="true">
                  <a:solidFill>
                    <a:srgbClr val="1448C8"/>
                  </a:solidFill>
                  <a:latin typeface="Arial Bold"/>
                  <a:ea typeface="Arial Bold"/>
                  <a:cs typeface="Arial Bold"/>
                  <a:sym typeface="Arial Bold"/>
                </a:rPr>
                <a:t>Orisinalitas karya</a:t>
              </a:r>
            </a:p>
          </p:txBody>
        </p:sp>
      </p:grpSp>
      <p:sp>
        <p:nvSpPr>
          <p:cNvPr name="TextBox 56" id="56"/>
          <p:cNvSpPr txBox="true"/>
          <p:nvPr/>
        </p:nvSpPr>
        <p:spPr>
          <a:xfrm rot="0">
            <a:off x="9784080" y="7450455"/>
            <a:ext cx="7223760" cy="1510665"/>
          </a:xfrm>
          <a:prstGeom prst="rect">
            <a:avLst/>
          </a:prstGeom>
        </p:spPr>
        <p:txBody>
          <a:bodyPr anchor="t" rtlCol="false" tIns="0" lIns="0" bIns="0" rIns="0">
            <a:spAutoFit/>
          </a:bodyPr>
          <a:lstStyle/>
          <a:p>
            <a:pPr algn="l">
              <a:lnSpc>
                <a:spcPts val="2760"/>
              </a:lnSpc>
            </a:pPr>
            <a:r>
              <a:rPr lang="en-US" sz="2300">
                <a:solidFill>
                  <a:srgbClr val="0B1D3A"/>
                </a:solidFill>
                <a:latin typeface="Calibri (MS)"/>
                <a:ea typeface="Calibri (MS)"/>
                <a:cs typeface="Calibri (MS)"/>
                <a:sym typeface="Calibri (MS)"/>
              </a:rPr>
              <a:t>Dibuat dari nol sejak lomba dibuka (5 Okt 2026, 09.30 WIB), belum pernah dipublikasikan, dan belum pernah diikutsertakan pada kompetisi lain.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15"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04</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Jadwal — Babak Penyisihan (Daring)</a:t>
              </a:r>
            </a:p>
          </p:txBody>
        </p:sp>
      </p:grpSp>
      <p:sp>
        <p:nvSpPr>
          <p:cNvPr name="TextBox 11" id="11"/>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2" id="12"/>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aphicFrame>
        <p:nvGraphicFramePr>
          <p:cNvPr name="Table 13" id="13"/>
          <p:cNvGraphicFramePr>
            <a:graphicFrameLocks noGrp="true"/>
          </p:cNvGraphicFramePr>
          <p:nvPr/>
        </p:nvGraphicFramePr>
        <p:xfrm>
          <a:off x="914400" y="2377440"/>
          <a:ext cx="16433800" cy="5689600"/>
        </p:xfrm>
        <a:graphic>
          <a:graphicData uri="http://schemas.openxmlformats.org/drawingml/2006/table">
            <a:tbl>
              <a:tblPr/>
              <a:tblGrid>
                <a:gridCol w="2926080"/>
                <a:gridCol w="7589520"/>
                <a:gridCol w="2377440"/>
                <a:gridCol w="3547872"/>
              </a:tblGrid>
              <a:tr h="566928">
                <a:tc>
                  <a:txBody>
                    <a:bodyPr anchor="t" rtlCol="false"/>
                    <a:lstStyle/>
                    <a:p>
                      <a:pPr algn="l">
                        <a:lnSpc>
                          <a:spcPts val="2520"/>
                        </a:lnSpc>
                        <a:defRPr/>
                      </a:pPr>
                      <a:r>
                        <a:rPr lang="en-US" sz="1900" b="true">
                          <a:solidFill>
                            <a:srgbClr val="FFFFFF"/>
                          </a:solidFill>
                          <a:latin typeface="Arial Bold"/>
                          <a:ea typeface="Arial Bold"/>
                          <a:cs typeface="Arial Bold"/>
                          <a:sym typeface="Arial Bold"/>
                        </a:rPr>
                        <a:t>Tanggal</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1448C8"/>
                    </a:solidFill>
                  </a:tcPr>
                </a:tc>
                <a:tc>
                  <a:txBody>
                    <a:bodyPr anchor="t" rtlCol="false"/>
                    <a:lstStyle/>
                    <a:p>
                      <a:pPr algn="l">
                        <a:lnSpc>
                          <a:spcPts val="2520"/>
                        </a:lnSpc>
                        <a:defRPr/>
                      </a:pPr>
                      <a:r>
                        <a:rPr lang="en-US" sz="1900" b="true">
                          <a:solidFill>
                            <a:srgbClr val="FFFFFF"/>
                          </a:solidFill>
                          <a:latin typeface="Arial Bold"/>
                          <a:ea typeface="Arial Bold"/>
                          <a:cs typeface="Arial Bold"/>
                          <a:sym typeface="Arial Bold"/>
                        </a:rPr>
                        <a:t>Kegiatan</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1448C8"/>
                    </a:solidFill>
                  </a:tcPr>
                </a:tc>
                <a:tc>
                  <a:txBody>
                    <a:bodyPr anchor="t" rtlCol="false"/>
                    <a:lstStyle/>
                    <a:p>
                      <a:pPr algn="l">
                        <a:lnSpc>
                          <a:spcPts val="2520"/>
                        </a:lnSpc>
                        <a:defRPr/>
                      </a:pPr>
                      <a:r>
                        <a:rPr lang="en-US" sz="1900" b="true">
                          <a:solidFill>
                            <a:srgbClr val="FFFFFF"/>
                          </a:solidFill>
                          <a:latin typeface="Arial Bold"/>
                          <a:ea typeface="Arial Bold"/>
                          <a:cs typeface="Arial Bold"/>
                          <a:sym typeface="Arial Bold"/>
                        </a:rPr>
                        <a:t>Waktu</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1448C8"/>
                    </a:solidFill>
                  </a:tcPr>
                </a:tc>
                <a:tc>
                  <a:txBody>
                    <a:bodyPr anchor="t" rtlCol="false"/>
                    <a:lstStyle/>
                    <a:p>
                      <a:pPr algn="l">
                        <a:lnSpc>
                          <a:spcPts val="2520"/>
                        </a:lnSpc>
                        <a:defRPr/>
                      </a:pPr>
                      <a:r>
                        <a:rPr lang="en-US" sz="1900" b="true">
                          <a:solidFill>
                            <a:srgbClr val="FFFFFF"/>
                          </a:solidFill>
                          <a:latin typeface="Arial Bold"/>
                          <a:ea typeface="Arial Bold"/>
                          <a:cs typeface="Arial Bold"/>
                          <a:sym typeface="Arial Bold"/>
                        </a:rPr>
                        <a:t>Keterangan</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1448C8"/>
                    </a:solidFill>
                  </a:tcPr>
                </a:tc>
              </a:tr>
              <a:tr h="566928">
                <a:tc>
                  <a:txBody>
                    <a:bodyPr anchor="t" rtlCol="false"/>
                    <a:lstStyle/>
                    <a:p>
                      <a:pPr algn="l">
                        <a:lnSpc>
                          <a:spcPts val="2760"/>
                        </a:lnSpc>
                        <a:defRPr/>
                      </a:pPr>
                      <a:r>
                        <a:rPr lang="en-US" sz="1900" b="true">
                          <a:solidFill>
                            <a:srgbClr val="0B1D3A"/>
                          </a:solidFill>
                          <a:latin typeface="Calibri (MS) Bold"/>
                          <a:ea typeface="Calibri (MS) Bold"/>
                          <a:cs typeface="Calibri (MS) Bold"/>
                          <a:sym typeface="Calibri (MS) Bold"/>
                        </a:rPr>
                        <a:t>5 Okt 2026</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l">
                        <a:lnSpc>
                          <a:spcPts val="2760"/>
                        </a:lnSpc>
                        <a:defRPr/>
                      </a:pPr>
                      <a:r>
                        <a:rPr lang="en-US" sz="1900">
                          <a:solidFill>
                            <a:srgbClr val="0B1D3A"/>
                          </a:solidFill>
                          <a:latin typeface="Calibri (MS)"/>
                          <a:ea typeface="Calibri (MS)"/>
                          <a:cs typeface="Calibri (MS)"/>
                          <a:sym typeface="Calibri (MS)"/>
                        </a:rPr>
                        <a:t>Babak Penyisihan dibuka</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09.00 WIB</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Daring</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r>
              <a:tr h="566928">
                <a:tc>
                  <a:txBody>
                    <a:bodyPr anchor="t" rtlCol="false"/>
                    <a:lstStyle/>
                    <a:p>
                      <a:pPr algn="l">
                        <a:lnSpc>
                          <a:spcPts val="2760"/>
                        </a:lnSpc>
                        <a:defRPr/>
                      </a:pPr>
                      <a:r>
                        <a:rPr lang="en-US" sz="1900" b="true">
                          <a:solidFill>
                            <a:srgbClr val="0B1D3A"/>
                          </a:solidFill>
                          <a:latin typeface="Calibri (MS) Bold"/>
                          <a:ea typeface="Calibri (MS) Bold"/>
                          <a:cs typeface="Calibri (MS) Bold"/>
                          <a:sym typeface="Calibri (MS) Bold"/>
                        </a:rPr>
                        <a:t>5 Okt 2026</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l">
                        <a:lnSpc>
                          <a:spcPts val="2760"/>
                        </a:lnSpc>
                        <a:defRPr/>
                      </a:pPr>
                      <a:r>
                        <a:rPr lang="en-US" sz="1900">
                          <a:solidFill>
                            <a:srgbClr val="0B1D3A"/>
                          </a:solidFill>
                          <a:latin typeface="Calibri (MS)"/>
                          <a:ea typeface="Calibri (MS)"/>
                          <a:cs typeface="Calibri (MS)"/>
                          <a:sym typeface="Calibri (MS)"/>
                        </a:rPr>
                        <a:t>Waktu persiapan peserta</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09.00–09.30 WIB</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Tanpa pembukaan formal</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r>
              <a:tr h="566928">
                <a:tc>
                  <a:txBody>
                    <a:bodyPr anchor="t" rtlCol="false"/>
                    <a:lstStyle/>
                    <a:p>
                      <a:pPr algn="l">
                        <a:lnSpc>
                          <a:spcPts val="2760"/>
                        </a:lnSpc>
                        <a:defRPr/>
                      </a:pPr>
                      <a:r>
                        <a:rPr lang="en-US" sz="1900" b="true">
                          <a:solidFill>
                            <a:srgbClr val="0B1D3A"/>
                          </a:solidFill>
                          <a:latin typeface="Calibri (MS) Bold"/>
                          <a:ea typeface="Calibri (MS) Bold"/>
                          <a:cs typeface="Calibri (MS) Bold"/>
                          <a:sym typeface="Calibri (MS) Bold"/>
                        </a:rPr>
                        <a:t>5 Okt 2026</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l">
                        <a:lnSpc>
                          <a:spcPts val="2760"/>
                        </a:lnSpc>
                        <a:defRPr/>
                      </a:pPr>
                      <a:r>
                        <a:rPr lang="en-US" sz="1900">
                          <a:solidFill>
                            <a:srgbClr val="0B1D3A"/>
                          </a:solidFill>
                          <a:latin typeface="Calibri (MS)"/>
                          <a:ea typeface="Calibri (MS)"/>
                          <a:cs typeface="Calibri (MS)"/>
                          <a:sym typeface="Calibri (MS)"/>
                        </a:rPr>
                        <a:t>Mulai pengerjaan</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09.30 WIB</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Garis start karya</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r>
              <a:tr h="566928">
                <a:tc>
                  <a:txBody>
                    <a:bodyPr anchor="t" rtlCol="false"/>
                    <a:lstStyle/>
                    <a:p>
                      <a:pPr algn="l">
                        <a:lnSpc>
                          <a:spcPts val="2760"/>
                        </a:lnSpc>
                        <a:defRPr/>
                      </a:pPr>
                      <a:r>
                        <a:rPr lang="en-US" sz="1900" b="true">
                          <a:solidFill>
                            <a:srgbClr val="0B1D3A"/>
                          </a:solidFill>
                          <a:latin typeface="Calibri (MS) Bold"/>
                          <a:ea typeface="Calibri (MS) Bold"/>
                          <a:cs typeface="Calibri (MS) Bold"/>
                          <a:sym typeface="Calibri (MS) Bold"/>
                        </a:rPr>
                        <a:t>15 Okt 2026</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l">
                        <a:lnSpc>
                          <a:spcPts val="2760"/>
                        </a:lnSpc>
                        <a:defRPr/>
                      </a:pPr>
                      <a:r>
                        <a:rPr lang="en-US" sz="1900">
                          <a:solidFill>
                            <a:srgbClr val="0B1D3A"/>
                          </a:solidFill>
                          <a:latin typeface="Calibri (MS)"/>
                          <a:ea typeface="Calibri (MS)"/>
                          <a:cs typeface="Calibri (MS)"/>
                          <a:sym typeface="Calibri (MS)"/>
                        </a:rPr>
                        <a:t>Batas akhir pengumpulan karya</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15.30 WIB</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Batas submit karya</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r>
              <a:tr h="566928">
                <a:tc>
                  <a:txBody>
                    <a:bodyPr anchor="t" rtlCol="false"/>
                    <a:lstStyle/>
                    <a:p>
                      <a:pPr algn="l">
                        <a:lnSpc>
                          <a:spcPts val="2760"/>
                        </a:lnSpc>
                        <a:defRPr/>
                      </a:pPr>
                      <a:r>
                        <a:rPr lang="en-US" sz="1900" b="true">
                          <a:solidFill>
                            <a:srgbClr val="0B1D3A"/>
                          </a:solidFill>
                          <a:latin typeface="Calibri (MS) Bold"/>
                          <a:ea typeface="Calibri (MS) Bold"/>
                          <a:cs typeface="Calibri (MS) Bold"/>
                          <a:sym typeface="Calibri (MS) Bold"/>
                        </a:rPr>
                        <a:t>15 Okt 2026</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l">
                        <a:lnSpc>
                          <a:spcPts val="2760"/>
                        </a:lnSpc>
                        <a:defRPr/>
                      </a:pPr>
                      <a:r>
                        <a:rPr lang="en-US" sz="1900">
                          <a:solidFill>
                            <a:srgbClr val="0B1D3A"/>
                          </a:solidFill>
                          <a:latin typeface="Calibri (MS)"/>
                          <a:ea typeface="Calibri (MS)"/>
                          <a:cs typeface="Calibri (MS)"/>
                          <a:sym typeface="Calibri (MS)"/>
                        </a:rPr>
                        <a:t>Penutupan babak penyisihan</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21.00 WIB</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Bukan batas submit</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r>
              <a:tr h="566928">
                <a:tc>
                  <a:txBody>
                    <a:bodyPr anchor="t" rtlCol="false"/>
                    <a:lstStyle/>
                    <a:p>
                      <a:pPr algn="l">
                        <a:lnSpc>
                          <a:spcPts val="2760"/>
                        </a:lnSpc>
                        <a:defRPr/>
                      </a:pPr>
                      <a:r>
                        <a:rPr lang="en-US" sz="1900" b="true">
                          <a:solidFill>
                            <a:srgbClr val="0B1D3A"/>
                          </a:solidFill>
                          <a:latin typeface="Calibri (MS) Bold"/>
                          <a:ea typeface="Calibri (MS) Bold"/>
                          <a:cs typeface="Calibri (MS) Bold"/>
                          <a:sym typeface="Calibri (MS) Bold"/>
                        </a:rPr>
                        <a:t>16–24 Okt 2026</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l">
                        <a:lnSpc>
                          <a:spcPts val="2760"/>
                        </a:lnSpc>
                        <a:defRPr/>
                      </a:pPr>
                      <a:r>
                        <a:rPr lang="en-US" sz="1900">
                          <a:solidFill>
                            <a:srgbClr val="0B1D3A"/>
                          </a:solidFill>
                          <a:latin typeface="Calibri (MS)"/>
                          <a:ea typeface="Calibri (MS)"/>
                          <a:cs typeface="Calibri (MS)"/>
                          <a:sym typeface="Calibri (MS)"/>
                        </a:rPr>
                        <a:t>Penilaian oleh dewan juri</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07.00 WIB</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r">
                        <a:lnSpc>
                          <a:spcPts val="2760"/>
                        </a:lnSpc>
                        <a:defRPr/>
                      </a:pPr>
                      <a:r>
                        <a:rPr lang="en-US" sz="1900">
                          <a:solidFill>
                            <a:srgbClr val="0B1D3A"/>
                          </a:solidFill>
                          <a:latin typeface="Calibri (MS)"/>
                          <a:ea typeface="Calibri (MS)"/>
                          <a:cs typeface="Calibri (MS)"/>
                          <a:sym typeface="Calibri (MS)"/>
                        </a:rPr>
                        <a:t>Daring</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r>
              <a:tr h="566928">
                <a:tc>
                  <a:txBody>
                    <a:bodyPr anchor="t" rtlCol="false"/>
                    <a:lstStyle/>
                    <a:p>
                      <a:pPr algn="l">
                        <a:lnSpc>
                          <a:spcPts val="2760"/>
                        </a:lnSpc>
                        <a:defRPr/>
                      </a:pPr>
                      <a:r>
                        <a:rPr lang="en-US" sz="1900" b="true">
                          <a:solidFill>
                            <a:srgbClr val="0B1D3A"/>
                          </a:solidFill>
                          <a:latin typeface="Calibri (MS) Bold"/>
                          <a:ea typeface="Calibri (MS) Bold"/>
                          <a:cs typeface="Calibri (MS) Bold"/>
                          <a:sym typeface="Calibri (MS) Bold"/>
                        </a:rPr>
                        <a:t>25 Okt 2026</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E9A6">
                        <a:alpha val="50000"/>
                      </a:srgbClr>
                    </a:solidFill>
                  </a:tcPr>
                </a:tc>
                <a:tc>
                  <a:txBody>
                    <a:bodyPr anchor="t" rtlCol="false"/>
                    <a:lstStyle/>
                    <a:p>
                      <a:pPr algn="l">
                        <a:lnSpc>
                          <a:spcPts val="2760"/>
                        </a:lnSpc>
                        <a:defRPr/>
                      </a:pPr>
                      <a:r>
                        <a:rPr lang="en-US" sz="1900" b="true">
                          <a:solidFill>
                            <a:srgbClr val="0B1D3A"/>
                          </a:solidFill>
                          <a:latin typeface="Calibri (MS) Bold"/>
                          <a:ea typeface="Calibri (MS) Bold"/>
                          <a:cs typeface="Calibri (MS) Bold"/>
                          <a:sym typeface="Calibri (MS) Bold"/>
                        </a:rPr>
                        <a:t>Pengumuman Juara 1/2/3 (daring)</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E9A6">
                        <a:alpha val="50000"/>
                      </a:srgbClr>
                    </a:solidFill>
                  </a:tcPr>
                </a:tc>
                <a:tc>
                  <a:txBody>
                    <a:bodyPr anchor="t" rtlCol="false"/>
                    <a:lstStyle/>
                    <a:p>
                      <a:pPr algn="r">
                        <a:lnSpc>
                          <a:spcPts val="2760"/>
                        </a:lnSpc>
                        <a:defRPr/>
                      </a:pPr>
                      <a:r>
                        <a:rPr lang="en-US" sz="1900" b="true">
                          <a:solidFill>
                            <a:srgbClr val="0B1D3A"/>
                          </a:solidFill>
                          <a:latin typeface="Calibri (MS) Bold"/>
                          <a:ea typeface="Calibri (MS) Bold"/>
                          <a:cs typeface="Calibri (MS) Bold"/>
                          <a:sym typeface="Calibri (MS) Bold"/>
                        </a:rPr>
                        <a:t>15.00 WIB</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E9A6">
                        <a:alpha val="50000"/>
                      </a:srgbClr>
                    </a:solidFill>
                  </a:tcPr>
                </a:tc>
                <a:tc>
                  <a:txBody>
                    <a:bodyPr anchor="t" rtlCol="false"/>
                    <a:lstStyle/>
                    <a:p>
                      <a:pPr algn="r">
                        <a:lnSpc>
                          <a:spcPts val="2760"/>
                        </a:lnSpc>
                        <a:defRPr/>
                      </a:pPr>
                      <a:r>
                        <a:rPr lang="en-US" sz="1900" b="true">
                          <a:solidFill>
                            <a:srgbClr val="0B1D3A"/>
                          </a:solidFill>
                          <a:latin typeface="Calibri (MS) Bold"/>
                          <a:ea typeface="Calibri (MS) Bold"/>
                          <a:cs typeface="Calibri (MS) Bold"/>
                          <a:sym typeface="Calibri (MS) Bold"/>
                        </a:rPr>
                        <a:t>Kategori Umum</a:t>
                      </a:r>
                      <a:endParaRPr lang="en-US" sz="1100"/>
                    </a:p>
                  </a:txBody>
                  <a:tcPr marL="109728" marR="109728" marT="109728" marB="109728"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E9A6">
                        <a:alpha val="50000"/>
                      </a:srgbClr>
                    </a:solidFill>
                  </a:tcPr>
                </a:tc>
              </a:tr>
            </a:tbl>
          </a:graphicData>
        </a:graphic>
      </p:graphicFrame>
      <p:sp>
        <p:nvSpPr>
          <p:cNvPr name="TextBox 14" id="14"/>
          <p:cNvSpPr txBox="true"/>
          <p:nvPr/>
        </p:nvSpPr>
        <p:spPr>
          <a:xfrm rot="0">
            <a:off x="914400" y="8547735"/>
            <a:ext cx="16459200" cy="596265"/>
          </a:xfrm>
          <a:prstGeom prst="rect">
            <a:avLst/>
          </a:prstGeom>
        </p:spPr>
        <p:txBody>
          <a:bodyPr anchor="t" rtlCol="false" tIns="0" lIns="0" bIns="0" rIns="0">
            <a:spAutoFit/>
          </a:bodyPr>
          <a:lstStyle/>
          <a:p>
            <a:pPr algn="l">
              <a:lnSpc>
                <a:spcPts val="2520"/>
              </a:lnSpc>
            </a:pPr>
            <a:r>
              <a:rPr lang="en-US" sz="2100" i="true">
                <a:solidFill>
                  <a:srgbClr val="5B6B85"/>
                </a:solidFill>
                <a:latin typeface="Calibri (MS) Italics"/>
                <a:ea typeface="Calibri (MS) Italics"/>
                <a:cs typeface="Calibri (MS) Italics"/>
                <a:sym typeface="Calibri (MS) Italics"/>
              </a:rPr>
              <a:t>Peserta diberi waktu 30 menit persiapan sebelum lomba resmi dimulai. Tidak ada acara pembukaan formal.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78"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05</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Ketentuan Teknis Pengerjaan</a:t>
              </a:r>
            </a:p>
          </p:txBody>
        </p:sp>
      </p:grpSp>
      <p:sp>
        <p:nvSpPr>
          <p:cNvPr name="TextBox 11" id="11"/>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2" id="12"/>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pSp>
        <p:nvGrpSpPr>
          <p:cNvPr name="Group 13" id="13"/>
          <p:cNvGrpSpPr/>
          <p:nvPr/>
        </p:nvGrpSpPr>
        <p:grpSpPr>
          <a:xfrm rot="0">
            <a:off x="904875" y="2093595"/>
            <a:ext cx="8065770" cy="1811274"/>
            <a:chOff x="0" y="0"/>
            <a:chExt cx="10754360" cy="2415032"/>
          </a:xfrm>
        </p:grpSpPr>
        <p:sp>
          <p:nvSpPr>
            <p:cNvPr name="Freeform 14" id="14"/>
            <p:cNvSpPr/>
            <p:nvPr/>
          </p:nvSpPr>
          <p:spPr>
            <a:xfrm flipH="false" flipV="false" rot="0">
              <a:off x="0" y="0"/>
              <a:ext cx="10754361" cy="2415032"/>
            </a:xfrm>
            <a:custGeom>
              <a:avLst/>
              <a:gdLst/>
              <a:ahLst/>
              <a:cxnLst/>
              <a:rect r="r" b="b" t="t" l="l"/>
              <a:pathLst>
                <a:path h="2415032" w="10754361">
                  <a:moveTo>
                    <a:pt x="0" y="197104"/>
                  </a:moveTo>
                  <a:cubicBezTo>
                    <a:pt x="0" y="88265"/>
                    <a:pt x="88265" y="0"/>
                    <a:pt x="197104" y="0"/>
                  </a:cubicBezTo>
                  <a:lnTo>
                    <a:pt x="10557256" y="0"/>
                  </a:lnTo>
                  <a:cubicBezTo>
                    <a:pt x="10666095" y="0"/>
                    <a:pt x="10754361" y="88265"/>
                    <a:pt x="10754361" y="197104"/>
                  </a:cubicBezTo>
                  <a:lnTo>
                    <a:pt x="10754361" y="2217928"/>
                  </a:lnTo>
                  <a:cubicBezTo>
                    <a:pt x="10754361" y="2326767"/>
                    <a:pt x="10666095" y="2415032"/>
                    <a:pt x="10557256" y="2415032"/>
                  </a:cubicBezTo>
                  <a:lnTo>
                    <a:pt x="197104" y="2415032"/>
                  </a:lnTo>
                  <a:cubicBezTo>
                    <a:pt x="88265" y="2415032"/>
                    <a:pt x="0" y="2326767"/>
                    <a:pt x="0" y="2217928"/>
                  </a:cubicBezTo>
                  <a:close/>
                </a:path>
              </a:pathLst>
            </a:custGeom>
            <a:solidFill>
              <a:srgbClr val="FFFFFF">
                <a:alpha val="50000"/>
              </a:srgbClr>
            </a:solidFill>
            <a:ln w="19050" cap="sq">
              <a:solidFill>
                <a:srgbClr val="D6E0F2"/>
              </a:solidFill>
              <a:prstDash val="solid"/>
              <a:miter/>
            </a:ln>
          </p:spPr>
        </p:sp>
      </p:grpSp>
      <p:grpSp>
        <p:nvGrpSpPr>
          <p:cNvPr name="Group 15" id="15"/>
          <p:cNvGrpSpPr/>
          <p:nvPr/>
        </p:nvGrpSpPr>
        <p:grpSpPr>
          <a:xfrm rot="0">
            <a:off x="1230887" y="2584199"/>
            <a:ext cx="793499" cy="793499"/>
            <a:chOff x="0" y="0"/>
            <a:chExt cx="1057999" cy="1057999"/>
          </a:xfrm>
        </p:grpSpPr>
        <p:sp>
          <p:nvSpPr>
            <p:cNvPr name="Freeform 16" id="16"/>
            <p:cNvSpPr/>
            <p:nvPr/>
          </p:nvSpPr>
          <p:spPr>
            <a:xfrm flipH="false" flipV="false" rot="0">
              <a:off x="0" y="0"/>
              <a:ext cx="1057910" cy="1057910"/>
            </a:xfrm>
            <a:custGeom>
              <a:avLst/>
              <a:gdLst/>
              <a:ahLst/>
              <a:cxnLst/>
              <a:rect r="r" b="b" t="t" l="l"/>
              <a:pathLst>
                <a:path h="1057910" w="1057910">
                  <a:moveTo>
                    <a:pt x="0" y="226695"/>
                  </a:moveTo>
                  <a:cubicBezTo>
                    <a:pt x="0" y="101473"/>
                    <a:pt x="101473" y="0"/>
                    <a:pt x="226695" y="0"/>
                  </a:cubicBezTo>
                  <a:lnTo>
                    <a:pt x="831215" y="0"/>
                  </a:lnTo>
                  <a:cubicBezTo>
                    <a:pt x="956437" y="0"/>
                    <a:pt x="1057910" y="101473"/>
                    <a:pt x="1057910" y="226695"/>
                  </a:cubicBezTo>
                  <a:lnTo>
                    <a:pt x="1057910" y="831215"/>
                  </a:lnTo>
                  <a:cubicBezTo>
                    <a:pt x="1057910" y="956437"/>
                    <a:pt x="956437" y="1057910"/>
                    <a:pt x="831215" y="1057910"/>
                  </a:cubicBezTo>
                  <a:lnTo>
                    <a:pt x="226695" y="1057910"/>
                  </a:lnTo>
                  <a:cubicBezTo>
                    <a:pt x="101473" y="1058037"/>
                    <a:pt x="0" y="956437"/>
                    <a:pt x="0" y="831215"/>
                  </a:cubicBezTo>
                  <a:close/>
                </a:path>
              </a:pathLst>
            </a:custGeom>
            <a:solidFill>
              <a:srgbClr val="1448C8"/>
            </a:solidFill>
            <a:ln w="25400" cap="sq">
              <a:solidFill>
                <a:srgbClr val="1448C8"/>
              </a:solidFill>
              <a:prstDash val="solid"/>
              <a:miter/>
            </a:ln>
          </p:spPr>
        </p:sp>
      </p:grpSp>
      <p:grpSp>
        <p:nvGrpSpPr>
          <p:cNvPr name="Group 17" id="17"/>
          <p:cNvGrpSpPr/>
          <p:nvPr/>
        </p:nvGrpSpPr>
        <p:grpSpPr>
          <a:xfrm rot="0">
            <a:off x="1243584" y="2596896"/>
            <a:ext cx="768096" cy="768096"/>
            <a:chOff x="0" y="0"/>
            <a:chExt cx="1024128" cy="1024128"/>
          </a:xfrm>
        </p:grpSpPr>
        <p:sp>
          <p:nvSpPr>
            <p:cNvPr name="Freeform 18" id="18"/>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19" id="19"/>
            <p:cNvSpPr txBox="true"/>
            <p:nvPr/>
          </p:nvSpPr>
          <p:spPr>
            <a:xfrm>
              <a:off x="0" y="-19050"/>
              <a:ext cx="1024128" cy="1043178"/>
            </a:xfrm>
            <a:prstGeom prst="rect">
              <a:avLst/>
            </a:prstGeom>
          </p:spPr>
          <p:txBody>
            <a:bodyPr anchor="ctr" rtlCol="false" tIns="0" lIns="0" bIns="0" rIns="0"/>
            <a:lstStyle/>
            <a:p>
              <a:pPr algn="ctr">
                <a:lnSpc>
                  <a:spcPts val="3359"/>
                </a:lnSpc>
              </a:pPr>
              <a:r>
                <a:rPr lang="en-US" sz="2799" b="true">
                  <a:solidFill>
                    <a:srgbClr val="FFC81E"/>
                  </a:solidFill>
                  <a:latin typeface="Arial Bold"/>
                  <a:ea typeface="Arial Bold"/>
                  <a:cs typeface="Arial Bold"/>
                  <a:sym typeface="Arial Bold"/>
                </a:rPr>
                <a:t>1</a:t>
              </a:r>
            </a:p>
          </p:txBody>
        </p:sp>
      </p:grpSp>
      <p:grpSp>
        <p:nvGrpSpPr>
          <p:cNvPr name="Group 20" id="20"/>
          <p:cNvGrpSpPr/>
          <p:nvPr/>
        </p:nvGrpSpPr>
        <p:grpSpPr>
          <a:xfrm rot="0">
            <a:off x="2286000" y="2194560"/>
            <a:ext cx="6492240" cy="1609344"/>
            <a:chOff x="0" y="0"/>
            <a:chExt cx="8656320" cy="2145792"/>
          </a:xfrm>
        </p:grpSpPr>
        <p:sp>
          <p:nvSpPr>
            <p:cNvPr name="Freeform 21" id="21"/>
            <p:cNvSpPr/>
            <p:nvPr/>
          </p:nvSpPr>
          <p:spPr>
            <a:xfrm flipH="false" flipV="false" rot="0">
              <a:off x="0" y="0"/>
              <a:ext cx="8656320" cy="2145792"/>
            </a:xfrm>
            <a:custGeom>
              <a:avLst/>
              <a:gdLst/>
              <a:ahLst/>
              <a:cxnLst/>
              <a:rect r="r" b="b" t="t" l="l"/>
              <a:pathLst>
                <a:path h="2145792" w="8656320">
                  <a:moveTo>
                    <a:pt x="0" y="0"/>
                  </a:moveTo>
                  <a:lnTo>
                    <a:pt x="8656320" y="0"/>
                  </a:lnTo>
                  <a:lnTo>
                    <a:pt x="8656320" y="2145792"/>
                  </a:lnTo>
                  <a:lnTo>
                    <a:pt x="0" y="2145792"/>
                  </a:lnTo>
                  <a:close/>
                </a:path>
              </a:pathLst>
            </a:custGeom>
            <a:blipFill>
              <a:blip r:embed="rId4">
                <a:alphaModFix amt="0"/>
              </a:blip>
              <a:stretch>
                <a:fillRect l="0" t="-28604" r="0" b="-28604"/>
              </a:stretch>
            </a:blipFill>
          </p:spPr>
        </p:sp>
        <p:sp>
          <p:nvSpPr>
            <p:cNvPr name="TextBox 22" id="22"/>
            <p:cNvSpPr txBox="true"/>
            <p:nvPr/>
          </p:nvSpPr>
          <p:spPr>
            <a:xfrm>
              <a:off x="0" y="-47625"/>
              <a:ext cx="8656320" cy="2193417"/>
            </a:xfrm>
            <a:prstGeom prst="rect">
              <a:avLst/>
            </a:prstGeom>
          </p:spPr>
          <p:txBody>
            <a:bodyPr anchor="ctr" rtlCol="false" tIns="0" lIns="0" bIns="0" rIns="0"/>
            <a:lstStyle/>
            <a:p>
              <a:pPr algn="l">
                <a:lnSpc>
                  <a:spcPts val="2520"/>
                </a:lnSpc>
              </a:pPr>
              <a:r>
                <a:rPr lang="en-US" sz="2100">
                  <a:solidFill>
                    <a:srgbClr val="0B1D3A"/>
                  </a:solidFill>
                  <a:latin typeface="Calibri (MS)"/>
                  <a:ea typeface="Calibri (MS)"/>
                  <a:cs typeface="Calibri (MS)"/>
                  <a:sym typeface="Calibri (MS)"/>
                </a:rPr>
                <a:t>Menyusun dokumen referensi (docs) sebagai acuan AI Agent untuk seluruh task pengembangan website.</a:t>
              </a:r>
            </a:p>
          </p:txBody>
        </p:sp>
      </p:grpSp>
      <p:grpSp>
        <p:nvGrpSpPr>
          <p:cNvPr name="Group 23" id="23"/>
          <p:cNvGrpSpPr/>
          <p:nvPr/>
        </p:nvGrpSpPr>
        <p:grpSpPr>
          <a:xfrm rot="0">
            <a:off x="9317355" y="2093595"/>
            <a:ext cx="8065770" cy="1811274"/>
            <a:chOff x="0" y="0"/>
            <a:chExt cx="10754360" cy="2415032"/>
          </a:xfrm>
        </p:grpSpPr>
        <p:sp>
          <p:nvSpPr>
            <p:cNvPr name="Freeform 24" id="24"/>
            <p:cNvSpPr/>
            <p:nvPr/>
          </p:nvSpPr>
          <p:spPr>
            <a:xfrm flipH="false" flipV="false" rot="0">
              <a:off x="0" y="0"/>
              <a:ext cx="10754361" cy="2415032"/>
            </a:xfrm>
            <a:custGeom>
              <a:avLst/>
              <a:gdLst/>
              <a:ahLst/>
              <a:cxnLst/>
              <a:rect r="r" b="b" t="t" l="l"/>
              <a:pathLst>
                <a:path h="2415032" w="10754361">
                  <a:moveTo>
                    <a:pt x="0" y="197104"/>
                  </a:moveTo>
                  <a:cubicBezTo>
                    <a:pt x="0" y="88265"/>
                    <a:pt x="88265" y="0"/>
                    <a:pt x="197104" y="0"/>
                  </a:cubicBezTo>
                  <a:lnTo>
                    <a:pt x="10557256" y="0"/>
                  </a:lnTo>
                  <a:cubicBezTo>
                    <a:pt x="10666095" y="0"/>
                    <a:pt x="10754361" y="88265"/>
                    <a:pt x="10754361" y="197104"/>
                  </a:cubicBezTo>
                  <a:lnTo>
                    <a:pt x="10754361" y="2217928"/>
                  </a:lnTo>
                  <a:cubicBezTo>
                    <a:pt x="10754361" y="2326767"/>
                    <a:pt x="10666095" y="2415032"/>
                    <a:pt x="10557256" y="2415032"/>
                  </a:cubicBezTo>
                  <a:lnTo>
                    <a:pt x="197104" y="2415032"/>
                  </a:lnTo>
                  <a:cubicBezTo>
                    <a:pt x="88265" y="2415032"/>
                    <a:pt x="0" y="2326767"/>
                    <a:pt x="0" y="2217928"/>
                  </a:cubicBezTo>
                  <a:close/>
                </a:path>
              </a:pathLst>
            </a:custGeom>
            <a:solidFill>
              <a:srgbClr val="FFFFFF">
                <a:alpha val="50000"/>
              </a:srgbClr>
            </a:solidFill>
            <a:ln w="19050" cap="sq">
              <a:solidFill>
                <a:srgbClr val="D6E0F2"/>
              </a:solidFill>
              <a:prstDash val="solid"/>
              <a:miter/>
            </a:ln>
          </p:spPr>
        </p:sp>
      </p:grpSp>
      <p:grpSp>
        <p:nvGrpSpPr>
          <p:cNvPr name="Group 25" id="25"/>
          <p:cNvGrpSpPr/>
          <p:nvPr/>
        </p:nvGrpSpPr>
        <p:grpSpPr>
          <a:xfrm rot="0">
            <a:off x="9643367" y="2584199"/>
            <a:ext cx="793499" cy="793499"/>
            <a:chOff x="0" y="0"/>
            <a:chExt cx="1057999" cy="1057999"/>
          </a:xfrm>
        </p:grpSpPr>
        <p:sp>
          <p:nvSpPr>
            <p:cNvPr name="Freeform 26" id="26"/>
            <p:cNvSpPr/>
            <p:nvPr/>
          </p:nvSpPr>
          <p:spPr>
            <a:xfrm flipH="false" flipV="false" rot="0">
              <a:off x="0" y="0"/>
              <a:ext cx="1057910" cy="1057910"/>
            </a:xfrm>
            <a:custGeom>
              <a:avLst/>
              <a:gdLst/>
              <a:ahLst/>
              <a:cxnLst/>
              <a:rect r="r" b="b" t="t" l="l"/>
              <a:pathLst>
                <a:path h="1057910" w="1057910">
                  <a:moveTo>
                    <a:pt x="0" y="226695"/>
                  </a:moveTo>
                  <a:cubicBezTo>
                    <a:pt x="0" y="101473"/>
                    <a:pt x="101473" y="0"/>
                    <a:pt x="226695" y="0"/>
                  </a:cubicBezTo>
                  <a:lnTo>
                    <a:pt x="831215" y="0"/>
                  </a:lnTo>
                  <a:cubicBezTo>
                    <a:pt x="956437" y="0"/>
                    <a:pt x="1057910" y="101473"/>
                    <a:pt x="1057910" y="226695"/>
                  </a:cubicBezTo>
                  <a:lnTo>
                    <a:pt x="1057910" y="831215"/>
                  </a:lnTo>
                  <a:cubicBezTo>
                    <a:pt x="1057910" y="956437"/>
                    <a:pt x="956437" y="1057910"/>
                    <a:pt x="831215" y="1057910"/>
                  </a:cubicBezTo>
                  <a:lnTo>
                    <a:pt x="226695" y="1057910"/>
                  </a:lnTo>
                  <a:cubicBezTo>
                    <a:pt x="101473" y="1058037"/>
                    <a:pt x="0" y="956437"/>
                    <a:pt x="0" y="831215"/>
                  </a:cubicBezTo>
                  <a:close/>
                </a:path>
              </a:pathLst>
            </a:custGeom>
            <a:solidFill>
              <a:srgbClr val="1448C8"/>
            </a:solidFill>
            <a:ln w="25400" cap="sq">
              <a:solidFill>
                <a:srgbClr val="1448C8"/>
              </a:solidFill>
              <a:prstDash val="solid"/>
              <a:miter/>
            </a:ln>
          </p:spPr>
        </p:sp>
      </p:grpSp>
      <p:grpSp>
        <p:nvGrpSpPr>
          <p:cNvPr name="Group 27" id="27"/>
          <p:cNvGrpSpPr/>
          <p:nvPr/>
        </p:nvGrpSpPr>
        <p:grpSpPr>
          <a:xfrm rot="0">
            <a:off x="9656064" y="2596896"/>
            <a:ext cx="768096" cy="768096"/>
            <a:chOff x="0" y="0"/>
            <a:chExt cx="1024128" cy="1024128"/>
          </a:xfrm>
        </p:grpSpPr>
        <p:sp>
          <p:nvSpPr>
            <p:cNvPr name="Freeform 28" id="28"/>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29" id="29"/>
            <p:cNvSpPr txBox="true"/>
            <p:nvPr/>
          </p:nvSpPr>
          <p:spPr>
            <a:xfrm>
              <a:off x="0" y="-19050"/>
              <a:ext cx="1024128" cy="1043178"/>
            </a:xfrm>
            <a:prstGeom prst="rect">
              <a:avLst/>
            </a:prstGeom>
          </p:spPr>
          <p:txBody>
            <a:bodyPr anchor="ctr" rtlCol="false" tIns="0" lIns="0" bIns="0" rIns="0"/>
            <a:lstStyle/>
            <a:p>
              <a:pPr algn="ctr">
                <a:lnSpc>
                  <a:spcPts val="3359"/>
                </a:lnSpc>
              </a:pPr>
              <a:r>
                <a:rPr lang="en-US" sz="2799" b="true">
                  <a:solidFill>
                    <a:srgbClr val="FFC81E"/>
                  </a:solidFill>
                  <a:latin typeface="Arial Bold"/>
                  <a:ea typeface="Arial Bold"/>
                  <a:cs typeface="Arial Bold"/>
                  <a:sym typeface="Arial Bold"/>
                </a:rPr>
                <a:t>2</a:t>
              </a:r>
            </a:p>
          </p:txBody>
        </p:sp>
      </p:grpSp>
      <p:grpSp>
        <p:nvGrpSpPr>
          <p:cNvPr name="Group 30" id="30"/>
          <p:cNvGrpSpPr/>
          <p:nvPr/>
        </p:nvGrpSpPr>
        <p:grpSpPr>
          <a:xfrm rot="0">
            <a:off x="10698480" y="2194560"/>
            <a:ext cx="6492240" cy="1609344"/>
            <a:chOff x="0" y="0"/>
            <a:chExt cx="8656320" cy="2145792"/>
          </a:xfrm>
        </p:grpSpPr>
        <p:sp>
          <p:nvSpPr>
            <p:cNvPr name="Freeform 31" id="31"/>
            <p:cNvSpPr/>
            <p:nvPr/>
          </p:nvSpPr>
          <p:spPr>
            <a:xfrm flipH="false" flipV="false" rot="0">
              <a:off x="0" y="0"/>
              <a:ext cx="8656320" cy="2145792"/>
            </a:xfrm>
            <a:custGeom>
              <a:avLst/>
              <a:gdLst/>
              <a:ahLst/>
              <a:cxnLst/>
              <a:rect r="r" b="b" t="t" l="l"/>
              <a:pathLst>
                <a:path h="2145792" w="8656320">
                  <a:moveTo>
                    <a:pt x="0" y="0"/>
                  </a:moveTo>
                  <a:lnTo>
                    <a:pt x="8656320" y="0"/>
                  </a:lnTo>
                  <a:lnTo>
                    <a:pt x="8656320" y="2145792"/>
                  </a:lnTo>
                  <a:lnTo>
                    <a:pt x="0" y="2145792"/>
                  </a:lnTo>
                  <a:close/>
                </a:path>
              </a:pathLst>
            </a:custGeom>
            <a:blipFill>
              <a:blip r:embed="rId4">
                <a:alphaModFix amt="0"/>
              </a:blip>
              <a:stretch>
                <a:fillRect l="0" t="-28604" r="0" b="-28604"/>
              </a:stretch>
            </a:blipFill>
          </p:spPr>
        </p:sp>
        <p:sp>
          <p:nvSpPr>
            <p:cNvPr name="TextBox 32" id="32"/>
            <p:cNvSpPr txBox="true"/>
            <p:nvPr/>
          </p:nvSpPr>
          <p:spPr>
            <a:xfrm>
              <a:off x="0" y="-47625"/>
              <a:ext cx="8656320" cy="2193417"/>
            </a:xfrm>
            <a:prstGeom prst="rect">
              <a:avLst/>
            </a:prstGeom>
          </p:spPr>
          <p:txBody>
            <a:bodyPr anchor="ctr" rtlCol="false" tIns="0" lIns="0" bIns="0" rIns="0"/>
            <a:lstStyle/>
            <a:p>
              <a:pPr algn="l">
                <a:lnSpc>
                  <a:spcPts val="2520"/>
                </a:lnSpc>
              </a:pPr>
              <a:r>
                <a:rPr lang="en-US" sz="2100">
                  <a:solidFill>
                    <a:srgbClr val="0B1D3A"/>
                  </a:solidFill>
                  <a:latin typeface="Calibri (MS)"/>
                  <a:ea typeface="Calibri (MS)"/>
                  <a:cs typeface="Calibri (MS)"/>
                  <a:sym typeface="Calibri (MS)"/>
                </a:rPr>
                <a:t>Repository GitHub wajib bersifat public agar dapat diperiksa panitia/dewan juri.</a:t>
              </a:r>
            </a:p>
          </p:txBody>
        </p:sp>
      </p:grpSp>
      <p:grpSp>
        <p:nvGrpSpPr>
          <p:cNvPr name="Group 33" id="33"/>
          <p:cNvGrpSpPr/>
          <p:nvPr/>
        </p:nvGrpSpPr>
        <p:grpSpPr>
          <a:xfrm rot="0">
            <a:off x="904875" y="4105275"/>
            <a:ext cx="8065770" cy="1811274"/>
            <a:chOff x="0" y="0"/>
            <a:chExt cx="10754360" cy="2415032"/>
          </a:xfrm>
        </p:grpSpPr>
        <p:sp>
          <p:nvSpPr>
            <p:cNvPr name="Freeform 34" id="34"/>
            <p:cNvSpPr/>
            <p:nvPr/>
          </p:nvSpPr>
          <p:spPr>
            <a:xfrm flipH="false" flipV="false" rot="0">
              <a:off x="0" y="0"/>
              <a:ext cx="10754361" cy="2415032"/>
            </a:xfrm>
            <a:custGeom>
              <a:avLst/>
              <a:gdLst/>
              <a:ahLst/>
              <a:cxnLst/>
              <a:rect r="r" b="b" t="t" l="l"/>
              <a:pathLst>
                <a:path h="2415032" w="10754361">
                  <a:moveTo>
                    <a:pt x="0" y="197104"/>
                  </a:moveTo>
                  <a:cubicBezTo>
                    <a:pt x="0" y="88265"/>
                    <a:pt x="88265" y="0"/>
                    <a:pt x="197104" y="0"/>
                  </a:cubicBezTo>
                  <a:lnTo>
                    <a:pt x="10557256" y="0"/>
                  </a:lnTo>
                  <a:cubicBezTo>
                    <a:pt x="10666095" y="0"/>
                    <a:pt x="10754361" y="88265"/>
                    <a:pt x="10754361" y="197104"/>
                  </a:cubicBezTo>
                  <a:lnTo>
                    <a:pt x="10754361" y="2217928"/>
                  </a:lnTo>
                  <a:cubicBezTo>
                    <a:pt x="10754361" y="2326767"/>
                    <a:pt x="10666095" y="2415032"/>
                    <a:pt x="10557256" y="2415032"/>
                  </a:cubicBezTo>
                  <a:lnTo>
                    <a:pt x="197104" y="2415032"/>
                  </a:lnTo>
                  <a:cubicBezTo>
                    <a:pt x="88265" y="2415032"/>
                    <a:pt x="0" y="2326767"/>
                    <a:pt x="0" y="2217928"/>
                  </a:cubicBezTo>
                  <a:close/>
                </a:path>
              </a:pathLst>
            </a:custGeom>
            <a:solidFill>
              <a:srgbClr val="FFFFFF">
                <a:alpha val="50000"/>
              </a:srgbClr>
            </a:solidFill>
            <a:ln w="19050" cap="sq">
              <a:solidFill>
                <a:srgbClr val="D6E0F2"/>
              </a:solidFill>
              <a:prstDash val="solid"/>
              <a:miter/>
            </a:ln>
          </p:spPr>
        </p:sp>
      </p:grpSp>
      <p:grpSp>
        <p:nvGrpSpPr>
          <p:cNvPr name="Group 35" id="35"/>
          <p:cNvGrpSpPr/>
          <p:nvPr/>
        </p:nvGrpSpPr>
        <p:grpSpPr>
          <a:xfrm rot="0">
            <a:off x="1230887" y="4595879"/>
            <a:ext cx="793499" cy="793499"/>
            <a:chOff x="0" y="0"/>
            <a:chExt cx="1057999" cy="1057999"/>
          </a:xfrm>
        </p:grpSpPr>
        <p:sp>
          <p:nvSpPr>
            <p:cNvPr name="Freeform 36" id="36"/>
            <p:cNvSpPr/>
            <p:nvPr/>
          </p:nvSpPr>
          <p:spPr>
            <a:xfrm flipH="false" flipV="false" rot="0">
              <a:off x="0" y="0"/>
              <a:ext cx="1057910" cy="1057910"/>
            </a:xfrm>
            <a:custGeom>
              <a:avLst/>
              <a:gdLst/>
              <a:ahLst/>
              <a:cxnLst/>
              <a:rect r="r" b="b" t="t" l="l"/>
              <a:pathLst>
                <a:path h="1057910" w="1057910">
                  <a:moveTo>
                    <a:pt x="0" y="226695"/>
                  </a:moveTo>
                  <a:cubicBezTo>
                    <a:pt x="0" y="101473"/>
                    <a:pt x="101473" y="0"/>
                    <a:pt x="226695" y="0"/>
                  </a:cubicBezTo>
                  <a:lnTo>
                    <a:pt x="831215" y="0"/>
                  </a:lnTo>
                  <a:cubicBezTo>
                    <a:pt x="956437" y="0"/>
                    <a:pt x="1057910" y="101473"/>
                    <a:pt x="1057910" y="226695"/>
                  </a:cubicBezTo>
                  <a:lnTo>
                    <a:pt x="1057910" y="831215"/>
                  </a:lnTo>
                  <a:cubicBezTo>
                    <a:pt x="1057910" y="956437"/>
                    <a:pt x="956437" y="1057910"/>
                    <a:pt x="831215" y="1057910"/>
                  </a:cubicBezTo>
                  <a:lnTo>
                    <a:pt x="226695" y="1057910"/>
                  </a:lnTo>
                  <a:cubicBezTo>
                    <a:pt x="101473" y="1058037"/>
                    <a:pt x="0" y="956437"/>
                    <a:pt x="0" y="831215"/>
                  </a:cubicBezTo>
                  <a:close/>
                </a:path>
              </a:pathLst>
            </a:custGeom>
            <a:solidFill>
              <a:srgbClr val="1448C8"/>
            </a:solidFill>
            <a:ln w="25400" cap="sq">
              <a:solidFill>
                <a:srgbClr val="1448C8"/>
              </a:solidFill>
              <a:prstDash val="solid"/>
              <a:miter/>
            </a:ln>
          </p:spPr>
        </p:sp>
      </p:grpSp>
      <p:grpSp>
        <p:nvGrpSpPr>
          <p:cNvPr name="Group 37" id="37"/>
          <p:cNvGrpSpPr/>
          <p:nvPr/>
        </p:nvGrpSpPr>
        <p:grpSpPr>
          <a:xfrm rot="0">
            <a:off x="1243584" y="4608576"/>
            <a:ext cx="768096" cy="768096"/>
            <a:chOff x="0" y="0"/>
            <a:chExt cx="1024128" cy="1024128"/>
          </a:xfrm>
        </p:grpSpPr>
        <p:sp>
          <p:nvSpPr>
            <p:cNvPr name="Freeform 38" id="38"/>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39" id="39"/>
            <p:cNvSpPr txBox="true"/>
            <p:nvPr/>
          </p:nvSpPr>
          <p:spPr>
            <a:xfrm>
              <a:off x="0" y="-19050"/>
              <a:ext cx="1024128" cy="1043178"/>
            </a:xfrm>
            <a:prstGeom prst="rect">
              <a:avLst/>
            </a:prstGeom>
          </p:spPr>
          <p:txBody>
            <a:bodyPr anchor="ctr" rtlCol="false" tIns="0" lIns="0" bIns="0" rIns="0"/>
            <a:lstStyle/>
            <a:p>
              <a:pPr algn="ctr">
                <a:lnSpc>
                  <a:spcPts val="3359"/>
                </a:lnSpc>
              </a:pPr>
              <a:r>
                <a:rPr lang="en-US" sz="2799" b="true">
                  <a:solidFill>
                    <a:srgbClr val="FFC81E"/>
                  </a:solidFill>
                  <a:latin typeface="Arial Bold"/>
                  <a:ea typeface="Arial Bold"/>
                  <a:cs typeface="Arial Bold"/>
                  <a:sym typeface="Arial Bold"/>
                </a:rPr>
                <a:t>3</a:t>
              </a:r>
            </a:p>
          </p:txBody>
        </p:sp>
      </p:grpSp>
      <p:grpSp>
        <p:nvGrpSpPr>
          <p:cNvPr name="Group 40" id="40"/>
          <p:cNvGrpSpPr/>
          <p:nvPr/>
        </p:nvGrpSpPr>
        <p:grpSpPr>
          <a:xfrm rot="0">
            <a:off x="2286000" y="4206240"/>
            <a:ext cx="6492240" cy="1609344"/>
            <a:chOff x="0" y="0"/>
            <a:chExt cx="8656320" cy="2145792"/>
          </a:xfrm>
        </p:grpSpPr>
        <p:sp>
          <p:nvSpPr>
            <p:cNvPr name="Freeform 41" id="41"/>
            <p:cNvSpPr/>
            <p:nvPr/>
          </p:nvSpPr>
          <p:spPr>
            <a:xfrm flipH="false" flipV="false" rot="0">
              <a:off x="0" y="0"/>
              <a:ext cx="8656320" cy="2145792"/>
            </a:xfrm>
            <a:custGeom>
              <a:avLst/>
              <a:gdLst/>
              <a:ahLst/>
              <a:cxnLst/>
              <a:rect r="r" b="b" t="t" l="l"/>
              <a:pathLst>
                <a:path h="2145792" w="8656320">
                  <a:moveTo>
                    <a:pt x="0" y="0"/>
                  </a:moveTo>
                  <a:lnTo>
                    <a:pt x="8656320" y="0"/>
                  </a:lnTo>
                  <a:lnTo>
                    <a:pt x="8656320" y="2145792"/>
                  </a:lnTo>
                  <a:lnTo>
                    <a:pt x="0" y="2145792"/>
                  </a:lnTo>
                  <a:close/>
                </a:path>
              </a:pathLst>
            </a:custGeom>
            <a:blipFill>
              <a:blip r:embed="rId4">
                <a:alphaModFix amt="0"/>
              </a:blip>
              <a:stretch>
                <a:fillRect l="0" t="-28604" r="0" b="-28604"/>
              </a:stretch>
            </a:blipFill>
          </p:spPr>
        </p:sp>
        <p:sp>
          <p:nvSpPr>
            <p:cNvPr name="TextBox 42" id="42"/>
            <p:cNvSpPr txBox="true"/>
            <p:nvPr/>
          </p:nvSpPr>
          <p:spPr>
            <a:xfrm>
              <a:off x="0" y="-47625"/>
              <a:ext cx="8656320" cy="2193417"/>
            </a:xfrm>
            <a:prstGeom prst="rect">
              <a:avLst/>
            </a:prstGeom>
          </p:spPr>
          <p:txBody>
            <a:bodyPr anchor="ctr" rtlCol="false" tIns="0" lIns="0" bIns="0" rIns="0"/>
            <a:lstStyle/>
            <a:p>
              <a:pPr algn="l">
                <a:lnSpc>
                  <a:spcPts val="2520"/>
                </a:lnSpc>
              </a:pPr>
              <a:r>
                <a:rPr lang="en-US" sz="2100">
                  <a:solidFill>
                    <a:srgbClr val="0B1D3A"/>
                  </a:solidFill>
                  <a:latin typeface="Calibri (MS)"/>
                  <a:ea typeface="Calibri (MS)"/>
                  <a:cs typeface="Calibri (MS)"/>
                  <a:sym typeface="Calibri (MS)"/>
                </a:rPr>
                <a:t>Menyusun jurnal prompt terkurasi (maks 5 prompt: ide/PRD, debugging, audit &amp; optimasi, finishing, dan 1 bebas). Log prompt mentah awal–akhir tetap dilampirkan untuk verifikasi keaslian dan tidak dinilai.</a:t>
              </a:r>
            </a:p>
          </p:txBody>
        </p:sp>
      </p:grpSp>
      <p:grpSp>
        <p:nvGrpSpPr>
          <p:cNvPr name="Group 43" id="43"/>
          <p:cNvGrpSpPr/>
          <p:nvPr/>
        </p:nvGrpSpPr>
        <p:grpSpPr>
          <a:xfrm rot="0">
            <a:off x="9317355" y="4105275"/>
            <a:ext cx="8065770" cy="1811274"/>
            <a:chOff x="0" y="0"/>
            <a:chExt cx="10754360" cy="2415032"/>
          </a:xfrm>
        </p:grpSpPr>
        <p:sp>
          <p:nvSpPr>
            <p:cNvPr name="Freeform 44" id="44"/>
            <p:cNvSpPr/>
            <p:nvPr/>
          </p:nvSpPr>
          <p:spPr>
            <a:xfrm flipH="false" flipV="false" rot="0">
              <a:off x="0" y="0"/>
              <a:ext cx="10754361" cy="2415032"/>
            </a:xfrm>
            <a:custGeom>
              <a:avLst/>
              <a:gdLst/>
              <a:ahLst/>
              <a:cxnLst/>
              <a:rect r="r" b="b" t="t" l="l"/>
              <a:pathLst>
                <a:path h="2415032" w="10754361">
                  <a:moveTo>
                    <a:pt x="0" y="197104"/>
                  </a:moveTo>
                  <a:cubicBezTo>
                    <a:pt x="0" y="88265"/>
                    <a:pt x="88265" y="0"/>
                    <a:pt x="197104" y="0"/>
                  </a:cubicBezTo>
                  <a:lnTo>
                    <a:pt x="10557256" y="0"/>
                  </a:lnTo>
                  <a:cubicBezTo>
                    <a:pt x="10666095" y="0"/>
                    <a:pt x="10754361" y="88265"/>
                    <a:pt x="10754361" y="197104"/>
                  </a:cubicBezTo>
                  <a:lnTo>
                    <a:pt x="10754361" y="2217928"/>
                  </a:lnTo>
                  <a:cubicBezTo>
                    <a:pt x="10754361" y="2326767"/>
                    <a:pt x="10666095" y="2415032"/>
                    <a:pt x="10557256" y="2415032"/>
                  </a:cubicBezTo>
                  <a:lnTo>
                    <a:pt x="197104" y="2415032"/>
                  </a:lnTo>
                  <a:cubicBezTo>
                    <a:pt x="88265" y="2415032"/>
                    <a:pt x="0" y="2326767"/>
                    <a:pt x="0" y="2217928"/>
                  </a:cubicBezTo>
                  <a:close/>
                </a:path>
              </a:pathLst>
            </a:custGeom>
            <a:solidFill>
              <a:srgbClr val="FFFFFF">
                <a:alpha val="50000"/>
              </a:srgbClr>
            </a:solidFill>
            <a:ln w="19050" cap="sq">
              <a:solidFill>
                <a:srgbClr val="D6E0F2"/>
              </a:solidFill>
              <a:prstDash val="solid"/>
              <a:miter/>
            </a:ln>
          </p:spPr>
        </p:sp>
      </p:grpSp>
      <p:grpSp>
        <p:nvGrpSpPr>
          <p:cNvPr name="Group 45" id="45"/>
          <p:cNvGrpSpPr/>
          <p:nvPr/>
        </p:nvGrpSpPr>
        <p:grpSpPr>
          <a:xfrm rot="0">
            <a:off x="9643367" y="4595879"/>
            <a:ext cx="793499" cy="793499"/>
            <a:chOff x="0" y="0"/>
            <a:chExt cx="1057999" cy="1057999"/>
          </a:xfrm>
        </p:grpSpPr>
        <p:sp>
          <p:nvSpPr>
            <p:cNvPr name="Freeform 46" id="46"/>
            <p:cNvSpPr/>
            <p:nvPr/>
          </p:nvSpPr>
          <p:spPr>
            <a:xfrm flipH="false" flipV="false" rot="0">
              <a:off x="0" y="0"/>
              <a:ext cx="1057910" cy="1057910"/>
            </a:xfrm>
            <a:custGeom>
              <a:avLst/>
              <a:gdLst/>
              <a:ahLst/>
              <a:cxnLst/>
              <a:rect r="r" b="b" t="t" l="l"/>
              <a:pathLst>
                <a:path h="1057910" w="1057910">
                  <a:moveTo>
                    <a:pt x="0" y="226695"/>
                  </a:moveTo>
                  <a:cubicBezTo>
                    <a:pt x="0" y="101473"/>
                    <a:pt x="101473" y="0"/>
                    <a:pt x="226695" y="0"/>
                  </a:cubicBezTo>
                  <a:lnTo>
                    <a:pt x="831215" y="0"/>
                  </a:lnTo>
                  <a:cubicBezTo>
                    <a:pt x="956437" y="0"/>
                    <a:pt x="1057910" y="101473"/>
                    <a:pt x="1057910" y="226695"/>
                  </a:cubicBezTo>
                  <a:lnTo>
                    <a:pt x="1057910" y="831215"/>
                  </a:lnTo>
                  <a:cubicBezTo>
                    <a:pt x="1057910" y="956437"/>
                    <a:pt x="956437" y="1057910"/>
                    <a:pt x="831215" y="1057910"/>
                  </a:cubicBezTo>
                  <a:lnTo>
                    <a:pt x="226695" y="1057910"/>
                  </a:lnTo>
                  <a:cubicBezTo>
                    <a:pt x="101473" y="1058037"/>
                    <a:pt x="0" y="956437"/>
                    <a:pt x="0" y="831215"/>
                  </a:cubicBezTo>
                  <a:close/>
                </a:path>
              </a:pathLst>
            </a:custGeom>
            <a:solidFill>
              <a:srgbClr val="1448C8"/>
            </a:solidFill>
            <a:ln w="25400" cap="sq">
              <a:solidFill>
                <a:srgbClr val="1448C8"/>
              </a:solidFill>
              <a:prstDash val="solid"/>
              <a:miter/>
            </a:ln>
          </p:spPr>
        </p:sp>
      </p:grpSp>
      <p:grpSp>
        <p:nvGrpSpPr>
          <p:cNvPr name="Group 47" id="47"/>
          <p:cNvGrpSpPr/>
          <p:nvPr/>
        </p:nvGrpSpPr>
        <p:grpSpPr>
          <a:xfrm rot="0">
            <a:off x="9656064" y="4608576"/>
            <a:ext cx="768096" cy="768096"/>
            <a:chOff x="0" y="0"/>
            <a:chExt cx="1024128" cy="1024128"/>
          </a:xfrm>
        </p:grpSpPr>
        <p:sp>
          <p:nvSpPr>
            <p:cNvPr name="Freeform 48" id="48"/>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49" id="49"/>
            <p:cNvSpPr txBox="true"/>
            <p:nvPr/>
          </p:nvSpPr>
          <p:spPr>
            <a:xfrm>
              <a:off x="0" y="-19050"/>
              <a:ext cx="1024128" cy="1043178"/>
            </a:xfrm>
            <a:prstGeom prst="rect">
              <a:avLst/>
            </a:prstGeom>
          </p:spPr>
          <p:txBody>
            <a:bodyPr anchor="ctr" rtlCol="false" tIns="0" lIns="0" bIns="0" rIns="0"/>
            <a:lstStyle/>
            <a:p>
              <a:pPr algn="ctr">
                <a:lnSpc>
                  <a:spcPts val="3359"/>
                </a:lnSpc>
              </a:pPr>
              <a:r>
                <a:rPr lang="en-US" sz="2799" b="true">
                  <a:solidFill>
                    <a:srgbClr val="FFC81E"/>
                  </a:solidFill>
                  <a:latin typeface="Arial Bold"/>
                  <a:ea typeface="Arial Bold"/>
                  <a:cs typeface="Arial Bold"/>
                  <a:sym typeface="Arial Bold"/>
                </a:rPr>
                <a:t>4</a:t>
              </a:r>
            </a:p>
          </p:txBody>
        </p:sp>
      </p:grpSp>
      <p:grpSp>
        <p:nvGrpSpPr>
          <p:cNvPr name="Group 50" id="50"/>
          <p:cNvGrpSpPr/>
          <p:nvPr/>
        </p:nvGrpSpPr>
        <p:grpSpPr>
          <a:xfrm rot="0">
            <a:off x="10698480" y="4206240"/>
            <a:ext cx="6492240" cy="1609344"/>
            <a:chOff x="0" y="0"/>
            <a:chExt cx="8656320" cy="2145792"/>
          </a:xfrm>
        </p:grpSpPr>
        <p:sp>
          <p:nvSpPr>
            <p:cNvPr name="Freeform 51" id="51"/>
            <p:cNvSpPr/>
            <p:nvPr/>
          </p:nvSpPr>
          <p:spPr>
            <a:xfrm flipH="false" flipV="false" rot="0">
              <a:off x="0" y="0"/>
              <a:ext cx="8656320" cy="2145792"/>
            </a:xfrm>
            <a:custGeom>
              <a:avLst/>
              <a:gdLst/>
              <a:ahLst/>
              <a:cxnLst/>
              <a:rect r="r" b="b" t="t" l="l"/>
              <a:pathLst>
                <a:path h="2145792" w="8656320">
                  <a:moveTo>
                    <a:pt x="0" y="0"/>
                  </a:moveTo>
                  <a:lnTo>
                    <a:pt x="8656320" y="0"/>
                  </a:lnTo>
                  <a:lnTo>
                    <a:pt x="8656320" y="2145792"/>
                  </a:lnTo>
                  <a:lnTo>
                    <a:pt x="0" y="2145792"/>
                  </a:lnTo>
                  <a:close/>
                </a:path>
              </a:pathLst>
            </a:custGeom>
            <a:blipFill>
              <a:blip r:embed="rId4">
                <a:alphaModFix amt="0"/>
              </a:blip>
              <a:stretch>
                <a:fillRect l="0" t="-28604" r="0" b="-28604"/>
              </a:stretch>
            </a:blipFill>
          </p:spPr>
        </p:sp>
        <p:sp>
          <p:nvSpPr>
            <p:cNvPr name="TextBox 52" id="52"/>
            <p:cNvSpPr txBox="true"/>
            <p:nvPr/>
          </p:nvSpPr>
          <p:spPr>
            <a:xfrm>
              <a:off x="0" y="-47625"/>
              <a:ext cx="8656320" cy="2193417"/>
            </a:xfrm>
            <a:prstGeom prst="rect">
              <a:avLst/>
            </a:prstGeom>
          </p:spPr>
          <p:txBody>
            <a:bodyPr anchor="ctr" rtlCol="false" tIns="0" lIns="0" bIns="0" rIns="0"/>
            <a:lstStyle/>
            <a:p>
              <a:pPr algn="l">
                <a:lnSpc>
                  <a:spcPts val="2520"/>
                </a:lnSpc>
              </a:pPr>
              <a:r>
                <a:rPr lang="en-US" sz="2100">
                  <a:solidFill>
                    <a:srgbClr val="0B1D3A"/>
                  </a:solidFill>
                  <a:latin typeface="Calibri (MS)"/>
                  <a:ea typeface="Calibri (MS)"/>
                  <a:cs typeface="Calibri (MS)"/>
                  <a:sym typeface="Calibri (MS)"/>
                </a:rPr>
                <a:t>Stack bebas — peserta boleh memakai framework/library apa pun (React, Vue, Laravel, Tailwind, Bootstrap, dsb).</a:t>
              </a:r>
            </a:p>
          </p:txBody>
        </p:sp>
      </p:grpSp>
      <p:grpSp>
        <p:nvGrpSpPr>
          <p:cNvPr name="Group 53" id="53"/>
          <p:cNvGrpSpPr/>
          <p:nvPr/>
        </p:nvGrpSpPr>
        <p:grpSpPr>
          <a:xfrm rot="0">
            <a:off x="904875" y="6116955"/>
            <a:ext cx="8065770" cy="1811274"/>
            <a:chOff x="0" y="0"/>
            <a:chExt cx="10754360" cy="2415032"/>
          </a:xfrm>
        </p:grpSpPr>
        <p:sp>
          <p:nvSpPr>
            <p:cNvPr name="Freeform 54" id="54"/>
            <p:cNvSpPr/>
            <p:nvPr/>
          </p:nvSpPr>
          <p:spPr>
            <a:xfrm flipH="false" flipV="false" rot="0">
              <a:off x="0" y="0"/>
              <a:ext cx="10754361" cy="2415032"/>
            </a:xfrm>
            <a:custGeom>
              <a:avLst/>
              <a:gdLst/>
              <a:ahLst/>
              <a:cxnLst/>
              <a:rect r="r" b="b" t="t" l="l"/>
              <a:pathLst>
                <a:path h="2415032" w="10754361">
                  <a:moveTo>
                    <a:pt x="0" y="197104"/>
                  </a:moveTo>
                  <a:cubicBezTo>
                    <a:pt x="0" y="88265"/>
                    <a:pt x="88265" y="0"/>
                    <a:pt x="197104" y="0"/>
                  </a:cubicBezTo>
                  <a:lnTo>
                    <a:pt x="10557256" y="0"/>
                  </a:lnTo>
                  <a:cubicBezTo>
                    <a:pt x="10666095" y="0"/>
                    <a:pt x="10754361" y="88265"/>
                    <a:pt x="10754361" y="197104"/>
                  </a:cubicBezTo>
                  <a:lnTo>
                    <a:pt x="10754361" y="2217928"/>
                  </a:lnTo>
                  <a:cubicBezTo>
                    <a:pt x="10754361" y="2326767"/>
                    <a:pt x="10666095" y="2415032"/>
                    <a:pt x="10557256" y="2415032"/>
                  </a:cubicBezTo>
                  <a:lnTo>
                    <a:pt x="197104" y="2415032"/>
                  </a:lnTo>
                  <a:cubicBezTo>
                    <a:pt x="88265" y="2415032"/>
                    <a:pt x="0" y="2326767"/>
                    <a:pt x="0" y="2217928"/>
                  </a:cubicBezTo>
                  <a:close/>
                </a:path>
              </a:pathLst>
            </a:custGeom>
            <a:solidFill>
              <a:srgbClr val="FFFFFF">
                <a:alpha val="50000"/>
              </a:srgbClr>
            </a:solidFill>
            <a:ln w="19050" cap="sq">
              <a:solidFill>
                <a:srgbClr val="D6E0F2"/>
              </a:solidFill>
              <a:prstDash val="solid"/>
              <a:miter/>
            </a:ln>
          </p:spPr>
        </p:sp>
      </p:grpSp>
      <p:grpSp>
        <p:nvGrpSpPr>
          <p:cNvPr name="Group 55" id="55"/>
          <p:cNvGrpSpPr/>
          <p:nvPr/>
        </p:nvGrpSpPr>
        <p:grpSpPr>
          <a:xfrm rot="0">
            <a:off x="1230887" y="6607559"/>
            <a:ext cx="793499" cy="793499"/>
            <a:chOff x="0" y="0"/>
            <a:chExt cx="1057999" cy="1057999"/>
          </a:xfrm>
        </p:grpSpPr>
        <p:sp>
          <p:nvSpPr>
            <p:cNvPr name="Freeform 56" id="56"/>
            <p:cNvSpPr/>
            <p:nvPr/>
          </p:nvSpPr>
          <p:spPr>
            <a:xfrm flipH="false" flipV="false" rot="0">
              <a:off x="0" y="0"/>
              <a:ext cx="1057910" cy="1057910"/>
            </a:xfrm>
            <a:custGeom>
              <a:avLst/>
              <a:gdLst/>
              <a:ahLst/>
              <a:cxnLst/>
              <a:rect r="r" b="b" t="t" l="l"/>
              <a:pathLst>
                <a:path h="1057910" w="1057910">
                  <a:moveTo>
                    <a:pt x="0" y="226695"/>
                  </a:moveTo>
                  <a:cubicBezTo>
                    <a:pt x="0" y="101473"/>
                    <a:pt x="101473" y="0"/>
                    <a:pt x="226695" y="0"/>
                  </a:cubicBezTo>
                  <a:lnTo>
                    <a:pt x="831215" y="0"/>
                  </a:lnTo>
                  <a:cubicBezTo>
                    <a:pt x="956437" y="0"/>
                    <a:pt x="1057910" y="101473"/>
                    <a:pt x="1057910" y="226695"/>
                  </a:cubicBezTo>
                  <a:lnTo>
                    <a:pt x="1057910" y="831215"/>
                  </a:lnTo>
                  <a:cubicBezTo>
                    <a:pt x="1057910" y="956437"/>
                    <a:pt x="956437" y="1057910"/>
                    <a:pt x="831215" y="1057910"/>
                  </a:cubicBezTo>
                  <a:lnTo>
                    <a:pt x="226695" y="1057910"/>
                  </a:lnTo>
                  <a:cubicBezTo>
                    <a:pt x="101473" y="1058037"/>
                    <a:pt x="0" y="956437"/>
                    <a:pt x="0" y="831215"/>
                  </a:cubicBezTo>
                  <a:close/>
                </a:path>
              </a:pathLst>
            </a:custGeom>
            <a:solidFill>
              <a:srgbClr val="1448C8"/>
            </a:solidFill>
            <a:ln w="25400" cap="sq">
              <a:solidFill>
                <a:srgbClr val="1448C8"/>
              </a:solidFill>
              <a:prstDash val="solid"/>
              <a:miter/>
            </a:ln>
          </p:spPr>
        </p:sp>
      </p:grpSp>
      <p:grpSp>
        <p:nvGrpSpPr>
          <p:cNvPr name="Group 57" id="57"/>
          <p:cNvGrpSpPr/>
          <p:nvPr/>
        </p:nvGrpSpPr>
        <p:grpSpPr>
          <a:xfrm rot="0">
            <a:off x="1243584" y="6620256"/>
            <a:ext cx="768096" cy="768096"/>
            <a:chOff x="0" y="0"/>
            <a:chExt cx="1024128" cy="1024128"/>
          </a:xfrm>
        </p:grpSpPr>
        <p:sp>
          <p:nvSpPr>
            <p:cNvPr name="Freeform 58" id="58"/>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59" id="59"/>
            <p:cNvSpPr txBox="true"/>
            <p:nvPr/>
          </p:nvSpPr>
          <p:spPr>
            <a:xfrm>
              <a:off x="0" y="-19050"/>
              <a:ext cx="1024128" cy="1043178"/>
            </a:xfrm>
            <a:prstGeom prst="rect">
              <a:avLst/>
            </a:prstGeom>
          </p:spPr>
          <p:txBody>
            <a:bodyPr anchor="ctr" rtlCol="false" tIns="0" lIns="0" bIns="0" rIns="0"/>
            <a:lstStyle/>
            <a:p>
              <a:pPr algn="ctr">
                <a:lnSpc>
                  <a:spcPts val="3359"/>
                </a:lnSpc>
              </a:pPr>
              <a:r>
                <a:rPr lang="en-US" sz="2799" b="true">
                  <a:solidFill>
                    <a:srgbClr val="FFC81E"/>
                  </a:solidFill>
                  <a:latin typeface="Arial Bold"/>
                  <a:ea typeface="Arial Bold"/>
                  <a:cs typeface="Arial Bold"/>
                  <a:sym typeface="Arial Bold"/>
                </a:rPr>
                <a:t>5</a:t>
              </a:r>
            </a:p>
          </p:txBody>
        </p:sp>
      </p:grpSp>
      <p:grpSp>
        <p:nvGrpSpPr>
          <p:cNvPr name="Group 60" id="60"/>
          <p:cNvGrpSpPr/>
          <p:nvPr/>
        </p:nvGrpSpPr>
        <p:grpSpPr>
          <a:xfrm rot="0">
            <a:off x="2286000" y="6217920"/>
            <a:ext cx="6492240" cy="1609344"/>
            <a:chOff x="0" y="0"/>
            <a:chExt cx="8656320" cy="2145792"/>
          </a:xfrm>
        </p:grpSpPr>
        <p:sp>
          <p:nvSpPr>
            <p:cNvPr name="Freeform 61" id="61"/>
            <p:cNvSpPr/>
            <p:nvPr/>
          </p:nvSpPr>
          <p:spPr>
            <a:xfrm flipH="false" flipV="false" rot="0">
              <a:off x="0" y="0"/>
              <a:ext cx="8656320" cy="2145792"/>
            </a:xfrm>
            <a:custGeom>
              <a:avLst/>
              <a:gdLst/>
              <a:ahLst/>
              <a:cxnLst/>
              <a:rect r="r" b="b" t="t" l="l"/>
              <a:pathLst>
                <a:path h="2145792" w="8656320">
                  <a:moveTo>
                    <a:pt x="0" y="0"/>
                  </a:moveTo>
                  <a:lnTo>
                    <a:pt x="8656320" y="0"/>
                  </a:lnTo>
                  <a:lnTo>
                    <a:pt x="8656320" y="2145792"/>
                  </a:lnTo>
                  <a:lnTo>
                    <a:pt x="0" y="2145792"/>
                  </a:lnTo>
                  <a:close/>
                </a:path>
              </a:pathLst>
            </a:custGeom>
            <a:blipFill>
              <a:blip r:embed="rId4">
                <a:alphaModFix amt="0"/>
              </a:blip>
              <a:stretch>
                <a:fillRect l="0" t="-28604" r="0" b="-28604"/>
              </a:stretch>
            </a:blipFill>
          </p:spPr>
        </p:sp>
        <p:sp>
          <p:nvSpPr>
            <p:cNvPr name="TextBox 62" id="62"/>
            <p:cNvSpPr txBox="true"/>
            <p:nvPr/>
          </p:nvSpPr>
          <p:spPr>
            <a:xfrm>
              <a:off x="0" y="-47625"/>
              <a:ext cx="8656320" cy="2193417"/>
            </a:xfrm>
            <a:prstGeom prst="rect">
              <a:avLst/>
            </a:prstGeom>
          </p:spPr>
          <p:txBody>
            <a:bodyPr anchor="ctr" rtlCol="false" tIns="0" lIns="0" bIns="0" rIns="0"/>
            <a:lstStyle/>
            <a:p>
              <a:pPr algn="l">
                <a:lnSpc>
                  <a:spcPts val="2520"/>
                </a:lnSpc>
              </a:pPr>
              <a:r>
                <a:rPr lang="en-US" sz="2100">
                  <a:solidFill>
                    <a:srgbClr val="0B1D3A"/>
                  </a:solidFill>
                  <a:latin typeface="Calibri (MS)"/>
                  <a:ea typeface="Calibri (MS)"/>
                  <a:cs typeface="Calibri (MS)"/>
                  <a:sym typeface="Calibri (MS)"/>
                </a:rPr>
                <a:t>Website wajib sesuai tema "Innovating Education Through Technology" dengan subtema "WEB EDUCATION FOR KIDS (untuk anak SD)".</a:t>
              </a:r>
            </a:p>
          </p:txBody>
        </p:sp>
      </p:grpSp>
      <p:grpSp>
        <p:nvGrpSpPr>
          <p:cNvPr name="Group 63" id="63"/>
          <p:cNvGrpSpPr/>
          <p:nvPr/>
        </p:nvGrpSpPr>
        <p:grpSpPr>
          <a:xfrm rot="0">
            <a:off x="9317355" y="6116955"/>
            <a:ext cx="8065770" cy="1811274"/>
            <a:chOff x="0" y="0"/>
            <a:chExt cx="10754360" cy="2415032"/>
          </a:xfrm>
        </p:grpSpPr>
        <p:sp>
          <p:nvSpPr>
            <p:cNvPr name="Freeform 64" id="64"/>
            <p:cNvSpPr/>
            <p:nvPr/>
          </p:nvSpPr>
          <p:spPr>
            <a:xfrm flipH="false" flipV="false" rot="0">
              <a:off x="0" y="0"/>
              <a:ext cx="10754361" cy="2415032"/>
            </a:xfrm>
            <a:custGeom>
              <a:avLst/>
              <a:gdLst/>
              <a:ahLst/>
              <a:cxnLst/>
              <a:rect r="r" b="b" t="t" l="l"/>
              <a:pathLst>
                <a:path h="2415032" w="10754361">
                  <a:moveTo>
                    <a:pt x="0" y="197104"/>
                  </a:moveTo>
                  <a:cubicBezTo>
                    <a:pt x="0" y="88265"/>
                    <a:pt x="88265" y="0"/>
                    <a:pt x="197104" y="0"/>
                  </a:cubicBezTo>
                  <a:lnTo>
                    <a:pt x="10557256" y="0"/>
                  </a:lnTo>
                  <a:cubicBezTo>
                    <a:pt x="10666095" y="0"/>
                    <a:pt x="10754361" y="88265"/>
                    <a:pt x="10754361" y="197104"/>
                  </a:cubicBezTo>
                  <a:lnTo>
                    <a:pt x="10754361" y="2217928"/>
                  </a:lnTo>
                  <a:cubicBezTo>
                    <a:pt x="10754361" y="2326767"/>
                    <a:pt x="10666095" y="2415032"/>
                    <a:pt x="10557256" y="2415032"/>
                  </a:cubicBezTo>
                  <a:lnTo>
                    <a:pt x="197104" y="2415032"/>
                  </a:lnTo>
                  <a:cubicBezTo>
                    <a:pt x="88265" y="2415032"/>
                    <a:pt x="0" y="2326767"/>
                    <a:pt x="0" y="2217928"/>
                  </a:cubicBezTo>
                  <a:close/>
                </a:path>
              </a:pathLst>
            </a:custGeom>
            <a:solidFill>
              <a:srgbClr val="FFFFFF">
                <a:alpha val="50000"/>
              </a:srgbClr>
            </a:solidFill>
            <a:ln w="19050" cap="sq">
              <a:solidFill>
                <a:srgbClr val="D6E0F2"/>
              </a:solidFill>
              <a:prstDash val="solid"/>
              <a:miter/>
            </a:ln>
          </p:spPr>
        </p:sp>
      </p:grpSp>
      <p:grpSp>
        <p:nvGrpSpPr>
          <p:cNvPr name="Group 65" id="65"/>
          <p:cNvGrpSpPr/>
          <p:nvPr/>
        </p:nvGrpSpPr>
        <p:grpSpPr>
          <a:xfrm rot="0">
            <a:off x="9643367" y="6607559"/>
            <a:ext cx="793499" cy="793499"/>
            <a:chOff x="0" y="0"/>
            <a:chExt cx="1057999" cy="1057999"/>
          </a:xfrm>
        </p:grpSpPr>
        <p:sp>
          <p:nvSpPr>
            <p:cNvPr name="Freeform 66" id="66"/>
            <p:cNvSpPr/>
            <p:nvPr/>
          </p:nvSpPr>
          <p:spPr>
            <a:xfrm flipH="false" flipV="false" rot="0">
              <a:off x="0" y="0"/>
              <a:ext cx="1057910" cy="1057910"/>
            </a:xfrm>
            <a:custGeom>
              <a:avLst/>
              <a:gdLst/>
              <a:ahLst/>
              <a:cxnLst/>
              <a:rect r="r" b="b" t="t" l="l"/>
              <a:pathLst>
                <a:path h="1057910" w="1057910">
                  <a:moveTo>
                    <a:pt x="0" y="226695"/>
                  </a:moveTo>
                  <a:cubicBezTo>
                    <a:pt x="0" y="101473"/>
                    <a:pt x="101473" y="0"/>
                    <a:pt x="226695" y="0"/>
                  </a:cubicBezTo>
                  <a:lnTo>
                    <a:pt x="831215" y="0"/>
                  </a:lnTo>
                  <a:cubicBezTo>
                    <a:pt x="956437" y="0"/>
                    <a:pt x="1057910" y="101473"/>
                    <a:pt x="1057910" y="226695"/>
                  </a:cubicBezTo>
                  <a:lnTo>
                    <a:pt x="1057910" y="831215"/>
                  </a:lnTo>
                  <a:cubicBezTo>
                    <a:pt x="1057910" y="956437"/>
                    <a:pt x="956437" y="1057910"/>
                    <a:pt x="831215" y="1057910"/>
                  </a:cubicBezTo>
                  <a:lnTo>
                    <a:pt x="226695" y="1057910"/>
                  </a:lnTo>
                  <a:cubicBezTo>
                    <a:pt x="101473" y="1058037"/>
                    <a:pt x="0" y="956437"/>
                    <a:pt x="0" y="831215"/>
                  </a:cubicBezTo>
                  <a:close/>
                </a:path>
              </a:pathLst>
            </a:custGeom>
            <a:solidFill>
              <a:srgbClr val="1448C8"/>
            </a:solidFill>
            <a:ln w="25400" cap="sq">
              <a:solidFill>
                <a:srgbClr val="1448C8"/>
              </a:solidFill>
              <a:prstDash val="solid"/>
              <a:miter/>
            </a:ln>
          </p:spPr>
        </p:sp>
      </p:grpSp>
      <p:grpSp>
        <p:nvGrpSpPr>
          <p:cNvPr name="Group 67" id="67"/>
          <p:cNvGrpSpPr/>
          <p:nvPr/>
        </p:nvGrpSpPr>
        <p:grpSpPr>
          <a:xfrm rot="0">
            <a:off x="9656064" y="6620256"/>
            <a:ext cx="768096" cy="768096"/>
            <a:chOff x="0" y="0"/>
            <a:chExt cx="1024128" cy="1024128"/>
          </a:xfrm>
        </p:grpSpPr>
        <p:sp>
          <p:nvSpPr>
            <p:cNvPr name="Freeform 68" id="68"/>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69" id="69"/>
            <p:cNvSpPr txBox="true"/>
            <p:nvPr/>
          </p:nvSpPr>
          <p:spPr>
            <a:xfrm>
              <a:off x="0" y="-19050"/>
              <a:ext cx="1024128" cy="1043178"/>
            </a:xfrm>
            <a:prstGeom prst="rect">
              <a:avLst/>
            </a:prstGeom>
          </p:spPr>
          <p:txBody>
            <a:bodyPr anchor="ctr" rtlCol="false" tIns="0" lIns="0" bIns="0" rIns="0"/>
            <a:lstStyle/>
            <a:p>
              <a:pPr algn="ctr">
                <a:lnSpc>
                  <a:spcPts val="3359"/>
                </a:lnSpc>
              </a:pPr>
              <a:r>
                <a:rPr lang="en-US" sz="2799" b="true">
                  <a:solidFill>
                    <a:srgbClr val="FFC81E"/>
                  </a:solidFill>
                  <a:latin typeface="Arial Bold"/>
                  <a:ea typeface="Arial Bold"/>
                  <a:cs typeface="Arial Bold"/>
                  <a:sym typeface="Arial Bold"/>
                </a:rPr>
                <a:t>6</a:t>
              </a:r>
            </a:p>
          </p:txBody>
        </p:sp>
      </p:grpSp>
      <p:grpSp>
        <p:nvGrpSpPr>
          <p:cNvPr name="Group 70" id="70"/>
          <p:cNvGrpSpPr/>
          <p:nvPr/>
        </p:nvGrpSpPr>
        <p:grpSpPr>
          <a:xfrm rot="0">
            <a:off x="10698480" y="6217920"/>
            <a:ext cx="6492240" cy="1609344"/>
            <a:chOff x="0" y="0"/>
            <a:chExt cx="8656320" cy="2145792"/>
          </a:xfrm>
        </p:grpSpPr>
        <p:sp>
          <p:nvSpPr>
            <p:cNvPr name="Freeform 71" id="71"/>
            <p:cNvSpPr/>
            <p:nvPr/>
          </p:nvSpPr>
          <p:spPr>
            <a:xfrm flipH="false" flipV="false" rot="0">
              <a:off x="0" y="0"/>
              <a:ext cx="8656320" cy="2145792"/>
            </a:xfrm>
            <a:custGeom>
              <a:avLst/>
              <a:gdLst/>
              <a:ahLst/>
              <a:cxnLst/>
              <a:rect r="r" b="b" t="t" l="l"/>
              <a:pathLst>
                <a:path h="2145792" w="8656320">
                  <a:moveTo>
                    <a:pt x="0" y="0"/>
                  </a:moveTo>
                  <a:lnTo>
                    <a:pt x="8656320" y="0"/>
                  </a:lnTo>
                  <a:lnTo>
                    <a:pt x="8656320" y="2145792"/>
                  </a:lnTo>
                  <a:lnTo>
                    <a:pt x="0" y="2145792"/>
                  </a:lnTo>
                  <a:close/>
                </a:path>
              </a:pathLst>
            </a:custGeom>
            <a:blipFill>
              <a:blip r:embed="rId4">
                <a:alphaModFix amt="0"/>
              </a:blip>
              <a:stretch>
                <a:fillRect l="0" t="-28604" r="0" b="-28604"/>
              </a:stretch>
            </a:blipFill>
          </p:spPr>
        </p:sp>
        <p:sp>
          <p:nvSpPr>
            <p:cNvPr name="TextBox 72" id="72"/>
            <p:cNvSpPr txBox="true"/>
            <p:nvPr/>
          </p:nvSpPr>
          <p:spPr>
            <a:xfrm>
              <a:off x="0" y="-47625"/>
              <a:ext cx="8656320" cy="2193417"/>
            </a:xfrm>
            <a:prstGeom prst="rect">
              <a:avLst/>
            </a:prstGeom>
          </p:spPr>
          <p:txBody>
            <a:bodyPr anchor="ctr" rtlCol="false" tIns="0" lIns="0" bIns="0" rIns="0"/>
            <a:lstStyle/>
            <a:p>
              <a:pPr algn="l">
                <a:lnSpc>
                  <a:spcPts val="2520"/>
                </a:lnSpc>
              </a:pPr>
              <a:r>
                <a:rPr lang="en-US" sz="2100">
                  <a:solidFill>
                    <a:srgbClr val="0B1D3A"/>
                  </a:solidFill>
                  <a:latin typeface="Calibri (MS)"/>
                  <a:ea typeface="Calibri (MS)"/>
                  <a:cs typeface="Calibri (MS)"/>
                  <a:sym typeface="Calibri (MS)"/>
                </a:rPr>
                <a:t>Karya wajib di-deploy ke hosting pilihan peserta (bebas) dan dapat diakses panitia/dewan juri.</a:t>
              </a:r>
            </a:p>
          </p:txBody>
        </p:sp>
      </p:grpSp>
      <p:grpSp>
        <p:nvGrpSpPr>
          <p:cNvPr name="Group 73" id="73"/>
          <p:cNvGrpSpPr/>
          <p:nvPr/>
        </p:nvGrpSpPr>
        <p:grpSpPr>
          <a:xfrm rot="0">
            <a:off x="904875" y="8220075"/>
            <a:ext cx="16478250" cy="933450"/>
            <a:chOff x="0" y="0"/>
            <a:chExt cx="21971000" cy="1244600"/>
          </a:xfrm>
        </p:grpSpPr>
        <p:sp>
          <p:nvSpPr>
            <p:cNvPr name="Freeform 74" id="74"/>
            <p:cNvSpPr/>
            <p:nvPr/>
          </p:nvSpPr>
          <p:spPr>
            <a:xfrm flipH="false" flipV="false" rot="0">
              <a:off x="0" y="0"/>
              <a:ext cx="21971000" cy="1244600"/>
            </a:xfrm>
            <a:custGeom>
              <a:avLst/>
              <a:gdLst/>
              <a:ahLst/>
              <a:cxnLst/>
              <a:rect r="r" b="b" t="t" l="l"/>
              <a:pathLst>
                <a:path h="1244600" w="21971000">
                  <a:moveTo>
                    <a:pt x="0" y="199136"/>
                  </a:moveTo>
                  <a:cubicBezTo>
                    <a:pt x="0" y="89154"/>
                    <a:pt x="89154" y="0"/>
                    <a:pt x="199136" y="0"/>
                  </a:cubicBezTo>
                  <a:lnTo>
                    <a:pt x="21771863" y="0"/>
                  </a:lnTo>
                  <a:cubicBezTo>
                    <a:pt x="21881846" y="0"/>
                    <a:pt x="21971000" y="89154"/>
                    <a:pt x="21971000" y="199136"/>
                  </a:cubicBezTo>
                  <a:lnTo>
                    <a:pt x="21971000" y="1045464"/>
                  </a:lnTo>
                  <a:cubicBezTo>
                    <a:pt x="21971000" y="1155446"/>
                    <a:pt x="21881846" y="1244600"/>
                    <a:pt x="21771863" y="1244600"/>
                  </a:cubicBezTo>
                  <a:lnTo>
                    <a:pt x="199136" y="1244600"/>
                  </a:lnTo>
                  <a:cubicBezTo>
                    <a:pt x="89154" y="1244600"/>
                    <a:pt x="0" y="1155446"/>
                    <a:pt x="0" y="1045464"/>
                  </a:cubicBezTo>
                  <a:close/>
                </a:path>
              </a:pathLst>
            </a:custGeom>
            <a:solidFill>
              <a:srgbClr val="FFF4CC"/>
            </a:solidFill>
            <a:ln w="19050" cap="sq">
              <a:solidFill>
                <a:srgbClr val="FFC81E"/>
              </a:solidFill>
              <a:prstDash val="solid"/>
              <a:miter/>
            </a:ln>
          </p:spPr>
        </p:sp>
      </p:grpSp>
      <p:grpSp>
        <p:nvGrpSpPr>
          <p:cNvPr name="Group 75" id="75"/>
          <p:cNvGrpSpPr/>
          <p:nvPr/>
        </p:nvGrpSpPr>
        <p:grpSpPr>
          <a:xfrm rot="0">
            <a:off x="1280160" y="8229600"/>
            <a:ext cx="15727680" cy="914400"/>
            <a:chOff x="0" y="0"/>
            <a:chExt cx="20970240" cy="1219200"/>
          </a:xfrm>
        </p:grpSpPr>
        <p:sp>
          <p:nvSpPr>
            <p:cNvPr name="Freeform 76" id="76"/>
            <p:cNvSpPr/>
            <p:nvPr/>
          </p:nvSpPr>
          <p:spPr>
            <a:xfrm flipH="false" flipV="false" rot="0">
              <a:off x="0" y="0"/>
              <a:ext cx="20970239" cy="1219200"/>
            </a:xfrm>
            <a:custGeom>
              <a:avLst/>
              <a:gdLst/>
              <a:ahLst/>
              <a:cxnLst/>
              <a:rect r="r" b="b" t="t" l="l"/>
              <a:pathLst>
                <a:path h="1219200" w="20970239">
                  <a:moveTo>
                    <a:pt x="0" y="0"/>
                  </a:moveTo>
                  <a:lnTo>
                    <a:pt x="20970239" y="0"/>
                  </a:lnTo>
                  <a:lnTo>
                    <a:pt x="20970239" y="1219200"/>
                  </a:lnTo>
                  <a:lnTo>
                    <a:pt x="0" y="1219200"/>
                  </a:lnTo>
                  <a:close/>
                </a:path>
              </a:pathLst>
            </a:custGeom>
            <a:blipFill>
              <a:blip r:embed="rId4">
                <a:alphaModFix amt="0"/>
              </a:blip>
              <a:stretch>
                <a:fillRect l="0" t="-285142" r="0" b="-285142"/>
              </a:stretch>
            </a:blipFill>
          </p:spPr>
        </p:sp>
        <p:sp>
          <p:nvSpPr>
            <p:cNvPr name="TextBox 77" id="77"/>
            <p:cNvSpPr txBox="true"/>
            <p:nvPr/>
          </p:nvSpPr>
          <p:spPr>
            <a:xfrm>
              <a:off x="0" y="-47625"/>
              <a:ext cx="20970240" cy="1266825"/>
            </a:xfrm>
            <a:prstGeom prst="rect">
              <a:avLst/>
            </a:prstGeom>
          </p:spPr>
          <p:txBody>
            <a:bodyPr anchor="ctr" rtlCol="false" tIns="0" lIns="0" bIns="0" rIns="0"/>
            <a:lstStyle/>
            <a:p>
              <a:pPr algn="l">
                <a:lnSpc>
                  <a:spcPts val="2520"/>
                </a:lnSpc>
              </a:pPr>
              <a:r>
                <a:rPr lang="en-US" sz="2100" b="true">
                  <a:solidFill>
                    <a:srgbClr val="0B1D3A"/>
                  </a:solidFill>
                  <a:latin typeface="Calibri (MS) Bold"/>
                  <a:ea typeface="Calibri (MS) Bold"/>
                  <a:cs typeface="Calibri (MS) Bold"/>
                  <a:sym typeface="Calibri (MS) Bold"/>
                </a:rPr>
                <a:t>Keenam poin di atas wajib (gerbang kelayakan). Karya yang tidak memenuhi salah satu poin tidak dinilai lebih lanjut; tidak deploy = tidak memenuhi syarat penilaian.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67"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06</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Sistem Penilaian — Gerbang Kelayakan</a:t>
              </a:r>
            </a:p>
          </p:txBody>
        </p:sp>
      </p:grpSp>
      <p:sp>
        <p:nvSpPr>
          <p:cNvPr name="TextBox 11" id="11"/>
          <p:cNvSpPr txBox="true"/>
          <p:nvPr/>
        </p:nvSpPr>
        <p:spPr>
          <a:xfrm rot="0">
            <a:off x="2194560" y="1305687"/>
            <a:ext cx="15179040" cy="504825"/>
          </a:xfrm>
          <a:prstGeom prst="rect">
            <a:avLst/>
          </a:prstGeom>
        </p:spPr>
        <p:txBody>
          <a:bodyPr anchor="t" rtlCol="false" tIns="0" lIns="0" bIns="0" rIns="0">
            <a:spAutoFit/>
          </a:bodyPr>
          <a:lstStyle/>
          <a:p>
            <a:pPr algn="l">
              <a:lnSpc>
                <a:spcPts val="2760"/>
              </a:lnSpc>
            </a:pPr>
            <a:r>
              <a:rPr lang="en-US" sz="2300">
                <a:solidFill>
                  <a:srgbClr val="5B6B85"/>
                </a:solidFill>
                <a:latin typeface="Calibri (MS)"/>
                <a:ea typeface="Calibri (MS)"/>
                <a:cs typeface="Calibri (MS)"/>
                <a:sym typeface="Calibri (MS)"/>
              </a:rPr>
              <a:t>Lulus / tidak lulus — tahap pertama sebelum penilaian berbobot</a:t>
            </a:r>
          </a:p>
        </p:txBody>
      </p:sp>
      <p:sp>
        <p:nvSpPr>
          <p:cNvPr name="TextBox 12" id="12"/>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3" id="13"/>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pSp>
        <p:nvGrpSpPr>
          <p:cNvPr name="Group 14" id="14"/>
          <p:cNvGrpSpPr/>
          <p:nvPr/>
        </p:nvGrpSpPr>
        <p:grpSpPr>
          <a:xfrm rot="0">
            <a:off x="904875" y="2550795"/>
            <a:ext cx="5212842" cy="2396490"/>
            <a:chOff x="0" y="0"/>
            <a:chExt cx="6950456" cy="3195320"/>
          </a:xfrm>
        </p:grpSpPr>
        <p:sp>
          <p:nvSpPr>
            <p:cNvPr name="Freeform 15" id="15"/>
            <p:cNvSpPr/>
            <p:nvPr/>
          </p:nvSpPr>
          <p:spPr>
            <a:xfrm flipH="false" flipV="false" rot="0">
              <a:off x="0" y="0"/>
              <a:ext cx="6950456" cy="3195320"/>
            </a:xfrm>
            <a:custGeom>
              <a:avLst/>
              <a:gdLst/>
              <a:ahLst/>
              <a:cxnLst/>
              <a:rect r="r" b="b" t="t" l="l"/>
              <a:pathLst>
                <a:path h="3195320" w="6950456">
                  <a:moveTo>
                    <a:pt x="0" y="245745"/>
                  </a:moveTo>
                  <a:cubicBezTo>
                    <a:pt x="0" y="109982"/>
                    <a:pt x="109982" y="0"/>
                    <a:pt x="245745" y="0"/>
                  </a:cubicBezTo>
                  <a:lnTo>
                    <a:pt x="6704711" y="0"/>
                  </a:lnTo>
                  <a:cubicBezTo>
                    <a:pt x="6840474" y="0"/>
                    <a:pt x="6950456" y="109982"/>
                    <a:pt x="6950456" y="245745"/>
                  </a:cubicBezTo>
                  <a:lnTo>
                    <a:pt x="6950456" y="2949575"/>
                  </a:lnTo>
                  <a:cubicBezTo>
                    <a:pt x="6950456" y="3085338"/>
                    <a:pt x="6840474" y="3195320"/>
                    <a:pt x="6704711" y="3195320"/>
                  </a:cubicBezTo>
                  <a:lnTo>
                    <a:pt x="245745" y="3195320"/>
                  </a:lnTo>
                  <a:cubicBezTo>
                    <a:pt x="109982" y="3195320"/>
                    <a:pt x="0" y="3085338"/>
                    <a:pt x="0" y="2949575"/>
                  </a:cubicBezTo>
                  <a:close/>
                </a:path>
              </a:pathLst>
            </a:custGeom>
            <a:solidFill>
              <a:srgbClr val="FFFFFF">
                <a:alpha val="50000"/>
              </a:srgbClr>
            </a:solidFill>
            <a:ln w="19050" cap="sq">
              <a:solidFill>
                <a:srgbClr val="D6E0F2"/>
              </a:solidFill>
              <a:prstDash val="solid"/>
              <a:miter/>
            </a:ln>
          </p:spPr>
        </p:sp>
      </p:grpSp>
      <p:grpSp>
        <p:nvGrpSpPr>
          <p:cNvPr name="Group 16" id="16"/>
          <p:cNvGrpSpPr/>
          <p:nvPr/>
        </p:nvGrpSpPr>
        <p:grpSpPr>
          <a:xfrm rot="0">
            <a:off x="1267463" y="2913383"/>
            <a:ext cx="756923" cy="756923"/>
            <a:chOff x="0" y="0"/>
            <a:chExt cx="1009231" cy="1009231"/>
          </a:xfrm>
        </p:grpSpPr>
        <p:sp>
          <p:nvSpPr>
            <p:cNvPr name="Freeform 17" id="17"/>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FFC81E"/>
            </a:solidFill>
            <a:ln w="25400" cap="sq">
              <a:solidFill>
                <a:srgbClr val="FFC81E"/>
              </a:solidFill>
              <a:prstDash val="solid"/>
              <a:miter/>
            </a:ln>
          </p:spPr>
        </p:sp>
      </p:grpSp>
      <p:grpSp>
        <p:nvGrpSpPr>
          <p:cNvPr name="Group 18" id="18"/>
          <p:cNvGrpSpPr/>
          <p:nvPr/>
        </p:nvGrpSpPr>
        <p:grpSpPr>
          <a:xfrm rot="0">
            <a:off x="1280160" y="2926080"/>
            <a:ext cx="731520" cy="731520"/>
            <a:chOff x="0" y="0"/>
            <a:chExt cx="975360" cy="975360"/>
          </a:xfrm>
        </p:grpSpPr>
        <p:sp>
          <p:nvSpPr>
            <p:cNvPr name="Freeform 19" id="19"/>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4">
                <a:alphaModFix amt="0"/>
              </a:blip>
              <a:stretch>
                <a:fillRect l="-78303" t="0" r="-78303" b="0"/>
              </a:stretch>
            </a:blipFill>
          </p:spPr>
        </p:sp>
        <p:sp>
          <p:nvSpPr>
            <p:cNvPr name="TextBox 20" id="20"/>
            <p:cNvSpPr txBox="true"/>
            <p:nvPr/>
          </p:nvSpPr>
          <p:spPr>
            <a:xfrm>
              <a:off x="0" y="-19050"/>
              <a:ext cx="975360" cy="994410"/>
            </a:xfrm>
            <a:prstGeom prst="rect">
              <a:avLst/>
            </a:prstGeom>
          </p:spPr>
          <p:txBody>
            <a:bodyPr anchor="ctr" rtlCol="false" tIns="0" lIns="0" bIns="0" rIns="0"/>
            <a:lstStyle/>
            <a:p>
              <a:pPr algn="ctr">
                <a:lnSpc>
                  <a:spcPts val="3600"/>
                </a:lnSpc>
              </a:pPr>
              <a:r>
                <a:rPr lang="en-US" sz="3000" b="true">
                  <a:solidFill>
                    <a:srgbClr val="0A1F44"/>
                  </a:solidFill>
                  <a:latin typeface="Arial Bold"/>
                  <a:ea typeface="Arial Bold"/>
                  <a:cs typeface="Arial Bold"/>
                  <a:sym typeface="Arial Bold"/>
                </a:rPr>
                <a:t>✓</a:t>
              </a:r>
            </a:p>
          </p:txBody>
        </p:sp>
      </p:grpSp>
      <p:sp>
        <p:nvSpPr>
          <p:cNvPr name="TextBox 21" id="21"/>
          <p:cNvSpPr txBox="true"/>
          <p:nvPr/>
        </p:nvSpPr>
        <p:spPr>
          <a:xfrm rot="0">
            <a:off x="1280160" y="3792855"/>
            <a:ext cx="4480560" cy="1053465"/>
          </a:xfrm>
          <a:prstGeom prst="rect">
            <a:avLst/>
          </a:prstGeom>
        </p:spPr>
        <p:txBody>
          <a:bodyPr anchor="t" rtlCol="false" tIns="0" lIns="0" bIns="0" rIns="0">
            <a:spAutoFit/>
          </a:bodyPr>
          <a:lstStyle/>
          <a:p>
            <a:pPr algn="l">
              <a:lnSpc>
                <a:spcPts val="2639"/>
              </a:lnSpc>
            </a:pPr>
            <a:r>
              <a:rPr lang="en-US" sz="2199" b="true">
                <a:solidFill>
                  <a:srgbClr val="0B1D3A"/>
                </a:solidFill>
                <a:latin typeface="Calibri (MS) Bold"/>
                <a:ea typeface="Calibri (MS) Bold"/>
                <a:cs typeface="Calibri (MS) Bold"/>
                <a:sym typeface="Calibri (MS) Bold"/>
              </a:rPr>
              <a:t>Docs acuan AI Agent untuk seluruh task</a:t>
            </a:r>
          </a:p>
        </p:txBody>
      </p:sp>
      <p:grpSp>
        <p:nvGrpSpPr>
          <p:cNvPr name="Group 22" id="22"/>
          <p:cNvGrpSpPr/>
          <p:nvPr/>
        </p:nvGrpSpPr>
        <p:grpSpPr>
          <a:xfrm rot="0">
            <a:off x="6537579" y="2550795"/>
            <a:ext cx="5212842" cy="2396490"/>
            <a:chOff x="0" y="0"/>
            <a:chExt cx="6950456" cy="3195320"/>
          </a:xfrm>
        </p:grpSpPr>
        <p:sp>
          <p:nvSpPr>
            <p:cNvPr name="Freeform 23" id="23"/>
            <p:cNvSpPr/>
            <p:nvPr/>
          </p:nvSpPr>
          <p:spPr>
            <a:xfrm flipH="false" flipV="false" rot="0">
              <a:off x="0" y="0"/>
              <a:ext cx="6950456" cy="3195320"/>
            </a:xfrm>
            <a:custGeom>
              <a:avLst/>
              <a:gdLst/>
              <a:ahLst/>
              <a:cxnLst/>
              <a:rect r="r" b="b" t="t" l="l"/>
              <a:pathLst>
                <a:path h="3195320" w="6950456">
                  <a:moveTo>
                    <a:pt x="0" y="245745"/>
                  </a:moveTo>
                  <a:cubicBezTo>
                    <a:pt x="0" y="109982"/>
                    <a:pt x="109982" y="0"/>
                    <a:pt x="245745" y="0"/>
                  </a:cubicBezTo>
                  <a:lnTo>
                    <a:pt x="6704711" y="0"/>
                  </a:lnTo>
                  <a:cubicBezTo>
                    <a:pt x="6840474" y="0"/>
                    <a:pt x="6950456" y="109982"/>
                    <a:pt x="6950456" y="245745"/>
                  </a:cubicBezTo>
                  <a:lnTo>
                    <a:pt x="6950456" y="2949575"/>
                  </a:lnTo>
                  <a:cubicBezTo>
                    <a:pt x="6950456" y="3085338"/>
                    <a:pt x="6840474" y="3195320"/>
                    <a:pt x="6704711" y="3195320"/>
                  </a:cubicBezTo>
                  <a:lnTo>
                    <a:pt x="245745" y="3195320"/>
                  </a:lnTo>
                  <a:cubicBezTo>
                    <a:pt x="109982" y="3195320"/>
                    <a:pt x="0" y="3085338"/>
                    <a:pt x="0" y="2949575"/>
                  </a:cubicBezTo>
                  <a:close/>
                </a:path>
              </a:pathLst>
            </a:custGeom>
            <a:solidFill>
              <a:srgbClr val="FFFFFF">
                <a:alpha val="50000"/>
              </a:srgbClr>
            </a:solidFill>
            <a:ln w="19050" cap="sq">
              <a:solidFill>
                <a:srgbClr val="D6E0F2"/>
              </a:solidFill>
              <a:prstDash val="solid"/>
              <a:miter/>
            </a:ln>
          </p:spPr>
        </p:sp>
      </p:grpSp>
      <p:grpSp>
        <p:nvGrpSpPr>
          <p:cNvPr name="Group 24" id="24"/>
          <p:cNvGrpSpPr/>
          <p:nvPr/>
        </p:nvGrpSpPr>
        <p:grpSpPr>
          <a:xfrm rot="0">
            <a:off x="6900167" y="2913383"/>
            <a:ext cx="756923" cy="756923"/>
            <a:chOff x="0" y="0"/>
            <a:chExt cx="1009231" cy="1009231"/>
          </a:xfrm>
        </p:grpSpPr>
        <p:sp>
          <p:nvSpPr>
            <p:cNvPr name="Freeform 25" id="25"/>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FFC81E"/>
            </a:solidFill>
            <a:ln w="25400" cap="sq">
              <a:solidFill>
                <a:srgbClr val="FFC81E"/>
              </a:solidFill>
              <a:prstDash val="solid"/>
              <a:miter/>
            </a:ln>
          </p:spPr>
        </p:sp>
      </p:grpSp>
      <p:grpSp>
        <p:nvGrpSpPr>
          <p:cNvPr name="Group 26" id="26"/>
          <p:cNvGrpSpPr/>
          <p:nvPr/>
        </p:nvGrpSpPr>
        <p:grpSpPr>
          <a:xfrm rot="0">
            <a:off x="6912864" y="2926080"/>
            <a:ext cx="731520" cy="731520"/>
            <a:chOff x="0" y="0"/>
            <a:chExt cx="975360" cy="975360"/>
          </a:xfrm>
        </p:grpSpPr>
        <p:sp>
          <p:nvSpPr>
            <p:cNvPr name="Freeform 27" id="27"/>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4">
                <a:alphaModFix amt="0"/>
              </a:blip>
              <a:stretch>
                <a:fillRect l="-78303" t="0" r="-78303" b="0"/>
              </a:stretch>
            </a:blipFill>
          </p:spPr>
        </p:sp>
        <p:sp>
          <p:nvSpPr>
            <p:cNvPr name="TextBox 28" id="28"/>
            <p:cNvSpPr txBox="true"/>
            <p:nvPr/>
          </p:nvSpPr>
          <p:spPr>
            <a:xfrm>
              <a:off x="0" y="-19050"/>
              <a:ext cx="975360" cy="994410"/>
            </a:xfrm>
            <a:prstGeom prst="rect">
              <a:avLst/>
            </a:prstGeom>
          </p:spPr>
          <p:txBody>
            <a:bodyPr anchor="ctr" rtlCol="false" tIns="0" lIns="0" bIns="0" rIns="0"/>
            <a:lstStyle/>
            <a:p>
              <a:pPr algn="ctr">
                <a:lnSpc>
                  <a:spcPts val="3600"/>
                </a:lnSpc>
              </a:pPr>
              <a:r>
                <a:rPr lang="en-US" sz="3000" b="true">
                  <a:solidFill>
                    <a:srgbClr val="0A1F44"/>
                  </a:solidFill>
                  <a:latin typeface="Arial Bold"/>
                  <a:ea typeface="Arial Bold"/>
                  <a:cs typeface="Arial Bold"/>
                  <a:sym typeface="Arial Bold"/>
                </a:rPr>
                <a:t>✓</a:t>
              </a:r>
            </a:p>
          </p:txBody>
        </p:sp>
      </p:grpSp>
      <p:sp>
        <p:nvSpPr>
          <p:cNvPr name="TextBox 29" id="29"/>
          <p:cNvSpPr txBox="true"/>
          <p:nvPr/>
        </p:nvSpPr>
        <p:spPr>
          <a:xfrm rot="0">
            <a:off x="6912864" y="3792855"/>
            <a:ext cx="4480560" cy="1053465"/>
          </a:xfrm>
          <a:prstGeom prst="rect">
            <a:avLst/>
          </a:prstGeom>
        </p:spPr>
        <p:txBody>
          <a:bodyPr anchor="t" rtlCol="false" tIns="0" lIns="0" bIns="0" rIns="0">
            <a:spAutoFit/>
          </a:bodyPr>
          <a:lstStyle/>
          <a:p>
            <a:pPr algn="l">
              <a:lnSpc>
                <a:spcPts val="2639"/>
              </a:lnSpc>
            </a:pPr>
            <a:r>
              <a:rPr lang="en-US" sz="2199" b="true">
                <a:solidFill>
                  <a:srgbClr val="0B1D3A"/>
                </a:solidFill>
                <a:latin typeface="Calibri (MS) Bold"/>
                <a:ea typeface="Calibri (MS) Bold"/>
                <a:cs typeface="Calibri (MS) Bold"/>
                <a:sym typeface="Calibri (MS) Bold"/>
              </a:rPr>
              <a:t>Repository GitHub bersifat public</a:t>
            </a:r>
          </a:p>
        </p:txBody>
      </p:sp>
      <p:grpSp>
        <p:nvGrpSpPr>
          <p:cNvPr name="Group 30" id="30"/>
          <p:cNvGrpSpPr/>
          <p:nvPr/>
        </p:nvGrpSpPr>
        <p:grpSpPr>
          <a:xfrm rot="0">
            <a:off x="12170283" y="2550795"/>
            <a:ext cx="5212842" cy="2396490"/>
            <a:chOff x="0" y="0"/>
            <a:chExt cx="6950456" cy="3195320"/>
          </a:xfrm>
        </p:grpSpPr>
        <p:sp>
          <p:nvSpPr>
            <p:cNvPr name="Freeform 31" id="31"/>
            <p:cNvSpPr/>
            <p:nvPr/>
          </p:nvSpPr>
          <p:spPr>
            <a:xfrm flipH="false" flipV="false" rot="0">
              <a:off x="0" y="0"/>
              <a:ext cx="6950456" cy="3195320"/>
            </a:xfrm>
            <a:custGeom>
              <a:avLst/>
              <a:gdLst/>
              <a:ahLst/>
              <a:cxnLst/>
              <a:rect r="r" b="b" t="t" l="l"/>
              <a:pathLst>
                <a:path h="3195320" w="6950456">
                  <a:moveTo>
                    <a:pt x="0" y="245745"/>
                  </a:moveTo>
                  <a:cubicBezTo>
                    <a:pt x="0" y="109982"/>
                    <a:pt x="109982" y="0"/>
                    <a:pt x="245745" y="0"/>
                  </a:cubicBezTo>
                  <a:lnTo>
                    <a:pt x="6704711" y="0"/>
                  </a:lnTo>
                  <a:cubicBezTo>
                    <a:pt x="6840474" y="0"/>
                    <a:pt x="6950456" y="109982"/>
                    <a:pt x="6950456" y="245745"/>
                  </a:cubicBezTo>
                  <a:lnTo>
                    <a:pt x="6950456" y="2949575"/>
                  </a:lnTo>
                  <a:cubicBezTo>
                    <a:pt x="6950456" y="3085338"/>
                    <a:pt x="6840474" y="3195320"/>
                    <a:pt x="6704711" y="3195320"/>
                  </a:cubicBezTo>
                  <a:lnTo>
                    <a:pt x="245745" y="3195320"/>
                  </a:lnTo>
                  <a:cubicBezTo>
                    <a:pt x="109982" y="3195320"/>
                    <a:pt x="0" y="3085338"/>
                    <a:pt x="0" y="2949575"/>
                  </a:cubicBezTo>
                  <a:close/>
                </a:path>
              </a:pathLst>
            </a:custGeom>
            <a:solidFill>
              <a:srgbClr val="FFFFFF">
                <a:alpha val="50000"/>
              </a:srgbClr>
            </a:solidFill>
            <a:ln w="19050" cap="sq">
              <a:solidFill>
                <a:srgbClr val="D6E0F2"/>
              </a:solidFill>
              <a:prstDash val="solid"/>
              <a:miter/>
            </a:ln>
          </p:spPr>
        </p:sp>
      </p:grpSp>
      <p:grpSp>
        <p:nvGrpSpPr>
          <p:cNvPr name="Group 32" id="32"/>
          <p:cNvGrpSpPr/>
          <p:nvPr/>
        </p:nvGrpSpPr>
        <p:grpSpPr>
          <a:xfrm rot="0">
            <a:off x="12532871" y="2913383"/>
            <a:ext cx="756923" cy="756923"/>
            <a:chOff x="0" y="0"/>
            <a:chExt cx="1009231" cy="1009231"/>
          </a:xfrm>
        </p:grpSpPr>
        <p:sp>
          <p:nvSpPr>
            <p:cNvPr name="Freeform 33" id="33"/>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FFC81E"/>
            </a:solidFill>
            <a:ln w="25400" cap="sq">
              <a:solidFill>
                <a:srgbClr val="FFC81E"/>
              </a:solidFill>
              <a:prstDash val="solid"/>
              <a:miter/>
            </a:ln>
          </p:spPr>
        </p:sp>
      </p:grpSp>
      <p:grpSp>
        <p:nvGrpSpPr>
          <p:cNvPr name="Group 34" id="34"/>
          <p:cNvGrpSpPr/>
          <p:nvPr/>
        </p:nvGrpSpPr>
        <p:grpSpPr>
          <a:xfrm rot="0">
            <a:off x="12545568" y="2926080"/>
            <a:ext cx="731520" cy="731520"/>
            <a:chOff x="0" y="0"/>
            <a:chExt cx="975360" cy="975360"/>
          </a:xfrm>
        </p:grpSpPr>
        <p:sp>
          <p:nvSpPr>
            <p:cNvPr name="Freeform 35" id="35"/>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4">
                <a:alphaModFix amt="0"/>
              </a:blip>
              <a:stretch>
                <a:fillRect l="-78303" t="0" r="-78303" b="0"/>
              </a:stretch>
            </a:blipFill>
          </p:spPr>
        </p:sp>
        <p:sp>
          <p:nvSpPr>
            <p:cNvPr name="TextBox 36" id="36"/>
            <p:cNvSpPr txBox="true"/>
            <p:nvPr/>
          </p:nvSpPr>
          <p:spPr>
            <a:xfrm>
              <a:off x="0" y="-19050"/>
              <a:ext cx="975360" cy="994410"/>
            </a:xfrm>
            <a:prstGeom prst="rect">
              <a:avLst/>
            </a:prstGeom>
          </p:spPr>
          <p:txBody>
            <a:bodyPr anchor="ctr" rtlCol="false" tIns="0" lIns="0" bIns="0" rIns="0"/>
            <a:lstStyle/>
            <a:p>
              <a:pPr algn="ctr">
                <a:lnSpc>
                  <a:spcPts val="3600"/>
                </a:lnSpc>
              </a:pPr>
              <a:r>
                <a:rPr lang="en-US" sz="3000" b="true">
                  <a:solidFill>
                    <a:srgbClr val="0A1F44"/>
                  </a:solidFill>
                  <a:latin typeface="Arial Bold"/>
                  <a:ea typeface="Arial Bold"/>
                  <a:cs typeface="Arial Bold"/>
                  <a:sym typeface="Arial Bold"/>
                </a:rPr>
                <a:t>✓</a:t>
              </a:r>
            </a:p>
          </p:txBody>
        </p:sp>
      </p:grpSp>
      <p:sp>
        <p:nvSpPr>
          <p:cNvPr name="TextBox 37" id="37"/>
          <p:cNvSpPr txBox="true"/>
          <p:nvPr/>
        </p:nvSpPr>
        <p:spPr>
          <a:xfrm rot="0">
            <a:off x="12545568" y="3792855"/>
            <a:ext cx="4480560" cy="1053465"/>
          </a:xfrm>
          <a:prstGeom prst="rect">
            <a:avLst/>
          </a:prstGeom>
        </p:spPr>
        <p:txBody>
          <a:bodyPr anchor="t" rtlCol="false" tIns="0" lIns="0" bIns="0" rIns="0">
            <a:spAutoFit/>
          </a:bodyPr>
          <a:lstStyle/>
          <a:p>
            <a:pPr algn="l">
              <a:lnSpc>
                <a:spcPts val="2639"/>
              </a:lnSpc>
            </a:pPr>
            <a:r>
              <a:rPr lang="en-US" sz="2199" b="true">
                <a:solidFill>
                  <a:srgbClr val="0B1D3A"/>
                </a:solidFill>
                <a:latin typeface="Calibri (MS) Bold"/>
                <a:ea typeface="Calibri (MS) Bold"/>
                <a:cs typeface="Calibri (MS) Bold"/>
                <a:sym typeface="Calibri (MS) Bold"/>
              </a:rPr>
              <a:t>Jurnal prompt terkurasi + log mentah awal–akhir</a:t>
            </a:r>
          </a:p>
        </p:txBody>
      </p:sp>
      <p:grpSp>
        <p:nvGrpSpPr>
          <p:cNvPr name="Group 38" id="38"/>
          <p:cNvGrpSpPr/>
          <p:nvPr/>
        </p:nvGrpSpPr>
        <p:grpSpPr>
          <a:xfrm rot="0">
            <a:off x="904875" y="5293995"/>
            <a:ext cx="5212842" cy="2396490"/>
            <a:chOff x="0" y="0"/>
            <a:chExt cx="6950456" cy="3195320"/>
          </a:xfrm>
        </p:grpSpPr>
        <p:sp>
          <p:nvSpPr>
            <p:cNvPr name="Freeform 39" id="39"/>
            <p:cNvSpPr/>
            <p:nvPr/>
          </p:nvSpPr>
          <p:spPr>
            <a:xfrm flipH="false" flipV="false" rot="0">
              <a:off x="0" y="0"/>
              <a:ext cx="6950456" cy="3195320"/>
            </a:xfrm>
            <a:custGeom>
              <a:avLst/>
              <a:gdLst/>
              <a:ahLst/>
              <a:cxnLst/>
              <a:rect r="r" b="b" t="t" l="l"/>
              <a:pathLst>
                <a:path h="3195320" w="6950456">
                  <a:moveTo>
                    <a:pt x="0" y="245745"/>
                  </a:moveTo>
                  <a:cubicBezTo>
                    <a:pt x="0" y="109982"/>
                    <a:pt x="109982" y="0"/>
                    <a:pt x="245745" y="0"/>
                  </a:cubicBezTo>
                  <a:lnTo>
                    <a:pt x="6704711" y="0"/>
                  </a:lnTo>
                  <a:cubicBezTo>
                    <a:pt x="6840474" y="0"/>
                    <a:pt x="6950456" y="109982"/>
                    <a:pt x="6950456" y="245745"/>
                  </a:cubicBezTo>
                  <a:lnTo>
                    <a:pt x="6950456" y="2949575"/>
                  </a:lnTo>
                  <a:cubicBezTo>
                    <a:pt x="6950456" y="3085338"/>
                    <a:pt x="6840474" y="3195320"/>
                    <a:pt x="6704711" y="3195320"/>
                  </a:cubicBezTo>
                  <a:lnTo>
                    <a:pt x="245745" y="3195320"/>
                  </a:lnTo>
                  <a:cubicBezTo>
                    <a:pt x="109982" y="3195320"/>
                    <a:pt x="0" y="3085338"/>
                    <a:pt x="0" y="2949575"/>
                  </a:cubicBezTo>
                  <a:close/>
                </a:path>
              </a:pathLst>
            </a:custGeom>
            <a:solidFill>
              <a:srgbClr val="FFFFFF">
                <a:alpha val="50000"/>
              </a:srgbClr>
            </a:solidFill>
            <a:ln w="19050" cap="sq">
              <a:solidFill>
                <a:srgbClr val="D6E0F2"/>
              </a:solidFill>
              <a:prstDash val="solid"/>
              <a:miter/>
            </a:ln>
          </p:spPr>
        </p:sp>
      </p:grpSp>
      <p:grpSp>
        <p:nvGrpSpPr>
          <p:cNvPr name="Group 40" id="40"/>
          <p:cNvGrpSpPr/>
          <p:nvPr/>
        </p:nvGrpSpPr>
        <p:grpSpPr>
          <a:xfrm rot="0">
            <a:off x="1267463" y="5656583"/>
            <a:ext cx="756923" cy="756923"/>
            <a:chOff x="0" y="0"/>
            <a:chExt cx="1009231" cy="1009231"/>
          </a:xfrm>
        </p:grpSpPr>
        <p:sp>
          <p:nvSpPr>
            <p:cNvPr name="Freeform 41" id="41"/>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FFC81E"/>
            </a:solidFill>
            <a:ln w="25400" cap="sq">
              <a:solidFill>
                <a:srgbClr val="FFC81E"/>
              </a:solidFill>
              <a:prstDash val="solid"/>
              <a:miter/>
            </a:ln>
          </p:spPr>
        </p:sp>
      </p:grpSp>
      <p:grpSp>
        <p:nvGrpSpPr>
          <p:cNvPr name="Group 42" id="42"/>
          <p:cNvGrpSpPr/>
          <p:nvPr/>
        </p:nvGrpSpPr>
        <p:grpSpPr>
          <a:xfrm rot="0">
            <a:off x="1280160" y="5669280"/>
            <a:ext cx="731520" cy="731520"/>
            <a:chOff x="0" y="0"/>
            <a:chExt cx="975360" cy="975360"/>
          </a:xfrm>
        </p:grpSpPr>
        <p:sp>
          <p:nvSpPr>
            <p:cNvPr name="Freeform 43" id="43"/>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4">
                <a:alphaModFix amt="0"/>
              </a:blip>
              <a:stretch>
                <a:fillRect l="-78303" t="0" r="-78303" b="0"/>
              </a:stretch>
            </a:blipFill>
          </p:spPr>
        </p:sp>
        <p:sp>
          <p:nvSpPr>
            <p:cNvPr name="TextBox 44" id="44"/>
            <p:cNvSpPr txBox="true"/>
            <p:nvPr/>
          </p:nvSpPr>
          <p:spPr>
            <a:xfrm>
              <a:off x="0" y="-19050"/>
              <a:ext cx="975360" cy="994410"/>
            </a:xfrm>
            <a:prstGeom prst="rect">
              <a:avLst/>
            </a:prstGeom>
          </p:spPr>
          <p:txBody>
            <a:bodyPr anchor="ctr" rtlCol="false" tIns="0" lIns="0" bIns="0" rIns="0"/>
            <a:lstStyle/>
            <a:p>
              <a:pPr algn="ctr">
                <a:lnSpc>
                  <a:spcPts val="3600"/>
                </a:lnSpc>
              </a:pPr>
              <a:r>
                <a:rPr lang="en-US" sz="3000" b="true">
                  <a:solidFill>
                    <a:srgbClr val="0A1F44"/>
                  </a:solidFill>
                  <a:latin typeface="Arial Bold"/>
                  <a:ea typeface="Arial Bold"/>
                  <a:cs typeface="Arial Bold"/>
                  <a:sym typeface="Arial Bold"/>
                </a:rPr>
                <a:t>✓</a:t>
              </a:r>
            </a:p>
          </p:txBody>
        </p:sp>
      </p:grpSp>
      <p:sp>
        <p:nvSpPr>
          <p:cNvPr name="TextBox 45" id="45"/>
          <p:cNvSpPr txBox="true"/>
          <p:nvPr/>
        </p:nvSpPr>
        <p:spPr>
          <a:xfrm rot="0">
            <a:off x="1280160" y="6536055"/>
            <a:ext cx="4480560" cy="1053465"/>
          </a:xfrm>
          <a:prstGeom prst="rect">
            <a:avLst/>
          </a:prstGeom>
        </p:spPr>
        <p:txBody>
          <a:bodyPr anchor="t" rtlCol="false" tIns="0" lIns="0" bIns="0" rIns="0">
            <a:spAutoFit/>
          </a:bodyPr>
          <a:lstStyle/>
          <a:p>
            <a:pPr algn="l">
              <a:lnSpc>
                <a:spcPts val="2639"/>
              </a:lnSpc>
            </a:pPr>
            <a:r>
              <a:rPr lang="en-US" sz="2199" b="true">
                <a:solidFill>
                  <a:srgbClr val="0B1D3A"/>
                </a:solidFill>
                <a:latin typeface="Calibri (MS) Bold"/>
                <a:ea typeface="Calibri (MS) Bold"/>
                <a:cs typeface="Calibri (MS) Bold"/>
                <a:sym typeface="Calibri (MS) Bold"/>
              </a:rPr>
              <a:t>Stack bebas (framework/library boleh)</a:t>
            </a:r>
          </a:p>
        </p:txBody>
      </p:sp>
      <p:grpSp>
        <p:nvGrpSpPr>
          <p:cNvPr name="Group 46" id="46"/>
          <p:cNvGrpSpPr/>
          <p:nvPr/>
        </p:nvGrpSpPr>
        <p:grpSpPr>
          <a:xfrm rot="0">
            <a:off x="6537579" y="5293995"/>
            <a:ext cx="5212842" cy="2396490"/>
            <a:chOff x="0" y="0"/>
            <a:chExt cx="6950456" cy="3195320"/>
          </a:xfrm>
        </p:grpSpPr>
        <p:sp>
          <p:nvSpPr>
            <p:cNvPr name="Freeform 47" id="47"/>
            <p:cNvSpPr/>
            <p:nvPr/>
          </p:nvSpPr>
          <p:spPr>
            <a:xfrm flipH="false" flipV="false" rot="0">
              <a:off x="0" y="0"/>
              <a:ext cx="6950456" cy="3195320"/>
            </a:xfrm>
            <a:custGeom>
              <a:avLst/>
              <a:gdLst/>
              <a:ahLst/>
              <a:cxnLst/>
              <a:rect r="r" b="b" t="t" l="l"/>
              <a:pathLst>
                <a:path h="3195320" w="6950456">
                  <a:moveTo>
                    <a:pt x="0" y="245745"/>
                  </a:moveTo>
                  <a:cubicBezTo>
                    <a:pt x="0" y="109982"/>
                    <a:pt x="109982" y="0"/>
                    <a:pt x="245745" y="0"/>
                  </a:cubicBezTo>
                  <a:lnTo>
                    <a:pt x="6704711" y="0"/>
                  </a:lnTo>
                  <a:cubicBezTo>
                    <a:pt x="6840474" y="0"/>
                    <a:pt x="6950456" y="109982"/>
                    <a:pt x="6950456" y="245745"/>
                  </a:cubicBezTo>
                  <a:lnTo>
                    <a:pt x="6950456" y="2949575"/>
                  </a:lnTo>
                  <a:cubicBezTo>
                    <a:pt x="6950456" y="3085338"/>
                    <a:pt x="6840474" y="3195320"/>
                    <a:pt x="6704711" y="3195320"/>
                  </a:cubicBezTo>
                  <a:lnTo>
                    <a:pt x="245745" y="3195320"/>
                  </a:lnTo>
                  <a:cubicBezTo>
                    <a:pt x="109982" y="3195320"/>
                    <a:pt x="0" y="3085338"/>
                    <a:pt x="0" y="2949575"/>
                  </a:cubicBezTo>
                  <a:close/>
                </a:path>
              </a:pathLst>
            </a:custGeom>
            <a:solidFill>
              <a:srgbClr val="FFFFFF">
                <a:alpha val="50000"/>
              </a:srgbClr>
            </a:solidFill>
            <a:ln w="19050" cap="sq">
              <a:solidFill>
                <a:srgbClr val="D6E0F2"/>
              </a:solidFill>
              <a:prstDash val="solid"/>
              <a:miter/>
            </a:ln>
          </p:spPr>
        </p:sp>
      </p:grpSp>
      <p:grpSp>
        <p:nvGrpSpPr>
          <p:cNvPr name="Group 48" id="48"/>
          <p:cNvGrpSpPr/>
          <p:nvPr/>
        </p:nvGrpSpPr>
        <p:grpSpPr>
          <a:xfrm rot="0">
            <a:off x="6900167" y="5656583"/>
            <a:ext cx="756923" cy="756923"/>
            <a:chOff x="0" y="0"/>
            <a:chExt cx="1009231" cy="1009231"/>
          </a:xfrm>
        </p:grpSpPr>
        <p:sp>
          <p:nvSpPr>
            <p:cNvPr name="Freeform 49" id="49"/>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FFC81E"/>
            </a:solidFill>
            <a:ln w="25400" cap="sq">
              <a:solidFill>
                <a:srgbClr val="FFC81E"/>
              </a:solidFill>
              <a:prstDash val="solid"/>
              <a:miter/>
            </a:ln>
          </p:spPr>
        </p:sp>
      </p:grpSp>
      <p:grpSp>
        <p:nvGrpSpPr>
          <p:cNvPr name="Group 50" id="50"/>
          <p:cNvGrpSpPr/>
          <p:nvPr/>
        </p:nvGrpSpPr>
        <p:grpSpPr>
          <a:xfrm rot="0">
            <a:off x="6912864" y="5669280"/>
            <a:ext cx="731520" cy="731520"/>
            <a:chOff x="0" y="0"/>
            <a:chExt cx="975360" cy="975360"/>
          </a:xfrm>
        </p:grpSpPr>
        <p:sp>
          <p:nvSpPr>
            <p:cNvPr name="Freeform 51" id="51"/>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4">
                <a:alphaModFix amt="0"/>
              </a:blip>
              <a:stretch>
                <a:fillRect l="-78303" t="0" r="-78303" b="0"/>
              </a:stretch>
            </a:blipFill>
          </p:spPr>
        </p:sp>
        <p:sp>
          <p:nvSpPr>
            <p:cNvPr name="TextBox 52" id="52"/>
            <p:cNvSpPr txBox="true"/>
            <p:nvPr/>
          </p:nvSpPr>
          <p:spPr>
            <a:xfrm>
              <a:off x="0" y="-19050"/>
              <a:ext cx="975360" cy="994410"/>
            </a:xfrm>
            <a:prstGeom prst="rect">
              <a:avLst/>
            </a:prstGeom>
          </p:spPr>
          <p:txBody>
            <a:bodyPr anchor="ctr" rtlCol="false" tIns="0" lIns="0" bIns="0" rIns="0"/>
            <a:lstStyle/>
            <a:p>
              <a:pPr algn="ctr">
                <a:lnSpc>
                  <a:spcPts val="3600"/>
                </a:lnSpc>
              </a:pPr>
              <a:r>
                <a:rPr lang="en-US" sz="3000" b="true">
                  <a:solidFill>
                    <a:srgbClr val="0A1F44"/>
                  </a:solidFill>
                  <a:latin typeface="Arial Bold"/>
                  <a:ea typeface="Arial Bold"/>
                  <a:cs typeface="Arial Bold"/>
                  <a:sym typeface="Arial Bold"/>
                </a:rPr>
                <a:t>✓</a:t>
              </a:r>
            </a:p>
          </p:txBody>
        </p:sp>
      </p:grpSp>
      <p:sp>
        <p:nvSpPr>
          <p:cNvPr name="TextBox 53" id="53"/>
          <p:cNvSpPr txBox="true"/>
          <p:nvPr/>
        </p:nvSpPr>
        <p:spPr>
          <a:xfrm rot="0">
            <a:off x="6912864" y="6536055"/>
            <a:ext cx="4480560" cy="1053465"/>
          </a:xfrm>
          <a:prstGeom prst="rect">
            <a:avLst/>
          </a:prstGeom>
        </p:spPr>
        <p:txBody>
          <a:bodyPr anchor="t" rtlCol="false" tIns="0" lIns="0" bIns="0" rIns="0">
            <a:spAutoFit/>
          </a:bodyPr>
          <a:lstStyle/>
          <a:p>
            <a:pPr algn="l">
              <a:lnSpc>
                <a:spcPts val="2639"/>
              </a:lnSpc>
            </a:pPr>
            <a:r>
              <a:rPr lang="en-US" sz="2199" b="true">
                <a:solidFill>
                  <a:srgbClr val="0B1D3A"/>
                </a:solidFill>
                <a:latin typeface="Calibri (MS) Bold"/>
                <a:ea typeface="Calibri (MS) Bold"/>
                <a:cs typeface="Calibri (MS) Bold"/>
                <a:sym typeface="Calibri (MS) Bold"/>
              </a:rPr>
              <a:t>Website sesuai tema yang ditentukan panitia</a:t>
            </a:r>
          </a:p>
        </p:txBody>
      </p:sp>
      <p:grpSp>
        <p:nvGrpSpPr>
          <p:cNvPr name="Group 54" id="54"/>
          <p:cNvGrpSpPr/>
          <p:nvPr/>
        </p:nvGrpSpPr>
        <p:grpSpPr>
          <a:xfrm rot="0">
            <a:off x="12170283" y="5293995"/>
            <a:ext cx="5212842" cy="2396490"/>
            <a:chOff x="0" y="0"/>
            <a:chExt cx="6950456" cy="3195320"/>
          </a:xfrm>
        </p:grpSpPr>
        <p:sp>
          <p:nvSpPr>
            <p:cNvPr name="Freeform 55" id="55"/>
            <p:cNvSpPr/>
            <p:nvPr/>
          </p:nvSpPr>
          <p:spPr>
            <a:xfrm flipH="false" flipV="false" rot="0">
              <a:off x="0" y="0"/>
              <a:ext cx="6950456" cy="3195320"/>
            </a:xfrm>
            <a:custGeom>
              <a:avLst/>
              <a:gdLst/>
              <a:ahLst/>
              <a:cxnLst/>
              <a:rect r="r" b="b" t="t" l="l"/>
              <a:pathLst>
                <a:path h="3195320" w="6950456">
                  <a:moveTo>
                    <a:pt x="0" y="245745"/>
                  </a:moveTo>
                  <a:cubicBezTo>
                    <a:pt x="0" y="109982"/>
                    <a:pt x="109982" y="0"/>
                    <a:pt x="245745" y="0"/>
                  </a:cubicBezTo>
                  <a:lnTo>
                    <a:pt x="6704711" y="0"/>
                  </a:lnTo>
                  <a:cubicBezTo>
                    <a:pt x="6840474" y="0"/>
                    <a:pt x="6950456" y="109982"/>
                    <a:pt x="6950456" y="245745"/>
                  </a:cubicBezTo>
                  <a:lnTo>
                    <a:pt x="6950456" y="2949575"/>
                  </a:lnTo>
                  <a:cubicBezTo>
                    <a:pt x="6950456" y="3085338"/>
                    <a:pt x="6840474" y="3195320"/>
                    <a:pt x="6704711" y="3195320"/>
                  </a:cubicBezTo>
                  <a:lnTo>
                    <a:pt x="245745" y="3195320"/>
                  </a:lnTo>
                  <a:cubicBezTo>
                    <a:pt x="109982" y="3195320"/>
                    <a:pt x="0" y="3085338"/>
                    <a:pt x="0" y="2949575"/>
                  </a:cubicBezTo>
                  <a:close/>
                </a:path>
              </a:pathLst>
            </a:custGeom>
            <a:solidFill>
              <a:srgbClr val="FFFFFF">
                <a:alpha val="50000"/>
              </a:srgbClr>
            </a:solidFill>
            <a:ln w="19050" cap="sq">
              <a:solidFill>
                <a:srgbClr val="D6E0F2"/>
              </a:solidFill>
              <a:prstDash val="solid"/>
              <a:miter/>
            </a:ln>
          </p:spPr>
        </p:sp>
      </p:grpSp>
      <p:grpSp>
        <p:nvGrpSpPr>
          <p:cNvPr name="Group 56" id="56"/>
          <p:cNvGrpSpPr/>
          <p:nvPr/>
        </p:nvGrpSpPr>
        <p:grpSpPr>
          <a:xfrm rot="0">
            <a:off x="12532871" y="5656583"/>
            <a:ext cx="756923" cy="756923"/>
            <a:chOff x="0" y="0"/>
            <a:chExt cx="1009231" cy="1009231"/>
          </a:xfrm>
        </p:grpSpPr>
        <p:sp>
          <p:nvSpPr>
            <p:cNvPr name="Freeform 57" id="57"/>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FFC81E"/>
            </a:solidFill>
            <a:ln w="25400" cap="sq">
              <a:solidFill>
                <a:srgbClr val="FFC81E"/>
              </a:solidFill>
              <a:prstDash val="solid"/>
              <a:miter/>
            </a:ln>
          </p:spPr>
        </p:sp>
      </p:grpSp>
      <p:grpSp>
        <p:nvGrpSpPr>
          <p:cNvPr name="Group 58" id="58"/>
          <p:cNvGrpSpPr/>
          <p:nvPr/>
        </p:nvGrpSpPr>
        <p:grpSpPr>
          <a:xfrm rot="0">
            <a:off x="12545568" y="5669280"/>
            <a:ext cx="731520" cy="731520"/>
            <a:chOff x="0" y="0"/>
            <a:chExt cx="975360" cy="975360"/>
          </a:xfrm>
        </p:grpSpPr>
        <p:sp>
          <p:nvSpPr>
            <p:cNvPr name="Freeform 59" id="59"/>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4">
                <a:alphaModFix amt="0"/>
              </a:blip>
              <a:stretch>
                <a:fillRect l="-78303" t="0" r="-78303" b="0"/>
              </a:stretch>
            </a:blipFill>
          </p:spPr>
        </p:sp>
        <p:sp>
          <p:nvSpPr>
            <p:cNvPr name="TextBox 60" id="60"/>
            <p:cNvSpPr txBox="true"/>
            <p:nvPr/>
          </p:nvSpPr>
          <p:spPr>
            <a:xfrm>
              <a:off x="0" y="-19050"/>
              <a:ext cx="975360" cy="994410"/>
            </a:xfrm>
            <a:prstGeom prst="rect">
              <a:avLst/>
            </a:prstGeom>
          </p:spPr>
          <p:txBody>
            <a:bodyPr anchor="ctr" rtlCol="false" tIns="0" lIns="0" bIns="0" rIns="0"/>
            <a:lstStyle/>
            <a:p>
              <a:pPr algn="ctr">
                <a:lnSpc>
                  <a:spcPts val="3600"/>
                </a:lnSpc>
              </a:pPr>
              <a:r>
                <a:rPr lang="en-US" sz="3000" b="true">
                  <a:solidFill>
                    <a:srgbClr val="0A1F44"/>
                  </a:solidFill>
                  <a:latin typeface="Arial Bold"/>
                  <a:ea typeface="Arial Bold"/>
                  <a:cs typeface="Arial Bold"/>
                  <a:sym typeface="Arial Bold"/>
                </a:rPr>
                <a:t>✓</a:t>
              </a:r>
            </a:p>
          </p:txBody>
        </p:sp>
      </p:grpSp>
      <p:sp>
        <p:nvSpPr>
          <p:cNvPr name="TextBox 61" id="61"/>
          <p:cNvSpPr txBox="true"/>
          <p:nvPr/>
        </p:nvSpPr>
        <p:spPr>
          <a:xfrm rot="0">
            <a:off x="12545568" y="6536055"/>
            <a:ext cx="4480560" cy="1053465"/>
          </a:xfrm>
          <a:prstGeom prst="rect">
            <a:avLst/>
          </a:prstGeom>
        </p:spPr>
        <p:txBody>
          <a:bodyPr anchor="t" rtlCol="false" tIns="0" lIns="0" bIns="0" rIns="0">
            <a:spAutoFit/>
          </a:bodyPr>
          <a:lstStyle/>
          <a:p>
            <a:pPr algn="l">
              <a:lnSpc>
                <a:spcPts val="2639"/>
              </a:lnSpc>
            </a:pPr>
            <a:r>
              <a:rPr lang="en-US" sz="2199" b="true">
                <a:solidFill>
                  <a:srgbClr val="0B1D3A"/>
                </a:solidFill>
                <a:latin typeface="Calibri (MS) Bold"/>
                <a:ea typeface="Calibri (MS) Bold"/>
                <a:cs typeface="Calibri (MS) Bold"/>
                <a:sym typeface="Calibri (MS) Bold"/>
              </a:rPr>
              <a:t>Karya sudah di-deploy ke hosting bebas</a:t>
            </a:r>
          </a:p>
        </p:txBody>
      </p:sp>
      <p:grpSp>
        <p:nvGrpSpPr>
          <p:cNvPr name="Group 62" id="62"/>
          <p:cNvGrpSpPr/>
          <p:nvPr/>
        </p:nvGrpSpPr>
        <p:grpSpPr>
          <a:xfrm rot="0">
            <a:off x="904875" y="8220075"/>
            <a:ext cx="16478250" cy="933450"/>
            <a:chOff x="0" y="0"/>
            <a:chExt cx="21971000" cy="1244600"/>
          </a:xfrm>
        </p:grpSpPr>
        <p:sp>
          <p:nvSpPr>
            <p:cNvPr name="Freeform 63" id="63"/>
            <p:cNvSpPr/>
            <p:nvPr/>
          </p:nvSpPr>
          <p:spPr>
            <a:xfrm flipH="false" flipV="false" rot="0">
              <a:off x="0" y="0"/>
              <a:ext cx="21971000" cy="1244600"/>
            </a:xfrm>
            <a:custGeom>
              <a:avLst/>
              <a:gdLst/>
              <a:ahLst/>
              <a:cxnLst/>
              <a:rect r="r" b="b" t="t" l="l"/>
              <a:pathLst>
                <a:path h="1244600" w="21971000">
                  <a:moveTo>
                    <a:pt x="0" y="199136"/>
                  </a:moveTo>
                  <a:cubicBezTo>
                    <a:pt x="0" y="89154"/>
                    <a:pt x="89154" y="0"/>
                    <a:pt x="199136" y="0"/>
                  </a:cubicBezTo>
                  <a:lnTo>
                    <a:pt x="21771863" y="0"/>
                  </a:lnTo>
                  <a:cubicBezTo>
                    <a:pt x="21881846" y="0"/>
                    <a:pt x="21971000" y="89154"/>
                    <a:pt x="21971000" y="199136"/>
                  </a:cubicBezTo>
                  <a:lnTo>
                    <a:pt x="21971000" y="1045464"/>
                  </a:lnTo>
                  <a:cubicBezTo>
                    <a:pt x="21971000" y="1155446"/>
                    <a:pt x="21881846" y="1244600"/>
                    <a:pt x="21771863" y="1244600"/>
                  </a:cubicBezTo>
                  <a:lnTo>
                    <a:pt x="199136" y="1244600"/>
                  </a:lnTo>
                  <a:cubicBezTo>
                    <a:pt x="89154" y="1244600"/>
                    <a:pt x="0" y="1155446"/>
                    <a:pt x="0" y="1045464"/>
                  </a:cubicBezTo>
                  <a:close/>
                </a:path>
              </a:pathLst>
            </a:custGeom>
            <a:solidFill>
              <a:srgbClr val="FFF4CC"/>
            </a:solidFill>
            <a:ln w="19050" cap="sq">
              <a:solidFill>
                <a:srgbClr val="FFC81E"/>
              </a:solidFill>
              <a:prstDash val="solid"/>
              <a:miter/>
            </a:ln>
          </p:spPr>
        </p:sp>
      </p:grpSp>
      <p:grpSp>
        <p:nvGrpSpPr>
          <p:cNvPr name="Group 64" id="64"/>
          <p:cNvGrpSpPr/>
          <p:nvPr/>
        </p:nvGrpSpPr>
        <p:grpSpPr>
          <a:xfrm rot="0">
            <a:off x="1280160" y="8229600"/>
            <a:ext cx="15727680" cy="914400"/>
            <a:chOff x="0" y="0"/>
            <a:chExt cx="20970240" cy="1219200"/>
          </a:xfrm>
        </p:grpSpPr>
        <p:sp>
          <p:nvSpPr>
            <p:cNvPr name="Freeform 65" id="65"/>
            <p:cNvSpPr/>
            <p:nvPr/>
          </p:nvSpPr>
          <p:spPr>
            <a:xfrm flipH="false" flipV="false" rot="0">
              <a:off x="0" y="0"/>
              <a:ext cx="20970239" cy="1219200"/>
            </a:xfrm>
            <a:custGeom>
              <a:avLst/>
              <a:gdLst/>
              <a:ahLst/>
              <a:cxnLst/>
              <a:rect r="r" b="b" t="t" l="l"/>
              <a:pathLst>
                <a:path h="1219200" w="20970239">
                  <a:moveTo>
                    <a:pt x="0" y="0"/>
                  </a:moveTo>
                  <a:lnTo>
                    <a:pt x="20970239" y="0"/>
                  </a:lnTo>
                  <a:lnTo>
                    <a:pt x="20970239" y="1219200"/>
                  </a:lnTo>
                  <a:lnTo>
                    <a:pt x="0" y="1219200"/>
                  </a:lnTo>
                  <a:close/>
                </a:path>
              </a:pathLst>
            </a:custGeom>
            <a:blipFill>
              <a:blip r:embed="rId4">
                <a:alphaModFix amt="0"/>
              </a:blip>
              <a:stretch>
                <a:fillRect l="0" t="-285142" r="0" b="-285142"/>
              </a:stretch>
            </a:blipFill>
          </p:spPr>
        </p:sp>
        <p:sp>
          <p:nvSpPr>
            <p:cNvPr name="TextBox 66" id="66"/>
            <p:cNvSpPr txBox="true"/>
            <p:nvPr/>
          </p:nvSpPr>
          <p:spPr>
            <a:xfrm>
              <a:off x="0" y="-47625"/>
              <a:ext cx="20970240" cy="1266825"/>
            </a:xfrm>
            <a:prstGeom prst="rect">
              <a:avLst/>
            </a:prstGeom>
          </p:spPr>
          <p:txBody>
            <a:bodyPr anchor="ctr" rtlCol="false" tIns="0" lIns="0" bIns="0" rIns="0"/>
            <a:lstStyle/>
            <a:p>
              <a:pPr algn="l">
                <a:lnSpc>
                  <a:spcPts val="2520"/>
                </a:lnSpc>
              </a:pPr>
              <a:r>
                <a:rPr lang="en-US" sz="2100" b="true">
                  <a:solidFill>
                    <a:srgbClr val="0B1D3A"/>
                  </a:solidFill>
                  <a:latin typeface="Calibri (MS) Bold"/>
                  <a:ea typeface="Calibri (MS) Bold"/>
                  <a:cs typeface="Calibri (MS) Bold"/>
                  <a:sym typeface="Calibri (MS) Bold"/>
                </a:rPr>
                <a:t>Karya yang tidak memenuhi salah satu syarat (atau tidak dapat dibuktikan) tidak dinilai lebih lanjut.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txBody>
          <a:bodyPr/>
          <a:p/>
        </p:txBody>
      </p:sp>
      <p:pic>
        <p:nvPicPr>
          <p:cNvPr id="79"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07</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Sistem Penilaian — Komponen &amp; Bobot</a:t>
              </a:r>
            </a:p>
          </p:txBody>
        </p:sp>
      </p:grpSp>
      <p:sp>
        <p:nvSpPr>
          <p:cNvPr name="TextBox 11" id="11"/>
          <p:cNvSpPr txBox="true"/>
          <p:nvPr/>
        </p:nvSpPr>
        <p:spPr>
          <a:xfrm rot="0">
            <a:off x="2194560" y="1305687"/>
            <a:ext cx="15179040" cy="504825"/>
          </a:xfrm>
          <a:prstGeom prst="rect">
            <a:avLst/>
          </a:prstGeom>
        </p:spPr>
        <p:txBody>
          <a:bodyPr anchor="t" rtlCol="false" tIns="0" lIns="0" bIns="0" rIns="0">
            <a:spAutoFit/>
          </a:bodyPr>
          <a:lstStyle/>
          <a:p>
            <a:pPr algn="l">
              <a:lnSpc>
                <a:spcPts val="2760"/>
              </a:lnSpc>
            </a:pPr>
            <a:r>
              <a:rPr lang="en-US" sz="2300">
                <a:solidFill>
                  <a:srgbClr val="5B6B85"/>
                </a:solidFill>
                <a:latin typeface="Calibri (MS)"/>
                <a:ea typeface="Calibri (MS)"/>
                <a:cs typeface="Calibri (MS)"/>
                <a:sym typeface="Calibri (MS)"/>
              </a:rPr>
              <a:t>Total 100 poin, dinilai setelah karya lolos gerbang kelayakan</a:t>
            </a:r>
          </a:p>
        </p:txBody>
      </p:sp>
      <p:sp>
        <p:nvSpPr>
          <p:cNvPr name="TextBox 12" id="12"/>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3" id="13"/>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pSp>
        <p:nvGrpSpPr>
          <p:cNvPr name="Group 14" id="14"/>
          <p:cNvGrpSpPr/>
          <p:nvPr/>
        </p:nvGrpSpPr>
        <p:grpSpPr>
          <a:xfrm rot="0">
            <a:off x="904875" y="2185035"/>
            <a:ext cx="16478250" cy="1299210"/>
            <a:chOff x="0" y="0"/>
            <a:chExt cx="21971000" cy="1732280"/>
          </a:xfrm>
        </p:grpSpPr>
        <p:sp>
          <p:nvSpPr>
            <p:cNvPr name="Freeform 15" id="15"/>
            <p:cNvSpPr/>
            <p:nvPr/>
          </p:nvSpPr>
          <p:spPr>
            <a:xfrm flipH="false" flipV="false" rot="0">
              <a:off x="0" y="0"/>
              <a:ext cx="21971000" cy="1732280"/>
            </a:xfrm>
            <a:custGeom>
              <a:avLst/>
              <a:gdLst/>
              <a:ahLst/>
              <a:cxnLst/>
              <a:rect r="r" b="b" t="t" l="l"/>
              <a:pathLst>
                <a:path h="1732280" w="21971000">
                  <a:moveTo>
                    <a:pt x="0" y="197993"/>
                  </a:moveTo>
                  <a:cubicBezTo>
                    <a:pt x="0" y="88646"/>
                    <a:pt x="88646" y="0"/>
                    <a:pt x="197993" y="0"/>
                  </a:cubicBezTo>
                  <a:lnTo>
                    <a:pt x="21773007" y="0"/>
                  </a:lnTo>
                  <a:cubicBezTo>
                    <a:pt x="21882354" y="0"/>
                    <a:pt x="21971000" y="88646"/>
                    <a:pt x="21971000" y="197993"/>
                  </a:cubicBezTo>
                  <a:lnTo>
                    <a:pt x="21971000" y="1534287"/>
                  </a:lnTo>
                  <a:cubicBezTo>
                    <a:pt x="21971000" y="1643634"/>
                    <a:pt x="21882354" y="1732280"/>
                    <a:pt x="21773007" y="1732280"/>
                  </a:cubicBezTo>
                  <a:lnTo>
                    <a:pt x="197993" y="1732280"/>
                  </a:lnTo>
                  <a:cubicBezTo>
                    <a:pt x="88646" y="1732280"/>
                    <a:pt x="0" y="1643634"/>
                    <a:pt x="0" y="1534287"/>
                  </a:cubicBezTo>
                  <a:close/>
                </a:path>
              </a:pathLst>
            </a:custGeom>
            <a:solidFill>
              <a:srgbClr val="FFFFFF"/>
            </a:solidFill>
            <a:ln w="19050" cap="sq">
              <a:solidFill>
                <a:srgbClr val="D6E0F2"/>
              </a:solidFill>
              <a:prstDash val="solid"/>
              <a:miter/>
            </a:ln>
          </p:spPr>
        </p:sp>
      </p:grpSp>
      <p:grpSp>
        <p:nvGrpSpPr>
          <p:cNvPr name="Group 16" id="16"/>
          <p:cNvGrpSpPr/>
          <p:nvPr/>
        </p:nvGrpSpPr>
        <p:grpSpPr>
          <a:xfrm rot="0">
            <a:off x="1121159" y="2364743"/>
            <a:ext cx="1488443" cy="939803"/>
            <a:chOff x="0" y="0"/>
            <a:chExt cx="1984591" cy="1253071"/>
          </a:xfrm>
        </p:grpSpPr>
        <p:sp>
          <p:nvSpPr>
            <p:cNvPr name="Freeform 17" id="17"/>
            <p:cNvSpPr/>
            <p:nvPr/>
          </p:nvSpPr>
          <p:spPr>
            <a:xfrm flipH="false" flipV="false" rot="0">
              <a:off x="0" y="0"/>
              <a:ext cx="1984629" cy="1253109"/>
            </a:xfrm>
            <a:custGeom>
              <a:avLst/>
              <a:gdLst/>
              <a:ahLst/>
              <a:cxnLst/>
              <a:rect r="r" b="b" t="t" l="l"/>
              <a:pathLst>
                <a:path h="1253109" w="1984629">
                  <a:moveTo>
                    <a:pt x="0" y="225552"/>
                  </a:moveTo>
                  <a:cubicBezTo>
                    <a:pt x="0" y="100965"/>
                    <a:pt x="100965" y="0"/>
                    <a:pt x="225552" y="0"/>
                  </a:cubicBezTo>
                  <a:lnTo>
                    <a:pt x="1759077" y="0"/>
                  </a:lnTo>
                  <a:cubicBezTo>
                    <a:pt x="1883664" y="0"/>
                    <a:pt x="1984629" y="100965"/>
                    <a:pt x="1984629" y="225552"/>
                  </a:cubicBezTo>
                  <a:lnTo>
                    <a:pt x="1984629" y="1027557"/>
                  </a:lnTo>
                  <a:cubicBezTo>
                    <a:pt x="1984629" y="1152144"/>
                    <a:pt x="1883664" y="1253109"/>
                    <a:pt x="1759077" y="1253109"/>
                  </a:cubicBezTo>
                  <a:lnTo>
                    <a:pt x="225552" y="1253109"/>
                  </a:lnTo>
                  <a:cubicBezTo>
                    <a:pt x="100965" y="1253109"/>
                    <a:pt x="0" y="1152144"/>
                    <a:pt x="0" y="1027557"/>
                  </a:cubicBezTo>
                  <a:close/>
                </a:path>
              </a:pathLst>
            </a:custGeom>
            <a:solidFill>
              <a:srgbClr val="1448C8"/>
            </a:solidFill>
            <a:ln w="25400" cap="sq">
              <a:solidFill>
                <a:srgbClr val="1448C8"/>
              </a:solidFill>
              <a:prstDash val="solid"/>
              <a:miter/>
            </a:ln>
          </p:spPr>
        </p:sp>
      </p:grpSp>
      <p:grpSp>
        <p:nvGrpSpPr>
          <p:cNvPr name="Group 18" id="18"/>
          <p:cNvGrpSpPr/>
          <p:nvPr/>
        </p:nvGrpSpPr>
        <p:grpSpPr>
          <a:xfrm rot="0">
            <a:off x="1133856" y="2377440"/>
            <a:ext cx="1463040" cy="914400"/>
            <a:chOff x="0" y="0"/>
            <a:chExt cx="1950720" cy="1219200"/>
          </a:xfrm>
        </p:grpSpPr>
        <p:sp>
          <p:nvSpPr>
            <p:cNvPr name="Freeform 19" id="19"/>
            <p:cNvSpPr/>
            <p:nvPr/>
          </p:nvSpPr>
          <p:spPr>
            <a:xfrm flipH="false" flipV="false" rot="0">
              <a:off x="0" y="0"/>
              <a:ext cx="1950720" cy="1219200"/>
            </a:xfrm>
            <a:custGeom>
              <a:avLst/>
              <a:gdLst/>
              <a:ahLst/>
              <a:cxnLst/>
              <a:rect r="r" b="b" t="t" l="l"/>
              <a:pathLst>
                <a:path h="1219200" w="1950720">
                  <a:moveTo>
                    <a:pt x="0" y="0"/>
                  </a:moveTo>
                  <a:lnTo>
                    <a:pt x="1950720" y="0"/>
                  </a:lnTo>
                  <a:lnTo>
                    <a:pt x="1950720" y="1219200"/>
                  </a:lnTo>
                  <a:lnTo>
                    <a:pt x="0" y="1219200"/>
                  </a:lnTo>
                  <a:close/>
                </a:path>
              </a:pathLst>
            </a:custGeom>
            <a:blipFill>
              <a:blip r:embed="rId4">
                <a:alphaModFix amt="0"/>
              </a:blip>
              <a:stretch>
                <a:fillRect l="-30189" t="0" r="-30189" b="0"/>
              </a:stretch>
            </a:blipFill>
          </p:spPr>
        </p:sp>
        <p:sp>
          <p:nvSpPr>
            <p:cNvPr name="TextBox 20" id="20"/>
            <p:cNvSpPr txBox="true"/>
            <p:nvPr/>
          </p:nvSpPr>
          <p:spPr>
            <a:xfrm>
              <a:off x="0" y="-9525"/>
              <a:ext cx="1950720" cy="1228725"/>
            </a:xfrm>
            <a:prstGeom prst="rect">
              <a:avLst/>
            </a:prstGeom>
          </p:spPr>
          <p:txBody>
            <a:bodyPr anchor="ctr" rtlCol="false" tIns="0" lIns="0" bIns="0" rIns="0"/>
            <a:lstStyle/>
            <a:p>
              <a:pPr algn="ctr">
                <a:lnSpc>
                  <a:spcPts val="4799"/>
                </a:lnSpc>
              </a:pPr>
              <a:r>
                <a:rPr lang="en-US" sz="3999" b="true">
                  <a:solidFill>
                    <a:srgbClr val="FFC81E"/>
                  </a:solidFill>
                  <a:latin typeface="Arial Bold"/>
                  <a:ea typeface="Arial Bold"/>
                  <a:cs typeface="Arial Bold"/>
                  <a:sym typeface="Arial Bold"/>
                </a:rPr>
                <a:t>25</a:t>
              </a:r>
            </a:p>
          </p:txBody>
        </p:sp>
      </p:grpSp>
      <p:sp>
        <p:nvSpPr>
          <p:cNvPr name="TextBox 21" id="21"/>
          <p:cNvSpPr txBox="true"/>
          <p:nvPr/>
        </p:nvSpPr>
        <p:spPr>
          <a:xfrm rot="0">
            <a:off x="2926080" y="2331339"/>
            <a:ext cx="7680960" cy="521589"/>
          </a:xfrm>
          <a:prstGeom prst="rect">
            <a:avLst/>
          </a:prstGeom>
        </p:spPr>
        <p:txBody>
          <a:bodyPr anchor="t" rtlCol="false" tIns="0" lIns="0" bIns="0" rIns="0">
            <a:spAutoFit/>
          </a:bodyPr>
          <a:lstStyle/>
          <a:p>
            <a:pPr algn="l">
              <a:lnSpc>
                <a:spcPts val="2999"/>
              </a:lnSpc>
            </a:pPr>
            <a:r>
              <a:rPr lang="en-US" sz="2499" b="true">
                <a:solidFill>
                  <a:srgbClr val="0A1F44"/>
                </a:solidFill>
                <a:latin typeface="Arial Bold"/>
                <a:ea typeface="Arial Bold"/>
                <a:cs typeface="Arial Bold"/>
                <a:sym typeface="Arial Bold"/>
              </a:rPr>
              <a:t>Proses Vibe Coding</a:t>
            </a:r>
          </a:p>
        </p:txBody>
      </p:sp>
      <p:sp>
        <p:nvSpPr>
          <p:cNvPr name="TextBox 22" id="22"/>
          <p:cNvSpPr txBox="true"/>
          <p:nvPr/>
        </p:nvSpPr>
        <p:spPr>
          <a:xfrm rot="0">
            <a:off x="2926080" y="2851404"/>
            <a:ext cx="8412480" cy="513588"/>
          </a:xfrm>
          <a:prstGeom prst="rect">
            <a:avLst/>
          </a:prstGeom>
        </p:spPr>
        <p:txBody>
          <a:bodyPr anchor="t" rtlCol="false" tIns="0" lIns="0" bIns="0" rIns="0">
            <a:spAutoFit/>
          </a:bodyPr>
          <a:lstStyle/>
          <a:p>
            <a:pPr algn="l">
              <a:lnSpc>
                <a:spcPts val="2400"/>
              </a:lnSpc>
            </a:pPr>
            <a:r>
              <a:rPr lang="en-US" sz="2000">
                <a:solidFill>
                  <a:srgbClr val="5B6B85"/>
                </a:solidFill>
                <a:latin typeface="Calibri (MS)"/>
                <a:ea typeface="Calibri (MS)"/>
                <a:cs typeface="Calibri (MS)"/>
                <a:sym typeface="Calibri (MS)"/>
              </a:rPr>
              <a:t>Docs acuan AI Agent, kualitas prompt, dan penanganan debugging</a:t>
            </a:r>
          </a:p>
        </p:txBody>
      </p:sp>
      <p:grpSp>
        <p:nvGrpSpPr>
          <p:cNvPr name="Group 23" id="23"/>
          <p:cNvGrpSpPr/>
          <p:nvPr/>
        </p:nvGrpSpPr>
        <p:grpSpPr>
          <a:xfrm rot="0">
            <a:off x="11691623" y="2675639"/>
            <a:ext cx="5146043" cy="318011"/>
            <a:chOff x="0" y="0"/>
            <a:chExt cx="6861391" cy="424015"/>
          </a:xfrm>
        </p:grpSpPr>
        <p:sp>
          <p:nvSpPr>
            <p:cNvPr name="Freeform 24" id="24"/>
            <p:cNvSpPr/>
            <p:nvPr/>
          </p:nvSpPr>
          <p:spPr>
            <a:xfrm flipH="false" flipV="false" rot="0">
              <a:off x="0" y="0"/>
              <a:ext cx="6861302" cy="423926"/>
            </a:xfrm>
            <a:custGeom>
              <a:avLst/>
              <a:gdLst/>
              <a:ahLst/>
              <a:cxnLst/>
              <a:rect r="r" b="b" t="t" l="l"/>
              <a:pathLst>
                <a:path h="423926" w="6861302">
                  <a:moveTo>
                    <a:pt x="0" y="211963"/>
                  </a:moveTo>
                  <a:cubicBezTo>
                    <a:pt x="0" y="94869"/>
                    <a:pt x="94869" y="0"/>
                    <a:pt x="211963" y="0"/>
                  </a:cubicBezTo>
                  <a:lnTo>
                    <a:pt x="6649339" y="0"/>
                  </a:lnTo>
                  <a:cubicBezTo>
                    <a:pt x="6766433" y="0"/>
                    <a:pt x="6861302" y="94869"/>
                    <a:pt x="6861302" y="211963"/>
                  </a:cubicBezTo>
                  <a:cubicBezTo>
                    <a:pt x="6861302" y="329057"/>
                    <a:pt x="6766433" y="423926"/>
                    <a:pt x="6649339" y="423926"/>
                  </a:cubicBezTo>
                  <a:lnTo>
                    <a:pt x="211963" y="423926"/>
                  </a:lnTo>
                  <a:cubicBezTo>
                    <a:pt x="94869" y="424053"/>
                    <a:pt x="0" y="329057"/>
                    <a:pt x="0" y="211963"/>
                  </a:cubicBezTo>
                  <a:close/>
                </a:path>
              </a:pathLst>
            </a:custGeom>
            <a:solidFill>
              <a:srgbClr val="E8F0FF"/>
            </a:solidFill>
            <a:ln w="25400" cap="sq">
              <a:solidFill>
                <a:srgbClr val="E8F0FF"/>
              </a:solidFill>
              <a:prstDash val="solid"/>
              <a:miter/>
            </a:ln>
          </p:spPr>
        </p:sp>
      </p:grpSp>
      <p:grpSp>
        <p:nvGrpSpPr>
          <p:cNvPr name="Group 25" id="25"/>
          <p:cNvGrpSpPr/>
          <p:nvPr/>
        </p:nvGrpSpPr>
        <p:grpSpPr>
          <a:xfrm rot="0">
            <a:off x="11691623" y="2675639"/>
            <a:ext cx="5146043" cy="318011"/>
            <a:chOff x="0" y="0"/>
            <a:chExt cx="6861391" cy="424015"/>
          </a:xfrm>
        </p:grpSpPr>
        <p:sp>
          <p:nvSpPr>
            <p:cNvPr name="Freeform 26" id="26"/>
            <p:cNvSpPr/>
            <p:nvPr/>
          </p:nvSpPr>
          <p:spPr>
            <a:xfrm flipH="false" flipV="false" rot="0">
              <a:off x="0" y="0"/>
              <a:ext cx="6861302" cy="423926"/>
            </a:xfrm>
            <a:custGeom>
              <a:avLst/>
              <a:gdLst/>
              <a:ahLst/>
              <a:cxnLst/>
              <a:rect r="r" b="b" t="t" l="l"/>
              <a:pathLst>
                <a:path h="423926" w="6861302">
                  <a:moveTo>
                    <a:pt x="0" y="211963"/>
                  </a:moveTo>
                  <a:cubicBezTo>
                    <a:pt x="0" y="94869"/>
                    <a:pt x="94869" y="0"/>
                    <a:pt x="211963" y="0"/>
                  </a:cubicBezTo>
                  <a:lnTo>
                    <a:pt x="6649339" y="0"/>
                  </a:lnTo>
                  <a:cubicBezTo>
                    <a:pt x="6766433" y="0"/>
                    <a:pt x="6861302" y="94869"/>
                    <a:pt x="6861302" y="211963"/>
                  </a:cubicBezTo>
                  <a:cubicBezTo>
                    <a:pt x="6861302" y="329057"/>
                    <a:pt x="6766433" y="423926"/>
                    <a:pt x="6649339" y="423926"/>
                  </a:cubicBezTo>
                  <a:lnTo>
                    <a:pt x="211963" y="423926"/>
                  </a:lnTo>
                  <a:cubicBezTo>
                    <a:pt x="94869" y="424053"/>
                    <a:pt x="0" y="329057"/>
                    <a:pt x="0" y="211963"/>
                  </a:cubicBezTo>
                  <a:close/>
                </a:path>
              </a:pathLst>
            </a:custGeom>
            <a:solidFill>
              <a:srgbClr val="FFC81E"/>
            </a:solidFill>
            <a:ln w="25400" cap="sq">
              <a:solidFill>
                <a:srgbClr val="FFC81E"/>
              </a:solidFill>
              <a:prstDash val="solid"/>
              <a:miter/>
            </a:ln>
          </p:spPr>
        </p:sp>
      </p:grpSp>
      <p:grpSp>
        <p:nvGrpSpPr>
          <p:cNvPr name="Group 27" id="27"/>
          <p:cNvGrpSpPr/>
          <p:nvPr/>
        </p:nvGrpSpPr>
        <p:grpSpPr>
          <a:xfrm rot="0">
            <a:off x="904875" y="3648075"/>
            <a:ext cx="16478250" cy="1299210"/>
            <a:chOff x="0" y="0"/>
            <a:chExt cx="21971000" cy="1732280"/>
          </a:xfrm>
        </p:grpSpPr>
        <p:sp>
          <p:nvSpPr>
            <p:cNvPr name="Freeform 28" id="28"/>
            <p:cNvSpPr/>
            <p:nvPr/>
          </p:nvSpPr>
          <p:spPr>
            <a:xfrm flipH="false" flipV="false" rot="0">
              <a:off x="0" y="0"/>
              <a:ext cx="21971000" cy="1732280"/>
            </a:xfrm>
            <a:custGeom>
              <a:avLst/>
              <a:gdLst/>
              <a:ahLst/>
              <a:cxnLst/>
              <a:rect r="r" b="b" t="t" l="l"/>
              <a:pathLst>
                <a:path h="1732280" w="21971000">
                  <a:moveTo>
                    <a:pt x="0" y="197993"/>
                  </a:moveTo>
                  <a:cubicBezTo>
                    <a:pt x="0" y="88646"/>
                    <a:pt x="88646" y="0"/>
                    <a:pt x="197993" y="0"/>
                  </a:cubicBezTo>
                  <a:lnTo>
                    <a:pt x="21773007" y="0"/>
                  </a:lnTo>
                  <a:cubicBezTo>
                    <a:pt x="21882354" y="0"/>
                    <a:pt x="21971000" y="88646"/>
                    <a:pt x="21971000" y="197993"/>
                  </a:cubicBezTo>
                  <a:lnTo>
                    <a:pt x="21971000" y="1534287"/>
                  </a:lnTo>
                  <a:cubicBezTo>
                    <a:pt x="21971000" y="1643634"/>
                    <a:pt x="21882354" y="1732280"/>
                    <a:pt x="21773007" y="1732280"/>
                  </a:cubicBezTo>
                  <a:lnTo>
                    <a:pt x="197993" y="1732280"/>
                  </a:lnTo>
                  <a:cubicBezTo>
                    <a:pt x="88646" y="1732280"/>
                    <a:pt x="0" y="1643634"/>
                    <a:pt x="0" y="1534287"/>
                  </a:cubicBezTo>
                  <a:close/>
                </a:path>
              </a:pathLst>
            </a:custGeom>
            <a:solidFill>
              <a:srgbClr val="FFFFFF">
                <a:alpha val="50000"/>
              </a:srgbClr>
            </a:solidFill>
            <a:ln w="19050" cap="sq">
              <a:solidFill>
                <a:srgbClr val="D6E0F2"/>
              </a:solidFill>
              <a:prstDash val="solid"/>
              <a:miter/>
            </a:ln>
          </p:spPr>
        </p:sp>
      </p:grpSp>
      <p:grpSp>
        <p:nvGrpSpPr>
          <p:cNvPr name="Group 29" id="29"/>
          <p:cNvGrpSpPr/>
          <p:nvPr/>
        </p:nvGrpSpPr>
        <p:grpSpPr>
          <a:xfrm rot="0">
            <a:off x="1121159" y="3827783"/>
            <a:ext cx="1488443" cy="939803"/>
            <a:chOff x="0" y="0"/>
            <a:chExt cx="1984591" cy="1253071"/>
          </a:xfrm>
        </p:grpSpPr>
        <p:sp>
          <p:nvSpPr>
            <p:cNvPr name="Freeform 30" id="30"/>
            <p:cNvSpPr/>
            <p:nvPr/>
          </p:nvSpPr>
          <p:spPr>
            <a:xfrm flipH="false" flipV="false" rot="0">
              <a:off x="0" y="0"/>
              <a:ext cx="1984629" cy="1253109"/>
            </a:xfrm>
            <a:custGeom>
              <a:avLst/>
              <a:gdLst/>
              <a:ahLst/>
              <a:cxnLst/>
              <a:rect r="r" b="b" t="t" l="l"/>
              <a:pathLst>
                <a:path h="1253109" w="1984629">
                  <a:moveTo>
                    <a:pt x="0" y="225552"/>
                  </a:moveTo>
                  <a:cubicBezTo>
                    <a:pt x="0" y="100965"/>
                    <a:pt x="100965" y="0"/>
                    <a:pt x="225552" y="0"/>
                  </a:cubicBezTo>
                  <a:lnTo>
                    <a:pt x="1759077" y="0"/>
                  </a:lnTo>
                  <a:cubicBezTo>
                    <a:pt x="1883664" y="0"/>
                    <a:pt x="1984629" y="100965"/>
                    <a:pt x="1984629" y="225552"/>
                  </a:cubicBezTo>
                  <a:lnTo>
                    <a:pt x="1984629" y="1027557"/>
                  </a:lnTo>
                  <a:cubicBezTo>
                    <a:pt x="1984629" y="1152144"/>
                    <a:pt x="1883664" y="1253109"/>
                    <a:pt x="1759077" y="1253109"/>
                  </a:cubicBezTo>
                  <a:lnTo>
                    <a:pt x="225552" y="1253109"/>
                  </a:lnTo>
                  <a:cubicBezTo>
                    <a:pt x="100965" y="1253109"/>
                    <a:pt x="0" y="1152144"/>
                    <a:pt x="0" y="1027557"/>
                  </a:cubicBezTo>
                  <a:close/>
                </a:path>
              </a:pathLst>
            </a:custGeom>
            <a:solidFill>
              <a:srgbClr val="1448C8"/>
            </a:solidFill>
            <a:ln w="25400" cap="sq">
              <a:solidFill>
                <a:srgbClr val="1448C8"/>
              </a:solidFill>
              <a:prstDash val="solid"/>
              <a:miter/>
            </a:ln>
          </p:spPr>
        </p:sp>
      </p:grpSp>
      <p:grpSp>
        <p:nvGrpSpPr>
          <p:cNvPr name="Group 31" id="31"/>
          <p:cNvGrpSpPr/>
          <p:nvPr/>
        </p:nvGrpSpPr>
        <p:grpSpPr>
          <a:xfrm rot="0">
            <a:off x="1133856" y="3840480"/>
            <a:ext cx="1463040" cy="914400"/>
            <a:chOff x="0" y="0"/>
            <a:chExt cx="1950720" cy="1219200"/>
          </a:xfrm>
        </p:grpSpPr>
        <p:sp>
          <p:nvSpPr>
            <p:cNvPr name="Freeform 32" id="32"/>
            <p:cNvSpPr/>
            <p:nvPr/>
          </p:nvSpPr>
          <p:spPr>
            <a:xfrm flipH="false" flipV="false" rot="0">
              <a:off x="0" y="0"/>
              <a:ext cx="1950720" cy="1219200"/>
            </a:xfrm>
            <a:custGeom>
              <a:avLst/>
              <a:gdLst/>
              <a:ahLst/>
              <a:cxnLst/>
              <a:rect r="r" b="b" t="t" l="l"/>
              <a:pathLst>
                <a:path h="1219200" w="1950720">
                  <a:moveTo>
                    <a:pt x="0" y="0"/>
                  </a:moveTo>
                  <a:lnTo>
                    <a:pt x="1950720" y="0"/>
                  </a:lnTo>
                  <a:lnTo>
                    <a:pt x="1950720" y="1219200"/>
                  </a:lnTo>
                  <a:lnTo>
                    <a:pt x="0" y="1219200"/>
                  </a:lnTo>
                  <a:close/>
                </a:path>
              </a:pathLst>
            </a:custGeom>
            <a:blipFill>
              <a:blip r:embed="rId4">
                <a:alphaModFix amt="0"/>
              </a:blip>
              <a:stretch>
                <a:fillRect l="-30189" t="0" r="-30189" b="0"/>
              </a:stretch>
            </a:blipFill>
          </p:spPr>
        </p:sp>
        <p:sp>
          <p:nvSpPr>
            <p:cNvPr name="TextBox 33" id="33"/>
            <p:cNvSpPr txBox="true"/>
            <p:nvPr/>
          </p:nvSpPr>
          <p:spPr>
            <a:xfrm>
              <a:off x="0" y="-9525"/>
              <a:ext cx="1950720" cy="1228725"/>
            </a:xfrm>
            <a:prstGeom prst="rect">
              <a:avLst/>
            </a:prstGeom>
          </p:spPr>
          <p:txBody>
            <a:bodyPr anchor="ctr" rtlCol="false" tIns="0" lIns="0" bIns="0" rIns="0"/>
            <a:lstStyle/>
            <a:p>
              <a:pPr algn="ctr">
                <a:lnSpc>
                  <a:spcPts val="4799"/>
                </a:lnSpc>
              </a:pPr>
              <a:r>
                <a:rPr lang="en-US" sz="3999" b="true">
                  <a:solidFill>
                    <a:srgbClr val="FFC81E"/>
                  </a:solidFill>
                  <a:latin typeface="Arial Bold"/>
                  <a:ea typeface="Arial Bold"/>
                  <a:cs typeface="Arial Bold"/>
                  <a:sym typeface="Arial Bold"/>
                </a:rPr>
                <a:t>25</a:t>
              </a:r>
            </a:p>
          </p:txBody>
        </p:sp>
      </p:grpSp>
      <p:sp>
        <p:nvSpPr>
          <p:cNvPr name="TextBox 34" id="34"/>
          <p:cNvSpPr txBox="true"/>
          <p:nvPr/>
        </p:nvSpPr>
        <p:spPr>
          <a:xfrm rot="0">
            <a:off x="2926080" y="3794379"/>
            <a:ext cx="7680960" cy="521589"/>
          </a:xfrm>
          <a:prstGeom prst="rect">
            <a:avLst/>
          </a:prstGeom>
        </p:spPr>
        <p:txBody>
          <a:bodyPr anchor="t" rtlCol="false" tIns="0" lIns="0" bIns="0" rIns="0">
            <a:spAutoFit/>
          </a:bodyPr>
          <a:lstStyle/>
          <a:p>
            <a:pPr algn="l">
              <a:lnSpc>
                <a:spcPts val="2999"/>
              </a:lnSpc>
            </a:pPr>
            <a:r>
              <a:rPr lang="en-US" sz="2499" b="true">
                <a:solidFill>
                  <a:srgbClr val="0A1F44"/>
                </a:solidFill>
                <a:latin typeface="Arial Bold"/>
                <a:ea typeface="Arial Bold"/>
                <a:cs typeface="Arial Bold"/>
                <a:sym typeface="Arial Bold"/>
              </a:rPr>
              <a:t>Fungsionalitas &amp; Relevansi Tema</a:t>
            </a:r>
          </a:p>
        </p:txBody>
      </p:sp>
      <p:sp>
        <p:nvSpPr>
          <p:cNvPr name="TextBox 35" id="35"/>
          <p:cNvSpPr txBox="true"/>
          <p:nvPr/>
        </p:nvSpPr>
        <p:spPr>
          <a:xfrm rot="0">
            <a:off x="2926080" y="4314444"/>
            <a:ext cx="8412480" cy="513588"/>
          </a:xfrm>
          <a:prstGeom prst="rect">
            <a:avLst/>
          </a:prstGeom>
        </p:spPr>
        <p:txBody>
          <a:bodyPr anchor="t" rtlCol="false" tIns="0" lIns="0" bIns="0" rIns="0">
            <a:spAutoFit/>
          </a:bodyPr>
          <a:lstStyle/>
          <a:p>
            <a:pPr algn="l">
              <a:lnSpc>
                <a:spcPts val="2400"/>
              </a:lnSpc>
            </a:pPr>
            <a:r>
              <a:rPr lang="en-US" sz="2000">
                <a:solidFill>
                  <a:srgbClr val="5B6B85"/>
                </a:solidFill>
                <a:latin typeface="Calibri (MS)"/>
                <a:ea typeface="Calibri (MS)"/>
                <a:cs typeface="Calibri (MS)"/>
                <a:sym typeface="Calibri (MS)"/>
              </a:rPr>
              <a:t>Fitur berjalan, sesuai tema, menjawab tantangan pendidikan</a:t>
            </a:r>
          </a:p>
        </p:txBody>
      </p:sp>
      <p:grpSp>
        <p:nvGrpSpPr>
          <p:cNvPr name="Group 36" id="36"/>
          <p:cNvGrpSpPr/>
          <p:nvPr/>
        </p:nvGrpSpPr>
        <p:grpSpPr>
          <a:xfrm rot="0">
            <a:off x="11691623" y="4138679"/>
            <a:ext cx="5146043" cy="318011"/>
            <a:chOff x="0" y="0"/>
            <a:chExt cx="6861391" cy="424015"/>
          </a:xfrm>
        </p:grpSpPr>
        <p:sp>
          <p:nvSpPr>
            <p:cNvPr name="Freeform 37" id="37"/>
            <p:cNvSpPr/>
            <p:nvPr/>
          </p:nvSpPr>
          <p:spPr>
            <a:xfrm flipH="false" flipV="false" rot="0">
              <a:off x="0" y="0"/>
              <a:ext cx="6861302" cy="423926"/>
            </a:xfrm>
            <a:custGeom>
              <a:avLst/>
              <a:gdLst/>
              <a:ahLst/>
              <a:cxnLst/>
              <a:rect r="r" b="b" t="t" l="l"/>
              <a:pathLst>
                <a:path h="423926" w="6861302">
                  <a:moveTo>
                    <a:pt x="0" y="211963"/>
                  </a:moveTo>
                  <a:cubicBezTo>
                    <a:pt x="0" y="94869"/>
                    <a:pt x="94869" y="0"/>
                    <a:pt x="211963" y="0"/>
                  </a:cubicBezTo>
                  <a:lnTo>
                    <a:pt x="6649339" y="0"/>
                  </a:lnTo>
                  <a:cubicBezTo>
                    <a:pt x="6766433" y="0"/>
                    <a:pt x="6861302" y="94869"/>
                    <a:pt x="6861302" y="211963"/>
                  </a:cubicBezTo>
                  <a:cubicBezTo>
                    <a:pt x="6861302" y="329057"/>
                    <a:pt x="6766433" y="423926"/>
                    <a:pt x="6649339" y="423926"/>
                  </a:cubicBezTo>
                  <a:lnTo>
                    <a:pt x="211963" y="423926"/>
                  </a:lnTo>
                  <a:cubicBezTo>
                    <a:pt x="94869" y="424053"/>
                    <a:pt x="0" y="329057"/>
                    <a:pt x="0" y="211963"/>
                  </a:cubicBezTo>
                  <a:close/>
                </a:path>
              </a:pathLst>
            </a:custGeom>
            <a:solidFill>
              <a:srgbClr val="E8F0FF"/>
            </a:solidFill>
            <a:ln w="25400" cap="sq">
              <a:solidFill>
                <a:srgbClr val="E8F0FF"/>
              </a:solidFill>
              <a:prstDash val="solid"/>
              <a:miter/>
            </a:ln>
          </p:spPr>
        </p:sp>
      </p:grpSp>
      <p:grpSp>
        <p:nvGrpSpPr>
          <p:cNvPr name="Group 38" id="38"/>
          <p:cNvGrpSpPr/>
          <p:nvPr/>
        </p:nvGrpSpPr>
        <p:grpSpPr>
          <a:xfrm rot="0">
            <a:off x="11691623" y="4138679"/>
            <a:ext cx="5146043" cy="318011"/>
            <a:chOff x="0" y="0"/>
            <a:chExt cx="6861391" cy="424015"/>
          </a:xfrm>
        </p:grpSpPr>
        <p:sp>
          <p:nvSpPr>
            <p:cNvPr name="Freeform 39" id="39"/>
            <p:cNvSpPr/>
            <p:nvPr/>
          </p:nvSpPr>
          <p:spPr>
            <a:xfrm flipH="false" flipV="false" rot="0">
              <a:off x="0" y="0"/>
              <a:ext cx="6861302" cy="423926"/>
            </a:xfrm>
            <a:custGeom>
              <a:avLst/>
              <a:gdLst/>
              <a:ahLst/>
              <a:cxnLst/>
              <a:rect r="r" b="b" t="t" l="l"/>
              <a:pathLst>
                <a:path h="423926" w="6861302">
                  <a:moveTo>
                    <a:pt x="0" y="211963"/>
                  </a:moveTo>
                  <a:cubicBezTo>
                    <a:pt x="0" y="94869"/>
                    <a:pt x="94869" y="0"/>
                    <a:pt x="211963" y="0"/>
                  </a:cubicBezTo>
                  <a:lnTo>
                    <a:pt x="6649339" y="0"/>
                  </a:lnTo>
                  <a:cubicBezTo>
                    <a:pt x="6766433" y="0"/>
                    <a:pt x="6861302" y="94869"/>
                    <a:pt x="6861302" y="211963"/>
                  </a:cubicBezTo>
                  <a:cubicBezTo>
                    <a:pt x="6861302" y="329057"/>
                    <a:pt x="6766433" y="423926"/>
                    <a:pt x="6649339" y="423926"/>
                  </a:cubicBezTo>
                  <a:lnTo>
                    <a:pt x="211963" y="423926"/>
                  </a:lnTo>
                  <a:cubicBezTo>
                    <a:pt x="94869" y="424053"/>
                    <a:pt x="0" y="329057"/>
                    <a:pt x="0" y="211963"/>
                  </a:cubicBezTo>
                  <a:close/>
                </a:path>
              </a:pathLst>
            </a:custGeom>
            <a:solidFill>
              <a:srgbClr val="FFC81E"/>
            </a:solidFill>
            <a:ln w="25400" cap="sq">
              <a:solidFill>
                <a:srgbClr val="FFC81E"/>
              </a:solidFill>
              <a:prstDash val="solid"/>
              <a:miter/>
            </a:ln>
          </p:spPr>
        </p:sp>
      </p:grpSp>
      <p:grpSp>
        <p:nvGrpSpPr>
          <p:cNvPr name="Group 40" id="40"/>
          <p:cNvGrpSpPr/>
          <p:nvPr/>
        </p:nvGrpSpPr>
        <p:grpSpPr>
          <a:xfrm rot="0">
            <a:off x="904875" y="5111115"/>
            <a:ext cx="16478250" cy="1299210"/>
            <a:chOff x="0" y="0"/>
            <a:chExt cx="21971000" cy="1732280"/>
          </a:xfrm>
        </p:grpSpPr>
        <p:sp>
          <p:nvSpPr>
            <p:cNvPr name="Freeform 41" id="41"/>
            <p:cNvSpPr/>
            <p:nvPr/>
          </p:nvSpPr>
          <p:spPr>
            <a:xfrm flipH="false" flipV="false" rot="0">
              <a:off x="0" y="0"/>
              <a:ext cx="21971000" cy="1732280"/>
            </a:xfrm>
            <a:custGeom>
              <a:avLst/>
              <a:gdLst/>
              <a:ahLst/>
              <a:cxnLst/>
              <a:rect r="r" b="b" t="t" l="l"/>
              <a:pathLst>
                <a:path h="1732280" w="21971000">
                  <a:moveTo>
                    <a:pt x="0" y="197993"/>
                  </a:moveTo>
                  <a:cubicBezTo>
                    <a:pt x="0" y="88646"/>
                    <a:pt x="88646" y="0"/>
                    <a:pt x="197993" y="0"/>
                  </a:cubicBezTo>
                  <a:lnTo>
                    <a:pt x="21773007" y="0"/>
                  </a:lnTo>
                  <a:cubicBezTo>
                    <a:pt x="21882354" y="0"/>
                    <a:pt x="21971000" y="88646"/>
                    <a:pt x="21971000" y="197993"/>
                  </a:cubicBezTo>
                  <a:lnTo>
                    <a:pt x="21971000" y="1534287"/>
                  </a:lnTo>
                  <a:cubicBezTo>
                    <a:pt x="21971000" y="1643634"/>
                    <a:pt x="21882354" y="1732280"/>
                    <a:pt x="21773007" y="1732280"/>
                  </a:cubicBezTo>
                  <a:lnTo>
                    <a:pt x="197993" y="1732280"/>
                  </a:lnTo>
                  <a:cubicBezTo>
                    <a:pt x="88646" y="1732280"/>
                    <a:pt x="0" y="1643634"/>
                    <a:pt x="0" y="1534287"/>
                  </a:cubicBezTo>
                  <a:close/>
                </a:path>
              </a:pathLst>
            </a:custGeom>
            <a:solidFill>
              <a:srgbClr val="FFFFFF">
                <a:alpha val="50000"/>
              </a:srgbClr>
            </a:solidFill>
            <a:ln w="19050" cap="sq">
              <a:solidFill>
                <a:srgbClr val="D6E0F2"/>
              </a:solidFill>
              <a:prstDash val="solid"/>
              <a:miter/>
            </a:ln>
          </p:spPr>
        </p:sp>
      </p:grpSp>
      <p:grpSp>
        <p:nvGrpSpPr>
          <p:cNvPr name="Group 42" id="42"/>
          <p:cNvGrpSpPr/>
          <p:nvPr/>
        </p:nvGrpSpPr>
        <p:grpSpPr>
          <a:xfrm rot="0">
            <a:off x="1121159" y="5290823"/>
            <a:ext cx="1488443" cy="939803"/>
            <a:chOff x="0" y="0"/>
            <a:chExt cx="1984591" cy="1253071"/>
          </a:xfrm>
        </p:grpSpPr>
        <p:sp>
          <p:nvSpPr>
            <p:cNvPr name="Freeform 43" id="43"/>
            <p:cNvSpPr/>
            <p:nvPr/>
          </p:nvSpPr>
          <p:spPr>
            <a:xfrm flipH="false" flipV="false" rot="0">
              <a:off x="0" y="0"/>
              <a:ext cx="1984629" cy="1253109"/>
            </a:xfrm>
            <a:custGeom>
              <a:avLst/>
              <a:gdLst/>
              <a:ahLst/>
              <a:cxnLst/>
              <a:rect r="r" b="b" t="t" l="l"/>
              <a:pathLst>
                <a:path h="1253109" w="1984629">
                  <a:moveTo>
                    <a:pt x="0" y="225552"/>
                  </a:moveTo>
                  <a:cubicBezTo>
                    <a:pt x="0" y="100965"/>
                    <a:pt x="100965" y="0"/>
                    <a:pt x="225552" y="0"/>
                  </a:cubicBezTo>
                  <a:lnTo>
                    <a:pt x="1759077" y="0"/>
                  </a:lnTo>
                  <a:cubicBezTo>
                    <a:pt x="1883664" y="0"/>
                    <a:pt x="1984629" y="100965"/>
                    <a:pt x="1984629" y="225552"/>
                  </a:cubicBezTo>
                  <a:lnTo>
                    <a:pt x="1984629" y="1027557"/>
                  </a:lnTo>
                  <a:cubicBezTo>
                    <a:pt x="1984629" y="1152144"/>
                    <a:pt x="1883664" y="1253109"/>
                    <a:pt x="1759077" y="1253109"/>
                  </a:cubicBezTo>
                  <a:lnTo>
                    <a:pt x="225552" y="1253109"/>
                  </a:lnTo>
                  <a:cubicBezTo>
                    <a:pt x="100965" y="1253109"/>
                    <a:pt x="0" y="1152144"/>
                    <a:pt x="0" y="1027557"/>
                  </a:cubicBezTo>
                  <a:close/>
                </a:path>
              </a:pathLst>
            </a:custGeom>
            <a:solidFill>
              <a:srgbClr val="1448C8"/>
            </a:solidFill>
            <a:ln w="25400" cap="sq">
              <a:solidFill>
                <a:srgbClr val="1448C8"/>
              </a:solidFill>
              <a:prstDash val="solid"/>
              <a:miter/>
            </a:ln>
          </p:spPr>
        </p:sp>
      </p:grpSp>
      <p:grpSp>
        <p:nvGrpSpPr>
          <p:cNvPr name="Group 44" id="44"/>
          <p:cNvGrpSpPr/>
          <p:nvPr/>
        </p:nvGrpSpPr>
        <p:grpSpPr>
          <a:xfrm rot="0">
            <a:off x="1133856" y="5303520"/>
            <a:ext cx="1463040" cy="914400"/>
            <a:chOff x="0" y="0"/>
            <a:chExt cx="1950720" cy="1219200"/>
          </a:xfrm>
        </p:grpSpPr>
        <p:sp>
          <p:nvSpPr>
            <p:cNvPr name="Freeform 45" id="45"/>
            <p:cNvSpPr/>
            <p:nvPr/>
          </p:nvSpPr>
          <p:spPr>
            <a:xfrm flipH="false" flipV="false" rot="0">
              <a:off x="0" y="0"/>
              <a:ext cx="1950720" cy="1219200"/>
            </a:xfrm>
            <a:custGeom>
              <a:avLst/>
              <a:gdLst/>
              <a:ahLst/>
              <a:cxnLst/>
              <a:rect r="r" b="b" t="t" l="l"/>
              <a:pathLst>
                <a:path h="1219200" w="1950720">
                  <a:moveTo>
                    <a:pt x="0" y="0"/>
                  </a:moveTo>
                  <a:lnTo>
                    <a:pt x="1950720" y="0"/>
                  </a:lnTo>
                  <a:lnTo>
                    <a:pt x="1950720" y="1219200"/>
                  </a:lnTo>
                  <a:lnTo>
                    <a:pt x="0" y="1219200"/>
                  </a:lnTo>
                  <a:close/>
                </a:path>
              </a:pathLst>
            </a:custGeom>
            <a:blipFill>
              <a:blip r:embed="rId4">
                <a:alphaModFix amt="0"/>
              </a:blip>
              <a:stretch>
                <a:fillRect l="-30189" t="0" r="-30189" b="0"/>
              </a:stretch>
            </a:blipFill>
          </p:spPr>
        </p:sp>
        <p:sp>
          <p:nvSpPr>
            <p:cNvPr name="TextBox 46" id="46"/>
            <p:cNvSpPr txBox="true"/>
            <p:nvPr/>
          </p:nvSpPr>
          <p:spPr>
            <a:xfrm>
              <a:off x="0" y="-9525"/>
              <a:ext cx="1950720" cy="1228725"/>
            </a:xfrm>
            <a:prstGeom prst="rect">
              <a:avLst/>
            </a:prstGeom>
          </p:spPr>
          <p:txBody>
            <a:bodyPr anchor="ctr" rtlCol="false" tIns="0" lIns="0" bIns="0" rIns="0"/>
            <a:lstStyle/>
            <a:p>
              <a:pPr algn="ctr">
                <a:lnSpc>
                  <a:spcPts val="4799"/>
                </a:lnSpc>
              </a:pPr>
              <a:r>
                <a:rPr lang="en-US" sz="3999" b="true">
                  <a:solidFill>
                    <a:srgbClr val="FFC81E"/>
                  </a:solidFill>
                  <a:latin typeface="Arial Bold"/>
                  <a:ea typeface="Arial Bold"/>
                  <a:cs typeface="Arial Bold"/>
                  <a:sym typeface="Arial Bold"/>
                </a:rPr>
                <a:t>20</a:t>
              </a:r>
            </a:p>
          </p:txBody>
        </p:sp>
      </p:grpSp>
      <p:sp>
        <p:nvSpPr>
          <p:cNvPr name="TextBox 47" id="47"/>
          <p:cNvSpPr txBox="true"/>
          <p:nvPr/>
        </p:nvSpPr>
        <p:spPr>
          <a:xfrm rot="0">
            <a:off x="2926080" y="5257419"/>
            <a:ext cx="7680960" cy="521589"/>
          </a:xfrm>
          <a:prstGeom prst="rect">
            <a:avLst/>
          </a:prstGeom>
        </p:spPr>
        <p:txBody>
          <a:bodyPr anchor="t" rtlCol="false" tIns="0" lIns="0" bIns="0" rIns="0">
            <a:spAutoFit/>
          </a:bodyPr>
          <a:lstStyle/>
          <a:p>
            <a:pPr algn="l">
              <a:lnSpc>
                <a:spcPts val="2999"/>
              </a:lnSpc>
            </a:pPr>
            <a:r>
              <a:rPr lang="en-US" sz="2499" b="true">
                <a:solidFill>
                  <a:srgbClr val="0A1F44"/>
                </a:solidFill>
                <a:latin typeface="Arial Bold"/>
                <a:ea typeface="Arial Bold"/>
                <a:cs typeface="Arial Bold"/>
                <a:sym typeface="Arial Bold"/>
              </a:rPr>
              <a:t>UI/UX &amp; Responsivitas</a:t>
            </a:r>
          </a:p>
        </p:txBody>
      </p:sp>
      <p:sp>
        <p:nvSpPr>
          <p:cNvPr name="TextBox 48" id="48"/>
          <p:cNvSpPr txBox="true"/>
          <p:nvPr/>
        </p:nvSpPr>
        <p:spPr>
          <a:xfrm rot="0">
            <a:off x="2926080" y="5777484"/>
            <a:ext cx="8412480" cy="513588"/>
          </a:xfrm>
          <a:prstGeom prst="rect">
            <a:avLst/>
          </a:prstGeom>
        </p:spPr>
        <p:txBody>
          <a:bodyPr anchor="t" rtlCol="false" tIns="0" lIns="0" bIns="0" rIns="0">
            <a:spAutoFit/>
          </a:bodyPr>
          <a:lstStyle/>
          <a:p>
            <a:pPr algn="l">
              <a:lnSpc>
                <a:spcPts val="2400"/>
              </a:lnSpc>
            </a:pPr>
            <a:r>
              <a:rPr lang="en-US" sz="2000">
                <a:solidFill>
                  <a:srgbClr val="5B6B85"/>
                </a:solidFill>
                <a:latin typeface="Calibri (MS)"/>
                <a:ea typeface="Calibri (MS)"/>
                <a:cs typeface="Calibri (MS)"/>
                <a:sym typeface="Calibri (MS)"/>
              </a:rPr>
              <a:t>Layout mobile &amp; desktop, visual tidak generik, animasi dan hover</a:t>
            </a:r>
          </a:p>
        </p:txBody>
      </p:sp>
      <p:grpSp>
        <p:nvGrpSpPr>
          <p:cNvPr name="Group 49" id="49"/>
          <p:cNvGrpSpPr/>
          <p:nvPr/>
        </p:nvGrpSpPr>
        <p:grpSpPr>
          <a:xfrm rot="0">
            <a:off x="11691623" y="5601719"/>
            <a:ext cx="5146043" cy="318011"/>
            <a:chOff x="0" y="0"/>
            <a:chExt cx="6861391" cy="424015"/>
          </a:xfrm>
        </p:grpSpPr>
        <p:sp>
          <p:nvSpPr>
            <p:cNvPr name="Freeform 50" id="50"/>
            <p:cNvSpPr/>
            <p:nvPr/>
          </p:nvSpPr>
          <p:spPr>
            <a:xfrm flipH="false" flipV="false" rot="0">
              <a:off x="0" y="0"/>
              <a:ext cx="6861302" cy="423926"/>
            </a:xfrm>
            <a:custGeom>
              <a:avLst/>
              <a:gdLst/>
              <a:ahLst/>
              <a:cxnLst/>
              <a:rect r="r" b="b" t="t" l="l"/>
              <a:pathLst>
                <a:path h="423926" w="6861302">
                  <a:moveTo>
                    <a:pt x="0" y="211963"/>
                  </a:moveTo>
                  <a:cubicBezTo>
                    <a:pt x="0" y="94869"/>
                    <a:pt x="94869" y="0"/>
                    <a:pt x="211963" y="0"/>
                  </a:cubicBezTo>
                  <a:lnTo>
                    <a:pt x="6649339" y="0"/>
                  </a:lnTo>
                  <a:cubicBezTo>
                    <a:pt x="6766433" y="0"/>
                    <a:pt x="6861302" y="94869"/>
                    <a:pt x="6861302" y="211963"/>
                  </a:cubicBezTo>
                  <a:cubicBezTo>
                    <a:pt x="6861302" y="329057"/>
                    <a:pt x="6766433" y="423926"/>
                    <a:pt x="6649339" y="423926"/>
                  </a:cubicBezTo>
                  <a:lnTo>
                    <a:pt x="211963" y="423926"/>
                  </a:lnTo>
                  <a:cubicBezTo>
                    <a:pt x="94869" y="424053"/>
                    <a:pt x="0" y="329057"/>
                    <a:pt x="0" y="211963"/>
                  </a:cubicBezTo>
                  <a:close/>
                </a:path>
              </a:pathLst>
            </a:custGeom>
            <a:solidFill>
              <a:srgbClr val="E8F0FF"/>
            </a:solidFill>
            <a:ln w="25400" cap="sq">
              <a:solidFill>
                <a:srgbClr val="E8F0FF"/>
              </a:solidFill>
              <a:prstDash val="solid"/>
              <a:miter/>
            </a:ln>
          </p:spPr>
        </p:sp>
      </p:grpSp>
      <p:grpSp>
        <p:nvGrpSpPr>
          <p:cNvPr name="Group 51" id="51"/>
          <p:cNvGrpSpPr/>
          <p:nvPr/>
        </p:nvGrpSpPr>
        <p:grpSpPr>
          <a:xfrm rot="0">
            <a:off x="11691623" y="5601719"/>
            <a:ext cx="4121915" cy="318011"/>
            <a:chOff x="0" y="0"/>
            <a:chExt cx="5495887" cy="424015"/>
          </a:xfrm>
        </p:grpSpPr>
        <p:sp>
          <p:nvSpPr>
            <p:cNvPr name="Freeform 52" id="52"/>
            <p:cNvSpPr/>
            <p:nvPr/>
          </p:nvSpPr>
          <p:spPr>
            <a:xfrm flipH="false" flipV="false" rot="0">
              <a:off x="0" y="0"/>
              <a:ext cx="5495798" cy="423926"/>
            </a:xfrm>
            <a:custGeom>
              <a:avLst/>
              <a:gdLst/>
              <a:ahLst/>
              <a:cxnLst/>
              <a:rect r="r" b="b" t="t" l="l"/>
              <a:pathLst>
                <a:path h="423926" w="5495798">
                  <a:moveTo>
                    <a:pt x="0" y="211963"/>
                  </a:moveTo>
                  <a:cubicBezTo>
                    <a:pt x="0" y="94869"/>
                    <a:pt x="94869" y="0"/>
                    <a:pt x="211963" y="0"/>
                  </a:cubicBezTo>
                  <a:lnTo>
                    <a:pt x="5283835" y="0"/>
                  </a:lnTo>
                  <a:cubicBezTo>
                    <a:pt x="5400929" y="0"/>
                    <a:pt x="5495798" y="94869"/>
                    <a:pt x="5495798" y="211963"/>
                  </a:cubicBezTo>
                  <a:cubicBezTo>
                    <a:pt x="5495798" y="329057"/>
                    <a:pt x="5400929" y="423926"/>
                    <a:pt x="5283835" y="423926"/>
                  </a:cubicBezTo>
                  <a:lnTo>
                    <a:pt x="211963" y="423926"/>
                  </a:lnTo>
                  <a:cubicBezTo>
                    <a:pt x="94869" y="424053"/>
                    <a:pt x="0" y="329057"/>
                    <a:pt x="0" y="211963"/>
                  </a:cubicBezTo>
                  <a:close/>
                </a:path>
              </a:pathLst>
            </a:custGeom>
            <a:solidFill>
              <a:srgbClr val="1448C8"/>
            </a:solidFill>
            <a:ln w="25400" cap="sq">
              <a:solidFill>
                <a:srgbClr val="1448C8"/>
              </a:solidFill>
              <a:prstDash val="solid"/>
              <a:miter/>
            </a:ln>
          </p:spPr>
        </p:sp>
      </p:grpSp>
      <p:grpSp>
        <p:nvGrpSpPr>
          <p:cNvPr name="Group 53" id="53"/>
          <p:cNvGrpSpPr/>
          <p:nvPr/>
        </p:nvGrpSpPr>
        <p:grpSpPr>
          <a:xfrm rot="0">
            <a:off x="904875" y="6574155"/>
            <a:ext cx="16478250" cy="1299210"/>
            <a:chOff x="0" y="0"/>
            <a:chExt cx="21971000" cy="1732280"/>
          </a:xfrm>
        </p:grpSpPr>
        <p:sp>
          <p:nvSpPr>
            <p:cNvPr name="Freeform 54" id="54"/>
            <p:cNvSpPr/>
            <p:nvPr/>
          </p:nvSpPr>
          <p:spPr>
            <a:xfrm flipH="false" flipV="false" rot="0">
              <a:off x="0" y="0"/>
              <a:ext cx="21971000" cy="1732280"/>
            </a:xfrm>
            <a:custGeom>
              <a:avLst/>
              <a:gdLst/>
              <a:ahLst/>
              <a:cxnLst/>
              <a:rect r="r" b="b" t="t" l="l"/>
              <a:pathLst>
                <a:path h="1732280" w="21971000">
                  <a:moveTo>
                    <a:pt x="0" y="197993"/>
                  </a:moveTo>
                  <a:cubicBezTo>
                    <a:pt x="0" y="88646"/>
                    <a:pt x="88646" y="0"/>
                    <a:pt x="197993" y="0"/>
                  </a:cubicBezTo>
                  <a:lnTo>
                    <a:pt x="21773007" y="0"/>
                  </a:lnTo>
                  <a:cubicBezTo>
                    <a:pt x="21882354" y="0"/>
                    <a:pt x="21971000" y="88646"/>
                    <a:pt x="21971000" y="197993"/>
                  </a:cubicBezTo>
                  <a:lnTo>
                    <a:pt x="21971000" y="1534287"/>
                  </a:lnTo>
                  <a:cubicBezTo>
                    <a:pt x="21971000" y="1643634"/>
                    <a:pt x="21882354" y="1732280"/>
                    <a:pt x="21773007" y="1732280"/>
                  </a:cubicBezTo>
                  <a:lnTo>
                    <a:pt x="197993" y="1732280"/>
                  </a:lnTo>
                  <a:cubicBezTo>
                    <a:pt x="88646" y="1732280"/>
                    <a:pt x="0" y="1643634"/>
                    <a:pt x="0" y="1534287"/>
                  </a:cubicBezTo>
                  <a:close/>
                </a:path>
              </a:pathLst>
            </a:custGeom>
            <a:solidFill>
              <a:srgbClr val="FFFFFF">
                <a:alpha val="50000"/>
              </a:srgbClr>
            </a:solidFill>
            <a:ln w="19050" cap="sq">
              <a:solidFill>
                <a:srgbClr val="D6E0F2"/>
              </a:solidFill>
              <a:prstDash val="solid"/>
              <a:miter/>
            </a:ln>
          </p:spPr>
        </p:sp>
      </p:grpSp>
      <p:grpSp>
        <p:nvGrpSpPr>
          <p:cNvPr name="Group 55" id="55"/>
          <p:cNvGrpSpPr/>
          <p:nvPr/>
        </p:nvGrpSpPr>
        <p:grpSpPr>
          <a:xfrm rot="0">
            <a:off x="1121159" y="6753863"/>
            <a:ext cx="1488443" cy="939803"/>
            <a:chOff x="0" y="0"/>
            <a:chExt cx="1984591" cy="1253071"/>
          </a:xfrm>
        </p:grpSpPr>
        <p:sp>
          <p:nvSpPr>
            <p:cNvPr name="Freeform 56" id="56"/>
            <p:cNvSpPr/>
            <p:nvPr/>
          </p:nvSpPr>
          <p:spPr>
            <a:xfrm flipH="false" flipV="false" rot="0">
              <a:off x="0" y="0"/>
              <a:ext cx="1984629" cy="1253109"/>
            </a:xfrm>
            <a:custGeom>
              <a:avLst/>
              <a:gdLst/>
              <a:ahLst/>
              <a:cxnLst/>
              <a:rect r="r" b="b" t="t" l="l"/>
              <a:pathLst>
                <a:path h="1253109" w="1984629">
                  <a:moveTo>
                    <a:pt x="0" y="225552"/>
                  </a:moveTo>
                  <a:cubicBezTo>
                    <a:pt x="0" y="100965"/>
                    <a:pt x="100965" y="0"/>
                    <a:pt x="225552" y="0"/>
                  </a:cubicBezTo>
                  <a:lnTo>
                    <a:pt x="1759077" y="0"/>
                  </a:lnTo>
                  <a:cubicBezTo>
                    <a:pt x="1883664" y="0"/>
                    <a:pt x="1984629" y="100965"/>
                    <a:pt x="1984629" y="225552"/>
                  </a:cubicBezTo>
                  <a:lnTo>
                    <a:pt x="1984629" y="1027557"/>
                  </a:lnTo>
                  <a:cubicBezTo>
                    <a:pt x="1984629" y="1152144"/>
                    <a:pt x="1883664" y="1253109"/>
                    <a:pt x="1759077" y="1253109"/>
                  </a:cubicBezTo>
                  <a:lnTo>
                    <a:pt x="225552" y="1253109"/>
                  </a:lnTo>
                  <a:cubicBezTo>
                    <a:pt x="100965" y="1253109"/>
                    <a:pt x="0" y="1152144"/>
                    <a:pt x="0" y="1027557"/>
                  </a:cubicBezTo>
                  <a:close/>
                </a:path>
              </a:pathLst>
            </a:custGeom>
            <a:solidFill>
              <a:srgbClr val="1448C8"/>
            </a:solidFill>
            <a:ln w="25400" cap="sq">
              <a:solidFill>
                <a:srgbClr val="1448C8"/>
              </a:solidFill>
              <a:prstDash val="solid"/>
              <a:miter/>
            </a:ln>
          </p:spPr>
        </p:sp>
      </p:grpSp>
      <p:grpSp>
        <p:nvGrpSpPr>
          <p:cNvPr name="Group 57" id="57"/>
          <p:cNvGrpSpPr/>
          <p:nvPr/>
        </p:nvGrpSpPr>
        <p:grpSpPr>
          <a:xfrm rot="0">
            <a:off x="1133856" y="6766560"/>
            <a:ext cx="1463040" cy="914400"/>
            <a:chOff x="0" y="0"/>
            <a:chExt cx="1950720" cy="1219200"/>
          </a:xfrm>
        </p:grpSpPr>
        <p:sp>
          <p:nvSpPr>
            <p:cNvPr name="Freeform 58" id="58"/>
            <p:cNvSpPr/>
            <p:nvPr/>
          </p:nvSpPr>
          <p:spPr>
            <a:xfrm flipH="false" flipV="false" rot="0">
              <a:off x="0" y="0"/>
              <a:ext cx="1950720" cy="1219200"/>
            </a:xfrm>
            <a:custGeom>
              <a:avLst/>
              <a:gdLst/>
              <a:ahLst/>
              <a:cxnLst/>
              <a:rect r="r" b="b" t="t" l="l"/>
              <a:pathLst>
                <a:path h="1219200" w="1950720">
                  <a:moveTo>
                    <a:pt x="0" y="0"/>
                  </a:moveTo>
                  <a:lnTo>
                    <a:pt x="1950720" y="0"/>
                  </a:lnTo>
                  <a:lnTo>
                    <a:pt x="1950720" y="1219200"/>
                  </a:lnTo>
                  <a:lnTo>
                    <a:pt x="0" y="1219200"/>
                  </a:lnTo>
                  <a:close/>
                </a:path>
              </a:pathLst>
            </a:custGeom>
            <a:blipFill>
              <a:blip r:embed="rId4">
                <a:alphaModFix amt="0"/>
              </a:blip>
              <a:stretch>
                <a:fillRect l="-30189" t="0" r="-30189" b="0"/>
              </a:stretch>
            </a:blipFill>
          </p:spPr>
        </p:sp>
        <p:sp>
          <p:nvSpPr>
            <p:cNvPr name="TextBox 59" id="59"/>
            <p:cNvSpPr txBox="true"/>
            <p:nvPr/>
          </p:nvSpPr>
          <p:spPr>
            <a:xfrm>
              <a:off x="0" y="-9525"/>
              <a:ext cx="1950720" cy="1228725"/>
            </a:xfrm>
            <a:prstGeom prst="rect">
              <a:avLst/>
            </a:prstGeom>
          </p:spPr>
          <p:txBody>
            <a:bodyPr anchor="ctr" rtlCol="false" tIns="0" lIns="0" bIns="0" rIns="0"/>
            <a:lstStyle/>
            <a:p>
              <a:pPr algn="ctr">
                <a:lnSpc>
                  <a:spcPts val="4799"/>
                </a:lnSpc>
              </a:pPr>
              <a:r>
                <a:rPr lang="en-US" sz="3999" b="true">
                  <a:solidFill>
                    <a:srgbClr val="FFC81E"/>
                  </a:solidFill>
                  <a:latin typeface="Arial Bold"/>
                  <a:ea typeface="Arial Bold"/>
                  <a:cs typeface="Arial Bold"/>
                  <a:sym typeface="Arial Bold"/>
                </a:rPr>
                <a:t>15</a:t>
              </a:r>
            </a:p>
          </p:txBody>
        </p:sp>
      </p:grpSp>
      <p:sp>
        <p:nvSpPr>
          <p:cNvPr name="TextBox 60" id="60"/>
          <p:cNvSpPr txBox="true"/>
          <p:nvPr/>
        </p:nvSpPr>
        <p:spPr>
          <a:xfrm rot="0">
            <a:off x="2926080" y="6720459"/>
            <a:ext cx="7680960" cy="521589"/>
          </a:xfrm>
          <a:prstGeom prst="rect">
            <a:avLst/>
          </a:prstGeom>
        </p:spPr>
        <p:txBody>
          <a:bodyPr anchor="t" rtlCol="false" tIns="0" lIns="0" bIns="0" rIns="0">
            <a:spAutoFit/>
          </a:bodyPr>
          <a:lstStyle/>
          <a:p>
            <a:pPr algn="l">
              <a:lnSpc>
                <a:spcPts val="2999"/>
              </a:lnSpc>
            </a:pPr>
            <a:r>
              <a:rPr lang="en-US" sz="2499" b="true">
                <a:solidFill>
                  <a:srgbClr val="0A1F44"/>
                </a:solidFill>
                <a:latin typeface="Arial Bold"/>
                <a:ea typeface="Arial Bold"/>
                <a:cs typeface="Arial Bold"/>
                <a:sym typeface="Arial Bold"/>
              </a:rPr>
              <a:t>Kualitas Teknis</a:t>
            </a:r>
          </a:p>
        </p:txBody>
      </p:sp>
      <p:sp>
        <p:nvSpPr>
          <p:cNvPr name="TextBox 61" id="61"/>
          <p:cNvSpPr txBox="true"/>
          <p:nvPr/>
        </p:nvSpPr>
        <p:spPr>
          <a:xfrm rot="0">
            <a:off x="2926080" y="7240524"/>
            <a:ext cx="8412480" cy="513588"/>
          </a:xfrm>
          <a:prstGeom prst="rect">
            <a:avLst/>
          </a:prstGeom>
        </p:spPr>
        <p:txBody>
          <a:bodyPr anchor="t" rtlCol="false" tIns="0" lIns="0" bIns="0" rIns="0">
            <a:spAutoFit/>
          </a:bodyPr>
          <a:lstStyle/>
          <a:p>
            <a:pPr algn="l">
              <a:lnSpc>
                <a:spcPts val="2400"/>
              </a:lnSpc>
            </a:pPr>
            <a:r>
              <a:rPr lang="en-US" sz="2000">
                <a:solidFill>
                  <a:srgbClr val="5B6B85"/>
                </a:solidFill>
                <a:latin typeface="Calibri (MS)"/>
                <a:ea typeface="Calibri (MS)"/>
                <a:cs typeface="Calibri (MS)"/>
                <a:sym typeface="Calibri (MS)"/>
              </a:rPr>
              <a:t>Struktur folder, kualitas kode, performa, dan pesan commit</a:t>
            </a:r>
          </a:p>
        </p:txBody>
      </p:sp>
      <p:grpSp>
        <p:nvGrpSpPr>
          <p:cNvPr name="Group 62" id="62"/>
          <p:cNvGrpSpPr/>
          <p:nvPr/>
        </p:nvGrpSpPr>
        <p:grpSpPr>
          <a:xfrm rot="0">
            <a:off x="11691623" y="7064759"/>
            <a:ext cx="5146043" cy="318011"/>
            <a:chOff x="0" y="0"/>
            <a:chExt cx="6861391" cy="424015"/>
          </a:xfrm>
        </p:grpSpPr>
        <p:sp>
          <p:nvSpPr>
            <p:cNvPr name="Freeform 63" id="63"/>
            <p:cNvSpPr/>
            <p:nvPr/>
          </p:nvSpPr>
          <p:spPr>
            <a:xfrm flipH="false" flipV="false" rot="0">
              <a:off x="0" y="0"/>
              <a:ext cx="6861302" cy="423926"/>
            </a:xfrm>
            <a:custGeom>
              <a:avLst/>
              <a:gdLst/>
              <a:ahLst/>
              <a:cxnLst/>
              <a:rect r="r" b="b" t="t" l="l"/>
              <a:pathLst>
                <a:path h="423926" w="6861302">
                  <a:moveTo>
                    <a:pt x="0" y="211963"/>
                  </a:moveTo>
                  <a:cubicBezTo>
                    <a:pt x="0" y="94869"/>
                    <a:pt x="94869" y="0"/>
                    <a:pt x="211963" y="0"/>
                  </a:cubicBezTo>
                  <a:lnTo>
                    <a:pt x="6649339" y="0"/>
                  </a:lnTo>
                  <a:cubicBezTo>
                    <a:pt x="6766433" y="0"/>
                    <a:pt x="6861302" y="94869"/>
                    <a:pt x="6861302" y="211963"/>
                  </a:cubicBezTo>
                  <a:cubicBezTo>
                    <a:pt x="6861302" y="329057"/>
                    <a:pt x="6766433" y="423926"/>
                    <a:pt x="6649339" y="423926"/>
                  </a:cubicBezTo>
                  <a:lnTo>
                    <a:pt x="211963" y="423926"/>
                  </a:lnTo>
                  <a:cubicBezTo>
                    <a:pt x="94869" y="424053"/>
                    <a:pt x="0" y="329057"/>
                    <a:pt x="0" y="211963"/>
                  </a:cubicBezTo>
                  <a:close/>
                </a:path>
              </a:pathLst>
            </a:custGeom>
            <a:solidFill>
              <a:srgbClr val="E8F0FF"/>
            </a:solidFill>
            <a:ln w="25400" cap="sq">
              <a:solidFill>
                <a:srgbClr val="E8F0FF"/>
              </a:solidFill>
              <a:prstDash val="solid"/>
              <a:miter/>
            </a:ln>
          </p:spPr>
        </p:sp>
      </p:grpSp>
      <p:grpSp>
        <p:nvGrpSpPr>
          <p:cNvPr name="Group 64" id="64"/>
          <p:cNvGrpSpPr/>
          <p:nvPr/>
        </p:nvGrpSpPr>
        <p:grpSpPr>
          <a:xfrm rot="0">
            <a:off x="11691623" y="7064759"/>
            <a:ext cx="3097787" cy="318011"/>
            <a:chOff x="0" y="0"/>
            <a:chExt cx="4130383" cy="424015"/>
          </a:xfrm>
        </p:grpSpPr>
        <p:sp>
          <p:nvSpPr>
            <p:cNvPr name="Freeform 65" id="65"/>
            <p:cNvSpPr/>
            <p:nvPr/>
          </p:nvSpPr>
          <p:spPr>
            <a:xfrm flipH="false" flipV="false" rot="0">
              <a:off x="0" y="0"/>
              <a:ext cx="4130294" cy="423926"/>
            </a:xfrm>
            <a:custGeom>
              <a:avLst/>
              <a:gdLst/>
              <a:ahLst/>
              <a:cxnLst/>
              <a:rect r="r" b="b" t="t" l="l"/>
              <a:pathLst>
                <a:path h="423926" w="4130294">
                  <a:moveTo>
                    <a:pt x="0" y="211963"/>
                  </a:moveTo>
                  <a:cubicBezTo>
                    <a:pt x="0" y="94869"/>
                    <a:pt x="94869" y="0"/>
                    <a:pt x="211963" y="0"/>
                  </a:cubicBezTo>
                  <a:lnTo>
                    <a:pt x="3918331" y="0"/>
                  </a:lnTo>
                  <a:cubicBezTo>
                    <a:pt x="4035425" y="0"/>
                    <a:pt x="4130294" y="94869"/>
                    <a:pt x="4130294" y="211963"/>
                  </a:cubicBezTo>
                  <a:cubicBezTo>
                    <a:pt x="4130294" y="329057"/>
                    <a:pt x="4035425" y="423926"/>
                    <a:pt x="3918331" y="423926"/>
                  </a:cubicBezTo>
                  <a:lnTo>
                    <a:pt x="211963" y="423926"/>
                  </a:lnTo>
                  <a:cubicBezTo>
                    <a:pt x="94869" y="424053"/>
                    <a:pt x="0" y="329057"/>
                    <a:pt x="0" y="211963"/>
                  </a:cubicBezTo>
                  <a:close/>
                </a:path>
              </a:pathLst>
            </a:custGeom>
            <a:solidFill>
              <a:srgbClr val="1448C8"/>
            </a:solidFill>
            <a:ln w="25400" cap="sq">
              <a:solidFill>
                <a:srgbClr val="1448C8"/>
              </a:solidFill>
              <a:prstDash val="solid"/>
              <a:miter/>
            </a:ln>
          </p:spPr>
        </p:sp>
      </p:grpSp>
      <p:grpSp>
        <p:nvGrpSpPr>
          <p:cNvPr name="Group 66" id="66"/>
          <p:cNvGrpSpPr/>
          <p:nvPr/>
        </p:nvGrpSpPr>
        <p:grpSpPr>
          <a:xfrm rot="0">
            <a:off x="904875" y="8037195"/>
            <a:ext cx="16478250" cy="1299210"/>
            <a:chOff x="0" y="0"/>
            <a:chExt cx="21971000" cy="1732280"/>
          </a:xfrm>
        </p:grpSpPr>
        <p:sp>
          <p:nvSpPr>
            <p:cNvPr name="Freeform 67" id="67"/>
            <p:cNvSpPr/>
            <p:nvPr/>
          </p:nvSpPr>
          <p:spPr>
            <a:xfrm flipH="false" flipV="false" rot="0">
              <a:off x="0" y="0"/>
              <a:ext cx="21971000" cy="1732280"/>
            </a:xfrm>
            <a:custGeom>
              <a:avLst/>
              <a:gdLst/>
              <a:ahLst/>
              <a:cxnLst/>
              <a:rect r="r" b="b" t="t" l="l"/>
              <a:pathLst>
                <a:path h="1732280" w="21971000">
                  <a:moveTo>
                    <a:pt x="0" y="197993"/>
                  </a:moveTo>
                  <a:cubicBezTo>
                    <a:pt x="0" y="88646"/>
                    <a:pt x="88646" y="0"/>
                    <a:pt x="197993" y="0"/>
                  </a:cubicBezTo>
                  <a:lnTo>
                    <a:pt x="21773007" y="0"/>
                  </a:lnTo>
                  <a:cubicBezTo>
                    <a:pt x="21882354" y="0"/>
                    <a:pt x="21971000" y="88646"/>
                    <a:pt x="21971000" y="197993"/>
                  </a:cubicBezTo>
                  <a:lnTo>
                    <a:pt x="21971000" y="1534287"/>
                  </a:lnTo>
                  <a:cubicBezTo>
                    <a:pt x="21971000" y="1643634"/>
                    <a:pt x="21882354" y="1732280"/>
                    <a:pt x="21773007" y="1732280"/>
                  </a:cubicBezTo>
                  <a:lnTo>
                    <a:pt x="197993" y="1732280"/>
                  </a:lnTo>
                  <a:cubicBezTo>
                    <a:pt x="88646" y="1732280"/>
                    <a:pt x="0" y="1643634"/>
                    <a:pt x="0" y="1534287"/>
                  </a:cubicBezTo>
                  <a:close/>
                </a:path>
              </a:pathLst>
            </a:custGeom>
            <a:solidFill>
              <a:srgbClr val="FFFFFF"/>
            </a:solidFill>
            <a:ln w="19050" cap="sq">
              <a:solidFill>
                <a:srgbClr val="D6E0F2"/>
              </a:solidFill>
              <a:prstDash val="solid"/>
              <a:miter/>
            </a:ln>
          </p:spPr>
        </p:sp>
      </p:grpSp>
      <p:grpSp>
        <p:nvGrpSpPr>
          <p:cNvPr name="Group 68" id="68"/>
          <p:cNvGrpSpPr/>
          <p:nvPr/>
        </p:nvGrpSpPr>
        <p:grpSpPr>
          <a:xfrm rot="0">
            <a:off x="1121159" y="8216903"/>
            <a:ext cx="1488443" cy="939803"/>
            <a:chOff x="0" y="0"/>
            <a:chExt cx="1984591" cy="1253071"/>
          </a:xfrm>
        </p:grpSpPr>
        <p:sp>
          <p:nvSpPr>
            <p:cNvPr name="Freeform 69" id="69"/>
            <p:cNvSpPr/>
            <p:nvPr/>
          </p:nvSpPr>
          <p:spPr>
            <a:xfrm flipH="false" flipV="false" rot="0">
              <a:off x="0" y="0"/>
              <a:ext cx="1984629" cy="1253109"/>
            </a:xfrm>
            <a:custGeom>
              <a:avLst/>
              <a:gdLst/>
              <a:ahLst/>
              <a:cxnLst/>
              <a:rect r="r" b="b" t="t" l="l"/>
              <a:pathLst>
                <a:path h="1253109" w="1984629">
                  <a:moveTo>
                    <a:pt x="0" y="225552"/>
                  </a:moveTo>
                  <a:cubicBezTo>
                    <a:pt x="0" y="100965"/>
                    <a:pt x="100965" y="0"/>
                    <a:pt x="225552" y="0"/>
                  </a:cubicBezTo>
                  <a:lnTo>
                    <a:pt x="1759077" y="0"/>
                  </a:lnTo>
                  <a:cubicBezTo>
                    <a:pt x="1883664" y="0"/>
                    <a:pt x="1984629" y="100965"/>
                    <a:pt x="1984629" y="225552"/>
                  </a:cubicBezTo>
                  <a:lnTo>
                    <a:pt x="1984629" y="1027557"/>
                  </a:lnTo>
                  <a:cubicBezTo>
                    <a:pt x="1984629" y="1152144"/>
                    <a:pt x="1883664" y="1253109"/>
                    <a:pt x="1759077" y="1253109"/>
                  </a:cubicBezTo>
                  <a:lnTo>
                    <a:pt x="225552" y="1253109"/>
                  </a:lnTo>
                  <a:cubicBezTo>
                    <a:pt x="100965" y="1253109"/>
                    <a:pt x="0" y="1152144"/>
                    <a:pt x="0" y="1027557"/>
                  </a:cubicBezTo>
                  <a:close/>
                </a:path>
              </a:pathLst>
            </a:custGeom>
            <a:solidFill>
              <a:srgbClr val="1448C8"/>
            </a:solidFill>
            <a:ln w="25400" cap="sq">
              <a:solidFill>
                <a:srgbClr val="1448C8"/>
              </a:solidFill>
              <a:prstDash val="solid"/>
              <a:miter/>
            </a:ln>
          </p:spPr>
        </p:sp>
      </p:grpSp>
      <p:grpSp>
        <p:nvGrpSpPr>
          <p:cNvPr name="Group 70" id="70"/>
          <p:cNvGrpSpPr/>
          <p:nvPr/>
        </p:nvGrpSpPr>
        <p:grpSpPr>
          <a:xfrm rot="0">
            <a:off x="1133856" y="8229600"/>
            <a:ext cx="1463040" cy="914400"/>
            <a:chOff x="0" y="0"/>
            <a:chExt cx="1950720" cy="1219200"/>
          </a:xfrm>
        </p:grpSpPr>
        <p:sp>
          <p:nvSpPr>
            <p:cNvPr name="Freeform 71" id="71"/>
            <p:cNvSpPr/>
            <p:nvPr/>
          </p:nvSpPr>
          <p:spPr>
            <a:xfrm flipH="false" flipV="false" rot="0">
              <a:off x="0" y="0"/>
              <a:ext cx="1950720" cy="1219200"/>
            </a:xfrm>
            <a:custGeom>
              <a:avLst/>
              <a:gdLst/>
              <a:ahLst/>
              <a:cxnLst/>
              <a:rect r="r" b="b" t="t" l="l"/>
              <a:pathLst>
                <a:path h="1219200" w="1950720">
                  <a:moveTo>
                    <a:pt x="0" y="0"/>
                  </a:moveTo>
                  <a:lnTo>
                    <a:pt x="1950720" y="0"/>
                  </a:lnTo>
                  <a:lnTo>
                    <a:pt x="1950720" y="1219200"/>
                  </a:lnTo>
                  <a:lnTo>
                    <a:pt x="0" y="1219200"/>
                  </a:lnTo>
                  <a:close/>
                </a:path>
              </a:pathLst>
            </a:custGeom>
            <a:blipFill>
              <a:blip r:embed="rId4">
                <a:alphaModFix amt="0"/>
              </a:blip>
              <a:stretch>
                <a:fillRect l="-30189" t="0" r="-30189" b="0"/>
              </a:stretch>
            </a:blipFill>
          </p:spPr>
        </p:sp>
        <p:sp>
          <p:nvSpPr>
            <p:cNvPr name="TextBox 72" id="72"/>
            <p:cNvSpPr txBox="true"/>
            <p:nvPr/>
          </p:nvSpPr>
          <p:spPr>
            <a:xfrm>
              <a:off x="0" y="-9525"/>
              <a:ext cx="1950720" cy="1228725"/>
            </a:xfrm>
            <a:prstGeom prst="rect">
              <a:avLst/>
            </a:prstGeom>
          </p:spPr>
          <p:txBody>
            <a:bodyPr anchor="ctr" rtlCol="false" tIns="0" lIns="0" bIns="0" rIns="0"/>
            <a:lstStyle/>
            <a:p>
              <a:pPr algn="ctr">
                <a:lnSpc>
                  <a:spcPts val="4799"/>
                </a:lnSpc>
              </a:pPr>
              <a:r>
                <a:rPr lang="en-US" sz="3999" b="true">
                  <a:solidFill>
                    <a:srgbClr val="FFC81E"/>
                  </a:solidFill>
                  <a:latin typeface="Arial Bold"/>
                  <a:ea typeface="Arial Bold"/>
                  <a:cs typeface="Arial Bold"/>
                  <a:sym typeface="Arial Bold"/>
                </a:rPr>
                <a:t>15</a:t>
              </a:r>
            </a:p>
          </p:txBody>
        </p:sp>
      </p:grpSp>
      <p:sp>
        <p:nvSpPr>
          <p:cNvPr name="TextBox 73" id="73"/>
          <p:cNvSpPr txBox="true"/>
          <p:nvPr/>
        </p:nvSpPr>
        <p:spPr>
          <a:xfrm rot="0">
            <a:off x="2926080" y="8183499"/>
            <a:ext cx="7680960" cy="521589"/>
          </a:xfrm>
          <a:prstGeom prst="rect">
            <a:avLst/>
          </a:prstGeom>
        </p:spPr>
        <p:txBody>
          <a:bodyPr anchor="t" rtlCol="false" tIns="0" lIns="0" bIns="0" rIns="0">
            <a:spAutoFit/>
          </a:bodyPr>
          <a:lstStyle/>
          <a:p>
            <a:pPr algn="l">
              <a:lnSpc>
                <a:spcPts val="2999"/>
              </a:lnSpc>
            </a:pPr>
            <a:r>
              <a:rPr lang="en-US" sz="2499" b="true">
                <a:solidFill>
                  <a:srgbClr val="0A1F44"/>
                </a:solidFill>
                <a:latin typeface="Arial Bold"/>
                <a:ea typeface="Arial Bold"/>
                <a:cs typeface="Arial Bold"/>
                <a:sym typeface="Arial Bold"/>
              </a:rPr>
              <a:t>Inovasi &amp; Kreativitas</a:t>
            </a:r>
          </a:p>
        </p:txBody>
      </p:sp>
      <p:sp>
        <p:nvSpPr>
          <p:cNvPr name="TextBox 74" id="74"/>
          <p:cNvSpPr txBox="true"/>
          <p:nvPr/>
        </p:nvSpPr>
        <p:spPr>
          <a:xfrm rot="0">
            <a:off x="2926080" y="8703564"/>
            <a:ext cx="8412480" cy="513588"/>
          </a:xfrm>
          <a:prstGeom prst="rect">
            <a:avLst/>
          </a:prstGeom>
        </p:spPr>
        <p:txBody>
          <a:bodyPr anchor="t" rtlCol="false" tIns="0" lIns="0" bIns="0" rIns="0">
            <a:spAutoFit/>
          </a:bodyPr>
          <a:lstStyle/>
          <a:p>
            <a:pPr algn="l">
              <a:lnSpc>
                <a:spcPts val="2400"/>
              </a:lnSpc>
            </a:pPr>
            <a:r>
              <a:rPr lang="en-US" sz="2000">
                <a:solidFill>
                  <a:srgbClr val="5B6B85"/>
                </a:solidFill>
                <a:latin typeface="Calibri (MS)"/>
                <a:ea typeface="Calibri (MS)"/>
                <a:cs typeface="Calibri (MS)"/>
                <a:sym typeface="Calibri (MS)"/>
              </a:rPr>
              <a:t>Fitur di luar ketentuan dasar, ide orisinal, nilai guna nyata</a:t>
            </a:r>
          </a:p>
        </p:txBody>
      </p:sp>
      <p:grpSp>
        <p:nvGrpSpPr>
          <p:cNvPr name="Group 75" id="75"/>
          <p:cNvGrpSpPr/>
          <p:nvPr/>
        </p:nvGrpSpPr>
        <p:grpSpPr>
          <a:xfrm rot="0">
            <a:off x="11691623" y="8527799"/>
            <a:ext cx="5146043" cy="318011"/>
            <a:chOff x="0" y="0"/>
            <a:chExt cx="6861391" cy="424015"/>
          </a:xfrm>
        </p:grpSpPr>
        <p:sp>
          <p:nvSpPr>
            <p:cNvPr name="Freeform 76" id="76"/>
            <p:cNvSpPr/>
            <p:nvPr/>
          </p:nvSpPr>
          <p:spPr>
            <a:xfrm flipH="false" flipV="false" rot="0">
              <a:off x="0" y="0"/>
              <a:ext cx="6861302" cy="423926"/>
            </a:xfrm>
            <a:custGeom>
              <a:avLst/>
              <a:gdLst/>
              <a:ahLst/>
              <a:cxnLst/>
              <a:rect r="r" b="b" t="t" l="l"/>
              <a:pathLst>
                <a:path h="423926" w="6861302">
                  <a:moveTo>
                    <a:pt x="0" y="211963"/>
                  </a:moveTo>
                  <a:cubicBezTo>
                    <a:pt x="0" y="94869"/>
                    <a:pt x="94869" y="0"/>
                    <a:pt x="211963" y="0"/>
                  </a:cubicBezTo>
                  <a:lnTo>
                    <a:pt x="6649339" y="0"/>
                  </a:lnTo>
                  <a:cubicBezTo>
                    <a:pt x="6766433" y="0"/>
                    <a:pt x="6861302" y="94869"/>
                    <a:pt x="6861302" y="211963"/>
                  </a:cubicBezTo>
                  <a:cubicBezTo>
                    <a:pt x="6861302" y="329057"/>
                    <a:pt x="6766433" y="423926"/>
                    <a:pt x="6649339" y="423926"/>
                  </a:cubicBezTo>
                  <a:lnTo>
                    <a:pt x="211963" y="423926"/>
                  </a:lnTo>
                  <a:cubicBezTo>
                    <a:pt x="94869" y="424053"/>
                    <a:pt x="0" y="329057"/>
                    <a:pt x="0" y="211963"/>
                  </a:cubicBezTo>
                  <a:close/>
                </a:path>
              </a:pathLst>
            </a:custGeom>
            <a:solidFill>
              <a:srgbClr val="E8F0FF"/>
            </a:solidFill>
            <a:ln w="25400" cap="sq">
              <a:solidFill>
                <a:srgbClr val="E8F0FF"/>
              </a:solidFill>
              <a:prstDash val="solid"/>
              <a:miter/>
            </a:ln>
          </p:spPr>
        </p:sp>
      </p:grpSp>
      <p:grpSp>
        <p:nvGrpSpPr>
          <p:cNvPr name="Group 77" id="77"/>
          <p:cNvGrpSpPr/>
          <p:nvPr/>
        </p:nvGrpSpPr>
        <p:grpSpPr>
          <a:xfrm rot="0">
            <a:off x="11691623" y="8527799"/>
            <a:ext cx="3097787" cy="318011"/>
            <a:chOff x="0" y="0"/>
            <a:chExt cx="4130383" cy="424015"/>
          </a:xfrm>
        </p:grpSpPr>
        <p:sp>
          <p:nvSpPr>
            <p:cNvPr name="Freeform 78" id="78"/>
            <p:cNvSpPr/>
            <p:nvPr/>
          </p:nvSpPr>
          <p:spPr>
            <a:xfrm flipH="false" flipV="false" rot="0">
              <a:off x="0" y="0"/>
              <a:ext cx="4130294" cy="423926"/>
            </a:xfrm>
            <a:custGeom>
              <a:avLst/>
              <a:gdLst/>
              <a:ahLst/>
              <a:cxnLst/>
              <a:rect r="r" b="b" t="t" l="l"/>
              <a:pathLst>
                <a:path h="423926" w="4130294">
                  <a:moveTo>
                    <a:pt x="0" y="211963"/>
                  </a:moveTo>
                  <a:cubicBezTo>
                    <a:pt x="0" y="94869"/>
                    <a:pt x="94869" y="0"/>
                    <a:pt x="211963" y="0"/>
                  </a:cubicBezTo>
                  <a:lnTo>
                    <a:pt x="3918331" y="0"/>
                  </a:lnTo>
                  <a:cubicBezTo>
                    <a:pt x="4035425" y="0"/>
                    <a:pt x="4130294" y="94869"/>
                    <a:pt x="4130294" y="211963"/>
                  </a:cubicBezTo>
                  <a:cubicBezTo>
                    <a:pt x="4130294" y="329057"/>
                    <a:pt x="4035425" y="423926"/>
                    <a:pt x="3918331" y="423926"/>
                  </a:cubicBezTo>
                  <a:lnTo>
                    <a:pt x="211963" y="423926"/>
                  </a:lnTo>
                  <a:cubicBezTo>
                    <a:pt x="94869" y="424053"/>
                    <a:pt x="0" y="329057"/>
                    <a:pt x="0" y="211963"/>
                  </a:cubicBezTo>
                  <a:close/>
                </a:path>
              </a:pathLst>
            </a:custGeom>
            <a:solidFill>
              <a:srgbClr val="1448C8"/>
            </a:solidFill>
            <a:ln w="25400" cap="sq">
              <a:solidFill>
                <a:srgbClr val="1448C8"/>
              </a:solidFill>
              <a:prstDash val="solid"/>
              <a:miter/>
            </a:ln>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15"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08</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Sistem Penilaian — Indikator</a:t>
              </a:r>
            </a:p>
          </p:txBody>
        </p:sp>
      </p:grpSp>
      <p:sp>
        <p:nvSpPr>
          <p:cNvPr name="TextBox 11" id="11"/>
          <p:cNvSpPr txBox="true"/>
          <p:nvPr/>
        </p:nvSpPr>
        <p:spPr>
          <a:xfrm rot="0">
            <a:off x="2194560" y="1305687"/>
            <a:ext cx="15179040" cy="504825"/>
          </a:xfrm>
          <a:prstGeom prst="rect">
            <a:avLst/>
          </a:prstGeom>
        </p:spPr>
        <p:txBody>
          <a:bodyPr anchor="t" rtlCol="false" tIns="0" lIns="0" bIns="0" rIns="0">
            <a:spAutoFit/>
          </a:bodyPr>
          <a:lstStyle/>
          <a:p>
            <a:pPr algn="l">
              <a:lnSpc>
                <a:spcPts val="2760"/>
              </a:lnSpc>
            </a:pPr>
            <a:r>
              <a:rPr lang="en-US" sz="2300">
                <a:solidFill>
                  <a:srgbClr val="5B6B85"/>
                </a:solidFill>
                <a:latin typeface="Calibri (MS)"/>
                <a:ea typeface="Calibri (MS)"/>
                <a:cs typeface="Calibri (MS)"/>
                <a:sym typeface="Calibri (MS)"/>
              </a:rPr>
              <a:t>Hal yang diperiksa dewan juri pada setiap kriteria</a:t>
            </a:r>
          </a:p>
        </p:txBody>
      </p:sp>
      <p:sp>
        <p:nvSpPr>
          <p:cNvPr name="TextBox 12" id="12"/>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3" id="13"/>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aphicFrame>
        <p:nvGraphicFramePr>
          <p:cNvPr name="Table 14" id="14"/>
          <p:cNvGraphicFramePr>
            <a:graphicFrameLocks noGrp="true"/>
          </p:cNvGraphicFramePr>
          <p:nvPr/>
        </p:nvGraphicFramePr>
        <p:xfrm>
          <a:off x="914400" y="2103120"/>
          <a:ext cx="16433800" cy="7264400"/>
        </p:xfrm>
        <a:graphic>
          <a:graphicData uri="http://schemas.openxmlformats.org/drawingml/2006/table">
            <a:tbl>
              <a:tblPr/>
              <a:tblGrid>
                <a:gridCol w="3845887"/>
                <a:gridCol w="1488487"/>
                <a:gridCol w="11099426"/>
              </a:tblGrid>
              <a:tr h="565009">
                <a:tc>
                  <a:txBody>
                    <a:bodyPr anchor="t" rtlCol="false"/>
                    <a:lstStyle/>
                    <a:p>
                      <a:pPr algn="l">
                        <a:lnSpc>
                          <a:spcPts val="2520"/>
                        </a:lnSpc>
                        <a:defRPr/>
                      </a:pPr>
                      <a:r>
                        <a:rPr lang="en-US" sz="2100" b="true">
                          <a:solidFill>
                            <a:srgbClr val="FFFFFF"/>
                          </a:solidFill>
                          <a:latin typeface="Arial Bold"/>
                          <a:ea typeface="Arial Bold"/>
                          <a:cs typeface="Arial Bold"/>
                          <a:sym typeface="Arial Bold"/>
                        </a:rPr>
                        <a:t>Kriteria</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1448C8"/>
                    </a:solidFill>
                  </a:tcPr>
                </a:tc>
                <a:tc>
                  <a:txBody>
                    <a:bodyPr anchor="t" rtlCol="false"/>
                    <a:lstStyle/>
                    <a:p>
                      <a:pPr algn="l">
                        <a:lnSpc>
                          <a:spcPts val="2520"/>
                        </a:lnSpc>
                        <a:defRPr/>
                      </a:pPr>
                      <a:r>
                        <a:rPr lang="en-US" sz="2100" b="true">
                          <a:solidFill>
                            <a:srgbClr val="FFFFFF"/>
                          </a:solidFill>
                          <a:latin typeface="Arial Bold"/>
                          <a:ea typeface="Arial Bold"/>
                          <a:cs typeface="Arial Bold"/>
                          <a:sym typeface="Arial Bold"/>
                        </a:rPr>
                        <a:t>Bobot</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1448C8"/>
                    </a:solidFill>
                  </a:tcPr>
                </a:tc>
                <a:tc>
                  <a:txBody>
                    <a:bodyPr anchor="t" rtlCol="false"/>
                    <a:lstStyle/>
                    <a:p>
                      <a:pPr algn="l">
                        <a:lnSpc>
                          <a:spcPts val="2520"/>
                        </a:lnSpc>
                        <a:defRPr/>
                      </a:pPr>
                      <a:r>
                        <a:rPr lang="en-US" sz="2100" b="true">
                          <a:solidFill>
                            <a:srgbClr val="FFFFFF"/>
                          </a:solidFill>
                          <a:latin typeface="Arial Bold"/>
                          <a:ea typeface="Arial Bold"/>
                          <a:cs typeface="Arial Bold"/>
                          <a:sym typeface="Arial Bold"/>
                        </a:rPr>
                        <a:t>Indikator</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1448C8"/>
                    </a:solidFill>
                  </a:tcPr>
                </a:tc>
              </a:tr>
              <a:tr h="1339878">
                <a:tc>
                  <a:txBody>
                    <a:bodyPr anchor="t" rtlCol="false"/>
                    <a:lstStyle/>
                    <a:p>
                      <a:pPr algn="l">
                        <a:lnSpc>
                          <a:spcPts val="2279"/>
                        </a:lnSpc>
                        <a:defRPr/>
                      </a:pPr>
                      <a:r>
                        <a:rPr lang="en-US" sz="1899" b="true">
                          <a:solidFill>
                            <a:srgbClr val="0A1F44"/>
                          </a:solidFill>
                          <a:latin typeface="Arial Bold"/>
                          <a:ea typeface="Arial Bold"/>
                          <a:cs typeface="Arial Bold"/>
                          <a:sym typeface="Arial Bold"/>
                        </a:rPr>
                        <a:t>Proses Vibe Coding</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ctr">
                        <a:lnSpc>
                          <a:spcPts val="3120"/>
                        </a:lnSpc>
                        <a:defRPr/>
                      </a:pPr>
                      <a:r>
                        <a:rPr lang="en-US" sz="2600" b="true">
                          <a:solidFill>
                            <a:srgbClr val="1448C8"/>
                          </a:solidFill>
                          <a:latin typeface="Arial Bold"/>
                          <a:ea typeface="Arial Bold"/>
                          <a:cs typeface="Arial Bold"/>
                          <a:sym typeface="Arial Bold"/>
                        </a:rPr>
                        <a:t>25</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l" marL="410211" indent="-205105" lvl="1">
                        <a:lnSpc>
                          <a:spcPts val="2040"/>
                        </a:lnSpc>
                        <a:buFont typeface="Arial"/>
                        <a:buChar char="•"/>
                        <a:defRPr/>
                      </a:pPr>
                      <a:r>
                        <a:rPr lang="en-US" sz="1700">
                          <a:solidFill>
                            <a:srgbClr val="0B1D3A"/>
                          </a:solidFill>
                          <a:latin typeface="Calibri (MS)"/>
                          <a:ea typeface="Calibri (MS)"/>
                          <a:cs typeface="Calibri (MS)"/>
                          <a:sym typeface="Calibri (MS)"/>
                        </a:rPr>
                        <a:t>Docs acuan AI Agent jelas dan terstruktur (tujuan, stack, fitur, aturan kerja)</a:t>
                      </a:r>
                      <a:endParaRPr lang="en-US" sz="1100"/>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Prompt runtut awal–akhir, spesifik, dan iteratif</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Prompt debugging menunjukkan peserta memahami masalahnya</a:t>
                      </a:r>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r>
              <a:tr h="1339878">
                <a:tc>
                  <a:txBody>
                    <a:bodyPr anchor="t" rtlCol="false"/>
                    <a:lstStyle/>
                    <a:p>
                      <a:pPr algn="l">
                        <a:lnSpc>
                          <a:spcPts val="2279"/>
                        </a:lnSpc>
                        <a:defRPr/>
                      </a:pPr>
                      <a:r>
                        <a:rPr lang="en-US" sz="1899" b="true">
                          <a:solidFill>
                            <a:srgbClr val="0A1F44"/>
                          </a:solidFill>
                          <a:latin typeface="Arial Bold"/>
                          <a:ea typeface="Arial Bold"/>
                          <a:cs typeface="Arial Bold"/>
                          <a:sym typeface="Arial Bold"/>
                        </a:rPr>
                        <a:t>Fungsionalitas &amp; Relevansi Tema</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ctr">
                        <a:lnSpc>
                          <a:spcPts val="3120"/>
                        </a:lnSpc>
                        <a:defRPr/>
                      </a:pPr>
                      <a:r>
                        <a:rPr lang="en-US" sz="2600" b="true">
                          <a:solidFill>
                            <a:srgbClr val="1448C8"/>
                          </a:solidFill>
                          <a:latin typeface="Arial Bold"/>
                          <a:ea typeface="Arial Bold"/>
                          <a:cs typeface="Arial Bold"/>
                          <a:sym typeface="Arial Bold"/>
                        </a:rPr>
                        <a:t>25</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l" marL="410211" indent="-205105" lvl="1">
                        <a:lnSpc>
                          <a:spcPts val="2040"/>
                        </a:lnSpc>
                        <a:buFont typeface="Arial"/>
                        <a:buChar char="•"/>
                        <a:defRPr/>
                      </a:pPr>
                      <a:r>
                        <a:rPr lang="en-US" sz="1700">
                          <a:solidFill>
                            <a:srgbClr val="0B1D3A"/>
                          </a:solidFill>
                          <a:latin typeface="Calibri (MS)"/>
                          <a:ea typeface="Calibri (MS)"/>
                          <a:cs typeface="Calibri (MS)"/>
                          <a:sym typeface="Calibri (MS)"/>
                        </a:rPr>
                        <a:t>Website sesuai tema "Innovating Education Through Technology" dengan subtema "Web Education for Kids (untuk anak SD)"</a:t>
                      </a:r>
                      <a:endParaRPr lang="en-US" sz="1100"/>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Fitur berjalan tanpa error di hosting peserta</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Solusi menjawab tantangan pendidikan dan mudah digunakan</a:t>
                      </a:r>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r>
              <a:tr h="1339878">
                <a:tc>
                  <a:txBody>
                    <a:bodyPr anchor="t" rtlCol="false"/>
                    <a:lstStyle/>
                    <a:p>
                      <a:pPr algn="l">
                        <a:lnSpc>
                          <a:spcPts val="2279"/>
                        </a:lnSpc>
                        <a:defRPr/>
                      </a:pPr>
                      <a:r>
                        <a:rPr lang="en-US" sz="1899" b="true">
                          <a:solidFill>
                            <a:srgbClr val="0A1F44"/>
                          </a:solidFill>
                          <a:latin typeface="Arial Bold"/>
                          <a:ea typeface="Arial Bold"/>
                          <a:cs typeface="Arial Bold"/>
                          <a:sym typeface="Arial Bold"/>
                        </a:rPr>
                        <a:t>UI/UX &amp; Responsivitas</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ctr">
                        <a:lnSpc>
                          <a:spcPts val="3120"/>
                        </a:lnSpc>
                        <a:defRPr/>
                      </a:pPr>
                      <a:r>
                        <a:rPr lang="en-US" sz="2600" b="true">
                          <a:solidFill>
                            <a:srgbClr val="1448C8"/>
                          </a:solidFill>
                          <a:latin typeface="Arial Bold"/>
                          <a:ea typeface="Arial Bold"/>
                          <a:cs typeface="Arial Bold"/>
                          <a:sym typeface="Arial Bold"/>
                        </a:rPr>
                        <a:t>20</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l" marL="410211" indent="-205105" lvl="1">
                        <a:lnSpc>
                          <a:spcPts val="2040"/>
                        </a:lnSpc>
                        <a:buFont typeface="Arial"/>
                        <a:buChar char="•"/>
                        <a:defRPr/>
                      </a:pPr>
                      <a:r>
                        <a:rPr lang="en-US" sz="1700">
                          <a:solidFill>
                            <a:srgbClr val="0B1D3A"/>
                          </a:solidFill>
                          <a:latin typeface="Calibri (MS)"/>
                          <a:ea typeface="Calibri (MS)"/>
                          <a:cs typeface="Calibri (MS)"/>
                          <a:sym typeface="Calibri (MS)"/>
                        </a:rPr>
                        <a:t>Layout rapi di mobile dan desktop</a:t>
                      </a:r>
                      <a:endParaRPr lang="en-US" sz="1100"/>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Warna dan tipografi tidak generik AI</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Animasi in/out halus, efek hover relevan, gambar/aset relevan</a:t>
                      </a:r>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r>
              <a:tr h="1339878">
                <a:tc>
                  <a:txBody>
                    <a:bodyPr anchor="t" rtlCol="false"/>
                    <a:lstStyle/>
                    <a:p>
                      <a:pPr algn="l">
                        <a:lnSpc>
                          <a:spcPts val="2279"/>
                        </a:lnSpc>
                        <a:defRPr/>
                      </a:pPr>
                      <a:r>
                        <a:rPr lang="en-US" sz="1899" b="true">
                          <a:solidFill>
                            <a:srgbClr val="0A1F44"/>
                          </a:solidFill>
                          <a:latin typeface="Arial Bold"/>
                          <a:ea typeface="Arial Bold"/>
                          <a:cs typeface="Arial Bold"/>
                          <a:sym typeface="Arial Bold"/>
                        </a:rPr>
                        <a:t>Kualitas Teknis</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ctr">
                        <a:lnSpc>
                          <a:spcPts val="3120"/>
                        </a:lnSpc>
                        <a:defRPr/>
                      </a:pPr>
                      <a:r>
                        <a:rPr lang="en-US" sz="2600" b="true">
                          <a:solidFill>
                            <a:srgbClr val="1448C8"/>
                          </a:solidFill>
                          <a:latin typeface="Arial Bold"/>
                          <a:ea typeface="Arial Bold"/>
                          <a:cs typeface="Arial Bold"/>
                          <a:sym typeface="Arial Bold"/>
                        </a:rPr>
                        <a:t>15</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c>
                  <a:txBody>
                    <a:bodyPr anchor="t" rtlCol="false"/>
                    <a:lstStyle/>
                    <a:p>
                      <a:pPr algn="l" marL="410211" indent="-205105" lvl="1">
                        <a:lnSpc>
                          <a:spcPts val="2040"/>
                        </a:lnSpc>
                        <a:buFont typeface="Arial"/>
                        <a:buChar char="•"/>
                        <a:defRPr/>
                      </a:pPr>
                      <a:r>
                        <a:rPr lang="en-US" sz="1700">
                          <a:solidFill>
                            <a:srgbClr val="0B1D3A"/>
                          </a:solidFill>
                          <a:latin typeface="Calibri (MS)"/>
                          <a:ea typeface="Calibri (MS)"/>
                          <a:cs typeface="Calibri (MS)"/>
                          <a:sym typeface="Calibri (MS)"/>
                        </a:rPr>
                        <a:t>Kode dan struktur folder rapi (framework bebas)</a:t>
                      </a:r>
                      <a:endParaRPr lang="en-US" sz="1100"/>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Performa: lazy load, aset terkompresi, dan SEO dasar</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Pesan commit GitHub yang rapi</a:t>
                      </a:r>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E8F0FF">
                        <a:alpha val="50000"/>
                      </a:srgbClr>
                    </a:solidFill>
                  </a:tcPr>
                </a:tc>
              </a:tr>
              <a:tr h="1339878">
                <a:tc>
                  <a:txBody>
                    <a:bodyPr anchor="t" rtlCol="false"/>
                    <a:lstStyle/>
                    <a:p>
                      <a:pPr algn="l">
                        <a:lnSpc>
                          <a:spcPts val="2279"/>
                        </a:lnSpc>
                        <a:defRPr/>
                      </a:pPr>
                      <a:r>
                        <a:rPr lang="en-US" sz="1899" b="true">
                          <a:solidFill>
                            <a:srgbClr val="0A1F44"/>
                          </a:solidFill>
                          <a:latin typeface="Arial Bold"/>
                          <a:ea typeface="Arial Bold"/>
                          <a:cs typeface="Arial Bold"/>
                          <a:sym typeface="Arial Bold"/>
                        </a:rPr>
                        <a:t>Inovasi &amp; Kreativitas</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ctr">
                        <a:lnSpc>
                          <a:spcPts val="3120"/>
                        </a:lnSpc>
                        <a:defRPr/>
                      </a:pPr>
                      <a:r>
                        <a:rPr lang="en-US" sz="2600" b="true">
                          <a:solidFill>
                            <a:srgbClr val="1448C8"/>
                          </a:solidFill>
                          <a:latin typeface="Arial Bold"/>
                          <a:ea typeface="Arial Bold"/>
                          <a:cs typeface="Arial Bold"/>
                          <a:sym typeface="Arial Bold"/>
                        </a:rPr>
                        <a:t>15</a:t>
                      </a:r>
                      <a:endParaRPr lang="en-US" sz="1100"/>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c>
                  <a:txBody>
                    <a:bodyPr anchor="t" rtlCol="false"/>
                    <a:lstStyle/>
                    <a:p>
                      <a:pPr algn="l" marL="410211" indent="-205105" lvl="1">
                        <a:lnSpc>
                          <a:spcPts val="2040"/>
                        </a:lnSpc>
                        <a:buFont typeface="Arial"/>
                        <a:buChar char="•"/>
                        <a:defRPr/>
                      </a:pPr>
                      <a:r>
                        <a:rPr lang="en-US" sz="1700">
                          <a:solidFill>
                            <a:srgbClr val="0B1D3A"/>
                          </a:solidFill>
                          <a:latin typeface="Calibri (MS)"/>
                          <a:ea typeface="Calibri (MS)"/>
                          <a:cs typeface="Calibri (MS)"/>
                          <a:sym typeface="Calibri (MS)"/>
                        </a:rPr>
                        <a:t>Fitur inovatif di luar ketentuan dasar</a:t>
                      </a:r>
                      <a:endParaRPr lang="en-US" sz="1100"/>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Ide orisinal dengan nilai guna nyata</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Fitur atau halaman tambahan relevan dengan tema</a:t>
                      </a:r>
                    </a:p>
                  </a:txBody>
                  <a:tcPr marL="91440" marR="91440" marT="91440" marB="91440" anchor="ctr">
                    <a:lnL cmpd="sng" algn="ctr" cap="flat" w="9525">
                      <a:solidFill>
                        <a:srgbClr val="D6E0F2"/>
                      </a:solidFill>
                      <a:prstDash val="solid"/>
                      <a:round/>
                      <a:headEnd type="none" w="med" len="med"/>
                      <a:tailEnd type="none" w="med" len="med"/>
                    </a:lnL>
                    <a:lnR cmpd="sng" algn="ctr" cap="flat" w="9525">
                      <a:solidFill>
                        <a:srgbClr val="D6E0F2"/>
                      </a:solidFill>
                      <a:prstDash val="solid"/>
                      <a:round/>
                      <a:headEnd type="none" w="med" len="med"/>
                      <a:tailEnd type="none" w="med" len="med"/>
                    </a:lnR>
                    <a:lnT cmpd="sng" algn="ctr" cap="flat" w="9525">
                      <a:solidFill>
                        <a:srgbClr val="D6E0F2"/>
                      </a:solidFill>
                      <a:prstDash val="solid"/>
                      <a:round/>
                      <a:headEnd type="none" w="med" len="med"/>
                      <a:tailEnd type="none" w="med" len="med"/>
                    </a:lnT>
                    <a:lnB cmpd="sng" algn="ctr" cap="flat" w="9525">
                      <a:solidFill>
                        <a:srgbClr val="D6E0F2"/>
                      </a:solidFill>
                      <a:prstDash val="solid"/>
                      <a:round/>
                      <a:headEnd type="none" w="med" len="med"/>
                      <a:tailEnd type="none" w="med" len="med"/>
                    </a:lnB>
                    <a:solidFill>
                      <a:srgbClr val="FFFFFF">
                        <a:alpha val="50000"/>
                      </a:srgbClr>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47"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09</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Sistem Penilaian — Skala &amp; Penjurian</a:t>
              </a:r>
            </a:p>
          </p:txBody>
        </p:sp>
      </p:grpSp>
      <p:sp>
        <p:nvSpPr>
          <p:cNvPr name="TextBox 11" id="11"/>
          <p:cNvSpPr txBox="true"/>
          <p:nvPr/>
        </p:nvSpPr>
        <p:spPr>
          <a:xfrm rot="0">
            <a:off x="2194560" y="1305687"/>
            <a:ext cx="15179040" cy="504825"/>
          </a:xfrm>
          <a:prstGeom prst="rect">
            <a:avLst/>
          </a:prstGeom>
        </p:spPr>
        <p:txBody>
          <a:bodyPr anchor="t" rtlCol="false" tIns="0" lIns="0" bIns="0" rIns="0">
            <a:spAutoFit/>
          </a:bodyPr>
          <a:lstStyle/>
          <a:p>
            <a:pPr algn="l">
              <a:lnSpc>
                <a:spcPts val="2760"/>
              </a:lnSpc>
            </a:pPr>
            <a:r>
              <a:rPr lang="en-US" sz="2300">
                <a:solidFill>
                  <a:srgbClr val="5B6B85"/>
                </a:solidFill>
                <a:latin typeface="Calibri (MS)"/>
                <a:ea typeface="Calibri (MS)"/>
                <a:cs typeface="Calibri (MS)"/>
                <a:sym typeface="Calibri (MS)"/>
              </a:rPr>
              <a:t>Cara juri memberi nilai dan menentukan pemenang</a:t>
            </a:r>
          </a:p>
        </p:txBody>
      </p:sp>
      <p:sp>
        <p:nvSpPr>
          <p:cNvPr name="TextBox 12" id="12"/>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3" id="13"/>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sp>
        <p:nvSpPr>
          <p:cNvPr name="TextBox 14" id="14"/>
          <p:cNvSpPr txBox="true"/>
          <p:nvPr/>
        </p:nvSpPr>
        <p:spPr>
          <a:xfrm rot="0">
            <a:off x="914400" y="2146935"/>
            <a:ext cx="7315200" cy="504825"/>
          </a:xfrm>
          <a:prstGeom prst="rect">
            <a:avLst/>
          </a:prstGeom>
        </p:spPr>
        <p:txBody>
          <a:bodyPr anchor="t" rtlCol="false" tIns="0" lIns="0" bIns="0" rIns="0">
            <a:spAutoFit/>
          </a:bodyPr>
          <a:lstStyle/>
          <a:p>
            <a:pPr algn="l">
              <a:lnSpc>
                <a:spcPts val="2400"/>
              </a:lnSpc>
            </a:pPr>
            <a:r>
              <a:rPr lang="en-US" sz="2000" b="true">
                <a:solidFill>
                  <a:srgbClr val="1448C8"/>
                </a:solidFill>
                <a:latin typeface="Consolas Bold"/>
                <a:ea typeface="Consolas Bold"/>
                <a:cs typeface="Consolas Bold"/>
                <a:sym typeface="Consolas Bold"/>
              </a:rPr>
              <a:t>SKALA NILAI TIAP KRITERIA</a:t>
            </a:r>
          </a:p>
        </p:txBody>
      </p:sp>
      <p:grpSp>
        <p:nvGrpSpPr>
          <p:cNvPr name="Group 15" id="15"/>
          <p:cNvGrpSpPr/>
          <p:nvPr/>
        </p:nvGrpSpPr>
        <p:grpSpPr>
          <a:xfrm rot="0">
            <a:off x="904875" y="2733675"/>
            <a:ext cx="7882890" cy="1482090"/>
            <a:chOff x="0" y="0"/>
            <a:chExt cx="10510520" cy="1976120"/>
          </a:xfrm>
        </p:grpSpPr>
        <p:sp>
          <p:nvSpPr>
            <p:cNvPr name="Freeform 16" id="16"/>
            <p:cNvSpPr/>
            <p:nvPr/>
          </p:nvSpPr>
          <p:spPr>
            <a:xfrm flipH="false" flipV="false" rot="0">
              <a:off x="0" y="0"/>
              <a:ext cx="10510520" cy="1976120"/>
            </a:xfrm>
            <a:custGeom>
              <a:avLst/>
              <a:gdLst/>
              <a:ahLst/>
              <a:cxnLst/>
              <a:rect r="r" b="b" t="t" l="l"/>
              <a:pathLst>
                <a:path h="1976120" w="10510520">
                  <a:moveTo>
                    <a:pt x="0" y="197612"/>
                  </a:moveTo>
                  <a:cubicBezTo>
                    <a:pt x="0" y="88519"/>
                    <a:pt x="88519" y="0"/>
                    <a:pt x="197612" y="0"/>
                  </a:cubicBezTo>
                  <a:lnTo>
                    <a:pt x="10312908" y="0"/>
                  </a:lnTo>
                  <a:cubicBezTo>
                    <a:pt x="10422001" y="0"/>
                    <a:pt x="10510520" y="88519"/>
                    <a:pt x="10510520" y="197612"/>
                  </a:cubicBezTo>
                  <a:lnTo>
                    <a:pt x="10510520" y="1778508"/>
                  </a:lnTo>
                  <a:cubicBezTo>
                    <a:pt x="10510520" y="1887601"/>
                    <a:pt x="10422001" y="1976120"/>
                    <a:pt x="10312908" y="1976120"/>
                  </a:cubicBezTo>
                  <a:lnTo>
                    <a:pt x="197612" y="1976120"/>
                  </a:lnTo>
                  <a:cubicBezTo>
                    <a:pt x="88519" y="1976120"/>
                    <a:pt x="0" y="1887601"/>
                    <a:pt x="0" y="1778508"/>
                  </a:cubicBezTo>
                  <a:close/>
                </a:path>
              </a:pathLst>
            </a:custGeom>
            <a:solidFill>
              <a:srgbClr val="FFFFFF">
                <a:alpha val="50000"/>
              </a:srgbClr>
            </a:solidFill>
            <a:ln w="19050" cap="sq">
              <a:solidFill>
                <a:srgbClr val="D6E0F2"/>
              </a:solidFill>
              <a:prstDash val="solid"/>
              <a:miter/>
            </a:ln>
          </p:spPr>
        </p:sp>
      </p:grpSp>
      <p:grpSp>
        <p:nvGrpSpPr>
          <p:cNvPr name="Group 17" id="17"/>
          <p:cNvGrpSpPr/>
          <p:nvPr/>
        </p:nvGrpSpPr>
        <p:grpSpPr>
          <a:xfrm rot="0">
            <a:off x="1121159" y="3004823"/>
            <a:ext cx="281435" cy="939803"/>
            <a:chOff x="0" y="0"/>
            <a:chExt cx="375247" cy="1253071"/>
          </a:xfrm>
        </p:grpSpPr>
        <p:sp>
          <p:nvSpPr>
            <p:cNvPr name="Freeform 18" id="18"/>
            <p:cNvSpPr/>
            <p:nvPr/>
          </p:nvSpPr>
          <p:spPr>
            <a:xfrm flipH="false" flipV="false" rot="0">
              <a:off x="0" y="0"/>
              <a:ext cx="375158" cy="1252982"/>
            </a:xfrm>
            <a:custGeom>
              <a:avLst/>
              <a:gdLst/>
              <a:ahLst/>
              <a:cxnLst/>
              <a:rect r="r" b="b" t="t" l="l"/>
              <a:pathLst>
                <a:path h="1252982" w="375158">
                  <a:moveTo>
                    <a:pt x="0" y="133985"/>
                  </a:moveTo>
                  <a:cubicBezTo>
                    <a:pt x="0" y="59944"/>
                    <a:pt x="59944" y="0"/>
                    <a:pt x="133985" y="0"/>
                  </a:cubicBezTo>
                  <a:lnTo>
                    <a:pt x="241173" y="0"/>
                  </a:lnTo>
                  <a:cubicBezTo>
                    <a:pt x="315214" y="0"/>
                    <a:pt x="375158" y="59944"/>
                    <a:pt x="375158" y="133985"/>
                  </a:cubicBezTo>
                  <a:lnTo>
                    <a:pt x="375158" y="1118997"/>
                  </a:lnTo>
                  <a:cubicBezTo>
                    <a:pt x="375158" y="1193038"/>
                    <a:pt x="315214" y="1252982"/>
                    <a:pt x="241173" y="1252982"/>
                  </a:cubicBezTo>
                  <a:lnTo>
                    <a:pt x="133985" y="1252982"/>
                  </a:lnTo>
                  <a:cubicBezTo>
                    <a:pt x="59944" y="1253109"/>
                    <a:pt x="0" y="1193038"/>
                    <a:pt x="0" y="1118997"/>
                  </a:cubicBezTo>
                  <a:close/>
                </a:path>
              </a:pathLst>
            </a:custGeom>
            <a:solidFill>
              <a:srgbClr val="FFC81E"/>
            </a:solidFill>
            <a:ln w="25400" cap="sq">
              <a:solidFill>
                <a:srgbClr val="FFC81E"/>
              </a:solidFill>
              <a:prstDash val="solid"/>
              <a:miter/>
            </a:ln>
          </p:spPr>
        </p:sp>
      </p:grpSp>
      <p:sp>
        <p:nvSpPr>
          <p:cNvPr name="TextBox 19" id="19"/>
          <p:cNvSpPr txBox="true"/>
          <p:nvPr/>
        </p:nvSpPr>
        <p:spPr>
          <a:xfrm rot="0">
            <a:off x="1737360" y="2916555"/>
            <a:ext cx="4023360" cy="558165"/>
          </a:xfrm>
          <a:prstGeom prst="rect">
            <a:avLst/>
          </a:prstGeom>
        </p:spPr>
        <p:txBody>
          <a:bodyPr anchor="t" rtlCol="false" tIns="0" lIns="0" bIns="0" rIns="0">
            <a:spAutoFit/>
          </a:bodyPr>
          <a:lstStyle/>
          <a:p>
            <a:pPr algn="l">
              <a:lnSpc>
                <a:spcPts val="2999"/>
              </a:lnSpc>
            </a:pPr>
            <a:r>
              <a:rPr lang="en-US" sz="2499" b="true">
                <a:solidFill>
                  <a:srgbClr val="0A1F44"/>
                </a:solidFill>
                <a:latin typeface="Arial Bold"/>
                <a:ea typeface="Arial Bold"/>
                <a:cs typeface="Arial Bold"/>
                <a:sym typeface="Arial Bold"/>
              </a:rPr>
              <a:t>Sangat Baik</a:t>
            </a:r>
          </a:p>
        </p:txBody>
      </p:sp>
      <p:sp>
        <p:nvSpPr>
          <p:cNvPr name="TextBox 20" id="20"/>
          <p:cNvSpPr txBox="true"/>
          <p:nvPr/>
        </p:nvSpPr>
        <p:spPr>
          <a:xfrm rot="0">
            <a:off x="6035040" y="2907030"/>
            <a:ext cx="2468880" cy="567690"/>
          </a:xfrm>
          <a:prstGeom prst="rect">
            <a:avLst/>
          </a:prstGeom>
        </p:spPr>
        <p:txBody>
          <a:bodyPr anchor="t" rtlCol="false" tIns="0" lIns="0" bIns="0" rIns="0">
            <a:spAutoFit/>
          </a:bodyPr>
          <a:lstStyle/>
          <a:p>
            <a:pPr algn="r">
              <a:lnSpc>
                <a:spcPts val="3120"/>
              </a:lnSpc>
            </a:pPr>
            <a:r>
              <a:rPr lang="en-US" sz="2600" b="true">
                <a:solidFill>
                  <a:srgbClr val="1448C8"/>
                </a:solidFill>
                <a:latin typeface="Arial Bold"/>
                <a:ea typeface="Arial Bold"/>
                <a:cs typeface="Arial Bold"/>
                <a:sym typeface="Arial Bold"/>
              </a:rPr>
              <a:t>90–100%</a:t>
            </a:r>
          </a:p>
        </p:txBody>
      </p:sp>
      <p:sp>
        <p:nvSpPr>
          <p:cNvPr name="TextBox 21" id="21"/>
          <p:cNvSpPr txBox="true"/>
          <p:nvPr/>
        </p:nvSpPr>
        <p:spPr>
          <a:xfrm rot="0">
            <a:off x="1737360" y="3491484"/>
            <a:ext cx="6766560" cy="623316"/>
          </a:xfrm>
          <a:prstGeom prst="rect">
            <a:avLst/>
          </a:prstGeom>
        </p:spPr>
        <p:txBody>
          <a:bodyPr anchor="t" rtlCol="false" tIns="0" lIns="0" bIns="0" rIns="0">
            <a:spAutoFit/>
          </a:bodyPr>
          <a:lstStyle/>
          <a:p>
            <a:pPr algn="l">
              <a:lnSpc>
                <a:spcPts val="2279"/>
              </a:lnSpc>
            </a:pPr>
            <a:r>
              <a:rPr lang="en-US" sz="1899">
                <a:solidFill>
                  <a:srgbClr val="5B6B85"/>
                </a:solidFill>
                <a:latin typeface="Calibri (MS)"/>
                <a:ea typeface="Calibri (MS)"/>
                <a:cs typeface="Calibri (MS)"/>
                <a:sym typeface="Calibri (MS)"/>
              </a:rPr>
              <a:t>Lengkap, konsisten, dan melampaui harapan.</a:t>
            </a:r>
          </a:p>
        </p:txBody>
      </p:sp>
      <p:grpSp>
        <p:nvGrpSpPr>
          <p:cNvPr name="Group 22" id="22"/>
          <p:cNvGrpSpPr/>
          <p:nvPr/>
        </p:nvGrpSpPr>
        <p:grpSpPr>
          <a:xfrm rot="0">
            <a:off x="904875" y="4379595"/>
            <a:ext cx="7882890" cy="1482090"/>
            <a:chOff x="0" y="0"/>
            <a:chExt cx="10510520" cy="1976120"/>
          </a:xfrm>
        </p:grpSpPr>
        <p:sp>
          <p:nvSpPr>
            <p:cNvPr name="Freeform 23" id="23"/>
            <p:cNvSpPr/>
            <p:nvPr/>
          </p:nvSpPr>
          <p:spPr>
            <a:xfrm flipH="false" flipV="false" rot="0">
              <a:off x="0" y="0"/>
              <a:ext cx="10510520" cy="1976120"/>
            </a:xfrm>
            <a:custGeom>
              <a:avLst/>
              <a:gdLst/>
              <a:ahLst/>
              <a:cxnLst/>
              <a:rect r="r" b="b" t="t" l="l"/>
              <a:pathLst>
                <a:path h="1976120" w="10510520">
                  <a:moveTo>
                    <a:pt x="0" y="197612"/>
                  </a:moveTo>
                  <a:cubicBezTo>
                    <a:pt x="0" y="88519"/>
                    <a:pt x="88519" y="0"/>
                    <a:pt x="197612" y="0"/>
                  </a:cubicBezTo>
                  <a:lnTo>
                    <a:pt x="10312908" y="0"/>
                  </a:lnTo>
                  <a:cubicBezTo>
                    <a:pt x="10422001" y="0"/>
                    <a:pt x="10510520" y="88519"/>
                    <a:pt x="10510520" y="197612"/>
                  </a:cubicBezTo>
                  <a:lnTo>
                    <a:pt x="10510520" y="1778508"/>
                  </a:lnTo>
                  <a:cubicBezTo>
                    <a:pt x="10510520" y="1887601"/>
                    <a:pt x="10422001" y="1976120"/>
                    <a:pt x="10312908" y="1976120"/>
                  </a:cubicBezTo>
                  <a:lnTo>
                    <a:pt x="197612" y="1976120"/>
                  </a:lnTo>
                  <a:cubicBezTo>
                    <a:pt x="88519" y="1976120"/>
                    <a:pt x="0" y="1887601"/>
                    <a:pt x="0" y="1778508"/>
                  </a:cubicBezTo>
                  <a:close/>
                </a:path>
              </a:pathLst>
            </a:custGeom>
            <a:solidFill>
              <a:srgbClr val="FFFFFF">
                <a:alpha val="50000"/>
              </a:srgbClr>
            </a:solidFill>
            <a:ln w="19050" cap="sq">
              <a:solidFill>
                <a:srgbClr val="D6E0F2"/>
              </a:solidFill>
              <a:prstDash val="solid"/>
              <a:miter/>
            </a:ln>
          </p:spPr>
        </p:sp>
      </p:grpSp>
      <p:grpSp>
        <p:nvGrpSpPr>
          <p:cNvPr name="Group 24" id="24"/>
          <p:cNvGrpSpPr/>
          <p:nvPr/>
        </p:nvGrpSpPr>
        <p:grpSpPr>
          <a:xfrm rot="0">
            <a:off x="1121159" y="4650743"/>
            <a:ext cx="281435" cy="939803"/>
            <a:chOff x="0" y="0"/>
            <a:chExt cx="375247" cy="1253071"/>
          </a:xfrm>
        </p:grpSpPr>
        <p:sp>
          <p:nvSpPr>
            <p:cNvPr name="Freeform 25" id="25"/>
            <p:cNvSpPr/>
            <p:nvPr/>
          </p:nvSpPr>
          <p:spPr>
            <a:xfrm flipH="false" flipV="false" rot="0">
              <a:off x="0" y="0"/>
              <a:ext cx="375158" cy="1252982"/>
            </a:xfrm>
            <a:custGeom>
              <a:avLst/>
              <a:gdLst/>
              <a:ahLst/>
              <a:cxnLst/>
              <a:rect r="r" b="b" t="t" l="l"/>
              <a:pathLst>
                <a:path h="1252982" w="375158">
                  <a:moveTo>
                    <a:pt x="0" y="133985"/>
                  </a:moveTo>
                  <a:cubicBezTo>
                    <a:pt x="0" y="59944"/>
                    <a:pt x="59944" y="0"/>
                    <a:pt x="133985" y="0"/>
                  </a:cubicBezTo>
                  <a:lnTo>
                    <a:pt x="241173" y="0"/>
                  </a:lnTo>
                  <a:cubicBezTo>
                    <a:pt x="315214" y="0"/>
                    <a:pt x="375158" y="59944"/>
                    <a:pt x="375158" y="133985"/>
                  </a:cubicBezTo>
                  <a:lnTo>
                    <a:pt x="375158" y="1118997"/>
                  </a:lnTo>
                  <a:cubicBezTo>
                    <a:pt x="375158" y="1193038"/>
                    <a:pt x="315214" y="1252982"/>
                    <a:pt x="241173" y="1252982"/>
                  </a:cubicBezTo>
                  <a:lnTo>
                    <a:pt x="133985" y="1252982"/>
                  </a:lnTo>
                  <a:cubicBezTo>
                    <a:pt x="59944" y="1253109"/>
                    <a:pt x="0" y="1193038"/>
                    <a:pt x="0" y="1118997"/>
                  </a:cubicBezTo>
                  <a:close/>
                </a:path>
              </a:pathLst>
            </a:custGeom>
            <a:solidFill>
              <a:srgbClr val="5B8DEF"/>
            </a:solidFill>
            <a:ln w="25400" cap="sq">
              <a:solidFill>
                <a:srgbClr val="5B8DEF"/>
              </a:solidFill>
              <a:prstDash val="solid"/>
              <a:miter/>
            </a:ln>
          </p:spPr>
        </p:sp>
      </p:grpSp>
      <p:sp>
        <p:nvSpPr>
          <p:cNvPr name="TextBox 26" id="26"/>
          <p:cNvSpPr txBox="true"/>
          <p:nvPr/>
        </p:nvSpPr>
        <p:spPr>
          <a:xfrm rot="0">
            <a:off x="1737360" y="4562475"/>
            <a:ext cx="4023360" cy="558165"/>
          </a:xfrm>
          <a:prstGeom prst="rect">
            <a:avLst/>
          </a:prstGeom>
        </p:spPr>
        <p:txBody>
          <a:bodyPr anchor="t" rtlCol="false" tIns="0" lIns="0" bIns="0" rIns="0">
            <a:spAutoFit/>
          </a:bodyPr>
          <a:lstStyle/>
          <a:p>
            <a:pPr algn="l">
              <a:lnSpc>
                <a:spcPts val="2999"/>
              </a:lnSpc>
            </a:pPr>
            <a:r>
              <a:rPr lang="en-US" sz="2499" b="true">
                <a:solidFill>
                  <a:srgbClr val="0A1F44"/>
                </a:solidFill>
                <a:latin typeface="Arial Bold"/>
                <a:ea typeface="Arial Bold"/>
                <a:cs typeface="Arial Bold"/>
                <a:sym typeface="Arial Bold"/>
              </a:rPr>
              <a:t>Baik</a:t>
            </a:r>
          </a:p>
        </p:txBody>
      </p:sp>
      <p:sp>
        <p:nvSpPr>
          <p:cNvPr name="TextBox 27" id="27"/>
          <p:cNvSpPr txBox="true"/>
          <p:nvPr/>
        </p:nvSpPr>
        <p:spPr>
          <a:xfrm rot="0">
            <a:off x="6035040" y="4552950"/>
            <a:ext cx="2468880" cy="567690"/>
          </a:xfrm>
          <a:prstGeom prst="rect">
            <a:avLst/>
          </a:prstGeom>
        </p:spPr>
        <p:txBody>
          <a:bodyPr anchor="t" rtlCol="false" tIns="0" lIns="0" bIns="0" rIns="0">
            <a:spAutoFit/>
          </a:bodyPr>
          <a:lstStyle/>
          <a:p>
            <a:pPr algn="r">
              <a:lnSpc>
                <a:spcPts val="3120"/>
              </a:lnSpc>
            </a:pPr>
            <a:r>
              <a:rPr lang="en-US" sz="2600" b="true">
                <a:solidFill>
                  <a:srgbClr val="1448C8"/>
                </a:solidFill>
                <a:latin typeface="Arial Bold"/>
                <a:ea typeface="Arial Bold"/>
                <a:cs typeface="Arial Bold"/>
                <a:sym typeface="Arial Bold"/>
              </a:rPr>
              <a:t>75–89%</a:t>
            </a:r>
          </a:p>
        </p:txBody>
      </p:sp>
      <p:sp>
        <p:nvSpPr>
          <p:cNvPr name="TextBox 28" id="28"/>
          <p:cNvSpPr txBox="true"/>
          <p:nvPr/>
        </p:nvSpPr>
        <p:spPr>
          <a:xfrm rot="0">
            <a:off x="1737360" y="5137404"/>
            <a:ext cx="6766560" cy="623316"/>
          </a:xfrm>
          <a:prstGeom prst="rect">
            <a:avLst/>
          </a:prstGeom>
        </p:spPr>
        <p:txBody>
          <a:bodyPr anchor="t" rtlCol="false" tIns="0" lIns="0" bIns="0" rIns="0">
            <a:spAutoFit/>
          </a:bodyPr>
          <a:lstStyle/>
          <a:p>
            <a:pPr algn="l">
              <a:lnSpc>
                <a:spcPts val="2279"/>
              </a:lnSpc>
            </a:pPr>
            <a:r>
              <a:rPr lang="en-US" sz="1899">
                <a:solidFill>
                  <a:srgbClr val="5B6B85"/>
                </a:solidFill>
                <a:latin typeface="Calibri (MS)"/>
                <a:ea typeface="Calibri (MS)"/>
                <a:cs typeface="Calibri (MS)"/>
                <a:sym typeface="Calibri (MS)"/>
              </a:rPr>
              <a:t>Memenuhi harapan dengan kekurangan kecil.</a:t>
            </a:r>
          </a:p>
        </p:txBody>
      </p:sp>
      <p:grpSp>
        <p:nvGrpSpPr>
          <p:cNvPr name="Group 29" id="29"/>
          <p:cNvGrpSpPr/>
          <p:nvPr/>
        </p:nvGrpSpPr>
        <p:grpSpPr>
          <a:xfrm rot="0">
            <a:off x="904875" y="6025515"/>
            <a:ext cx="7882890" cy="1482090"/>
            <a:chOff x="0" y="0"/>
            <a:chExt cx="10510520" cy="1976120"/>
          </a:xfrm>
        </p:grpSpPr>
        <p:sp>
          <p:nvSpPr>
            <p:cNvPr name="Freeform 30" id="30"/>
            <p:cNvSpPr/>
            <p:nvPr/>
          </p:nvSpPr>
          <p:spPr>
            <a:xfrm flipH="false" flipV="false" rot="0">
              <a:off x="0" y="0"/>
              <a:ext cx="10510520" cy="1976120"/>
            </a:xfrm>
            <a:custGeom>
              <a:avLst/>
              <a:gdLst/>
              <a:ahLst/>
              <a:cxnLst/>
              <a:rect r="r" b="b" t="t" l="l"/>
              <a:pathLst>
                <a:path h="1976120" w="10510520">
                  <a:moveTo>
                    <a:pt x="0" y="197612"/>
                  </a:moveTo>
                  <a:cubicBezTo>
                    <a:pt x="0" y="88519"/>
                    <a:pt x="88519" y="0"/>
                    <a:pt x="197612" y="0"/>
                  </a:cubicBezTo>
                  <a:lnTo>
                    <a:pt x="10312908" y="0"/>
                  </a:lnTo>
                  <a:cubicBezTo>
                    <a:pt x="10422001" y="0"/>
                    <a:pt x="10510520" y="88519"/>
                    <a:pt x="10510520" y="197612"/>
                  </a:cubicBezTo>
                  <a:lnTo>
                    <a:pt x="10510520" y="1778508"/>
                  </a:lnTo>
                  <a:cubicBezTo>
                    <a:pt x="10510520" y="1887601"/>
                    <a:pt x="10422001" y="1976120"/>
                    <a:pt x="10312908" y="1976120"/>
                  </a:cubicBezTo>
                  <a:lnTo>
                    <a:pt x="197612" y="1976120"/>
                  </a:lnTo>
                  <a:cubicBezTo>
                    <a:pt x="88519" y="1976120"/>
                    <a:pt x="0" y="1887601"/>
                    <a:pt x="0" y="1778508"/>
                  </a:cubicBezTo>
                  <a:close/>
                </a:path>
              </a:pathLst>
            </a:custGeom>
            <a:solidFill>
              <a:srgbClr val="FFFFFF">
                <a:alpha val="50000"/>
              </a:srgbClr>
            </a:solidFill>
            <a:ln w="19050" cap="sq">
              <a:solidFill>
                <a:srgbClr val="D6E0F2"/>
              </a:solidFill>
              <a:prstDash val="solid"/>
              <a:miter/>
            </a:ln>
          </p:spPr>
        </p:sp>
      </p:grpSp>
      <p:grpSp>
        <p:nvGrpSpPr>
          <p:cNvPr name="Group 31" id="31"/>
          <p:cNvGrpSpPr/>
          <p:nvPr/>
        </p:nvGrpSpPr>
        <p:grpSpPr>
          <a:xfrm rot="0">
            <a:off x="1121159" y="6296663"/>
            <a:ext cx="281435" cy="939803"/>
            <a:chOff x="0" y="0"/>
            <a:chExt cx="375247" cy="1253071"/>
          </a:xfrm>
        </p:grpSpPr>
        <p:sp>
          <p:nvSpPr>
            <p:cNvPr name="Freeform 32" id="32"/>
            <p:cNvSpPr/>
            <p:nvPr/>
          </p:nvSpPr>
          <p:spPr>
            <a:xfrm flipH="false" flipV="false" rot="0">
              <a:off x="0" y="0"/>
              <a:ext cx="375158" cy="1252982"/>
            </a:xfrm>
            <a:custGeom>
              <a:avLst/>
              <a:gdLst/>
              <a:ahLst/>
              <a:cxnLst/>
              <a:rect r="r" b="b" t="t" l="l"/>
              <a:pathLst>
                <a:path h="1252982" w="375158">
                  <a:moveTo>
                    <a:pt x="0" y="133985"/>
                  </a:moveTo>
                  <a:cubicBezTo>
                    <a:pt x="0" y="59944"/>
                    <a:pt x="59944" y="0"/>
                    <a:pt x="133985" y="0"/>
                  </a:cubicBezTo>
                  <a:lnTo>
                    <a:pt x="241173" y="0"/>
                  </a:lnTo>
                  <a:cubicBezTo>
                    <a:pt x="315214" y="0"/>
                    <a:pt x="375158" y="59944"/>
                    <a:pt x="375158" y="133985"/>
                  </a:cubicBezTo>
                  <a:lnTo>
                    <a:pt x="375158" y="1118997"/>
                  </a:lnTo>
                  <a:cubicBezTo>
                    <a:pt x="375158" y="1193038"/>
                    <a:pt x="315214" y="1252982"/>
                    <a:pt x="241173" y="1252982"/>
                  </a:cubicBezTo>
                  <a:lnTo>
                    <a:pt x="133985" y="1252982"/>
                  </a:lnTo>
                  <a:cubicBezTo>
                    <a:pt x="59944" y="1253109"/>
                    <a:pt x="0" y="1193038"/>
                    <a:pt x="0" y="1118997"/>
                  </a:cubicBezTo>
                  <a:close/>
                </a:path>
              </a:pathLst>
            </a:custGeom>
            <a:solidFill>
              <a:srgbClr val="9DB8EE"/>
            </a:solidFill>
            <a:ln w="25400" cap="sq">
              <a:solidFill>
                <a:srgbClr val="9DB8EE"/>
              </a:solidFill>
              <a:prstDash val="solid"/>
              <a:miter/>
            </a:ln>
          </p:spPr>
        </p:sp>
      </p:grpSp>
      <p:sp>
        <p:nvSpPr>
          <p:cNvPr name="TextBox 33" id="33"/>
          <p:cNvSpPr txBox="true"/>
          <p:nvPr/>
        </p:nvSpPr>
        <p:spPr>
          <a:xfrm rot="0">
            <a:off x="1737360" y="6208395"/>
            <a:ext cx="4023360" cy="558165"/>
          </a:xfrm>
          <a:prstGeom prst="rect">
            <a:avLst/>
          </a:prstGeom>
        </p:spPr>
        <p:txBody>
          <a:bodyPr anchor="t" rtlCol="false" tIns="0" lIns="0" bIns="0" rIns="0">
            <a:spAutoFit/>
          </a:bodyPr>
          <a:lstStyle/>
          <a:p>
            <a:pPr algn="l">
              <a:lnSpc>
                <a:spcPts val="2999"/>
              </a:lnSpc>
            </a:pPr>
            <a:r>
              <a:rPr lang="en-US" sz="2499" b="true">
                <a:solidFill>
                  <a:srgbClr val="0A1F44"/>
                </a:solidFill>
                <a:latin typeface="Arial Bold"/>
                <a:ea typeface="Arial Bold"/>
                <a:cs typeface="Arial Bold"/>
                <a:sym typeface="Arial Bold"/>
              </a:rPr>
              <a:t>Cukup</a:t>
            </a:r>
          </a:p>
        </p:txBody>
      </p:sp>
      <p:sp>
        <p:nvSpPr>
          <p:cNvPr name="TextBox 34" id="34"/>
          <p:cNvSpPr txBox="true"/>
          <p:nvPr/>
        </p:nvSpPr>
        <p:spPr>
          <a:xfrm rot="0">
            <a:off x="6035040" y="6198870"/>
            <a:ext cx="2468880" cy="567690"/>
          </a:xfrm>
          <a:prstGeom prst="rect">
            <a:avLst/>
          </a:prstGeom>
        </p:spPr>
        <p:txBody>
          <a:bodyPr anchor="t" rtlCol="false" tIns="0" lIns="0" bIns="0" rIns="0">
            <a:spAutoFit/>
          </a:bodyPr>
          <a:lstStyle/>
          <a:p>
            <a:pPr algn="r">
              <a:lnSpc>
                <a:spcPts val="3120"/>
              </a:lnSpc>
            </a:pPr>
            <a:r>
              <a:rPr lang="en-US" sz="2600" b="true">
                <a:solidFill>
                  <a:srgbClr val="1448C8"/>
                </a:solidFill>
                <a:latin typeface="Arial Bold"/>
                <a:ea typeface="Arial Bold"/>
                <a:cs typeface="Arial Bold"/>
                <a:sym typeface="Arial Bold"/>
              </a:rPr>
              <a:t>55–74%</a:t>
            </a:r>
          </a:p>
        </p:txBody>
      </p:sp>
      <p:sp>
        <p:nvSpPr>
          <p:cNvPr name="TextBox 35" id="35"/>
          <p:cNvSpPr txBox="true"/>
          <p:nvPr/>
        </p:nvSpPr>
        <p:spPr>
          <a:xfrm rot="0">
            <a:off x="1737360" y="6783324"/>
            <a:ext cx="6766560" cy="623316"/>
          </a:xfrm>
          <a:prstGeom prst="rect">
            <a:avLst/>
          </a:prstGeom>
        </p:spPr>
        <p:txBody>
          <a:bodyPr anchor="t" rtlCol="false" tIns="0" lIns="0" bIns="0" rIns="0">
            <a:spAutoFit/>
          </a:bodyPr>
          <a:lstStyle/>
          <a:p>
            <a:pPr algn="l">
              <a:lnSpc>
                <a:spcPts val="2279"/>
              </a:lnSpc>
            </a:pPr>
            <a:r>
              <a:rPr lang="en-US" sz="1899">
                <a:solidFill>
                  <a:srgbClr val="5B6B85"/>
                </a:solidFill>
                <a:latin typeface="Calibri (MS)"/>
                <a:ea typeface="Calibri (MS)"/>
                <a:cs typeface="Calibri (MS)"/>
                <a:sym typeface="Calibri (MS)"/>
              </a:rPr>
              <a:t>Memenuhi sebagian; kekurangan terlihat jelas.</a:t>
            </a:r>
          </a:p>
        </p:txBody>
      </p:sp>
      <p:grpSp>
        <p:nvGrpSpPr>
          <p:cNvPr name="Group 36" id="36"/>
          <p:cNvGrpSpPr/>
          <p:nvPr/>
        </p:nvGrpSpPr>
        <p:grpSpPr>
          <a:xfrm rot="0">
            <a:off x="904875" y="7671435"/>
            <a:ext cx="7882890" cy="1482090"/>
            <a:chOff x="0" y="0"/>
            <a:chExt cx="10510520" cy="1976120"/>
          </a:xfrm>
        </p:grpSpPr>
        <p:sp>
          <p:nvSpPr>
            <p:cNvPr name="Freeform 37" id="37"/>
            <p:cNvSpPr/>
            <p:nvPr/>
          </p:nvSpPr>
          <p:spPr>
            <a:xfrm flipH="false" flipV="false" rot="0">
              <a:off x="0" y="0"/>
              <a:ext cx="10510520" cy="1976120"/>
            </a:xfrm>
            <a:custGeom>
              <a:avLst/>
              <a:gdLst/>
              <a:ahLst/>
              <a:cxnLst/>
              <a:rect r="r" b="b" t="t" l="l"/>
              <a:pathLst>
                <a:path h="1976120" w="10510520">
                  <a:moveTo>
                    <a:pt x="0" y="197612"/>
                  </a:moveTo>
                  <a:cubicBezTo>
                    <a:pt x="0" y="88519"/>
                    <a:pt x="88519" y="0"/>
                    <a:pt x="197612" y="0"/>
                  </a:cubicBezTo>
                  <a:lnTo>
                    <a:pt x="10312908" y="0"/>
                  </a:lnTo>
                  <a:cubicBezTo>
                    <a:pt x="10422001" y="0"/>
                    <a:pt x="10510520" y="88519"/>
                    <a:pt x="10510520" y="197612"/>
                  </a:cubicBezTo>
                  <a:lnTo>
                    <a:pt x="10510520" y="1778508"/>
                  </a:lnTo>
                  <a:cubicBezTo>
                    <a:pt x="10510520" y="1887601"/>
                    <a:pt x="10422001" y="1976120"/>
                    <a:pt x="10312908" y="1976120"/>
                  </a:cubicBezTo>
                  <a:lnTo>
                    <a:pt x="197612" y="1976120"/>
                  </a:lnTo>
                  <a:cubicBezTo>
                    <a:pt x="88519" y="1976120"/>
                    <a:pt x="0" y="1887601"/>
                    <a:pt x="0" y="1778508"/>
                  </a:cubicBezTo>
                  <a:close/>
                </a:path>
              </a:pathLst>
            </a:custGeom>
            <a:solidFill>
              <a:srgbClr val="FFFFFF"/>
            </a:solidFill>
            <a:ln w="19050" cap="sq">
              <a:solidFill>
                <a:srgbClr val="D6E0F2"/>
              </a:solidFill>
              <a:prstDash val="solid"/>
              <a:miter/>
            </a:ln>
          </p:spPr>
        </p:sp>
      </p:grpSp>
      <p:grpSp>
        <p:nvGrpSpPr>
          <p:cNvPr name="Group 38" id="38"/>
          <p:cNvGrpSpPr/>
          <p:nvPr/>
        </p:nvGrpSpPr>
        <p:grpSpPr>
          <a:xfrm rot="0">
            <a:off x="1121159" y="7942583"/>
            <a:ext cx="281435" cy="939803"/>
            <a:chOff x="0" y="0"/>
            <a:chExt cx="375247" cy="1253071"/>
          </a:xfrm>
        </p:grpSpPr>
        <p:sp>
          <p:nvSpPr>
            <p:cNvPr name="Freeform 39" id="39"/>
            <p:cNvSpPr/>
            <p:nvPr/>
          </p:nvSpPr>
          <p:spPr>
            <a:xfrm flipH="false" flipV="false" rot="0">
              <a:off x="0" y="0"/>
              <a:ext cx="375158" cy="1252982"/>
            </a:xfrm>
            <a:custGeom>
              <a:avLst/>
              <a:gdLst/>
              <a:ahLst/>
              <a:cxnLst/>
              <a:rect r="r" b="b" t="t" l="l"/>
              <a:pathLst>
                <a:path h="1252982" w="375158">
                  <a:moveTo>
                    <a:pt x="0" y="133985"/>
                  </a:moveTo>
                  <a:cubicBezTo>
                    <a:pt x="0" y="59944"/>
                    <a:pt x="59944" y="0"/>
                    <a:pt x="133985" y="0"/>
                  </a:cubicBezTo>
                  <a:lnTo>
                    <a:pt x="241173" y="0"/>
                  </a:lnTo>
                  <a:cubicBezTo>
                    <a:pt x="315214" y="0"/>
                    <a:pt x="375158" y="59944"/>
                    <a:pt x="375158" y="133985"/>
                  </a:cubicBezTo>
                  <a:lnTo>
                    <a:pt x="375158" y="1118997"/>
                  </a:lnTo>
                  <a:cubicBezTo>
                    <a:pt x="375158" y="1193038"/>
                    <a:pt x="315214" y="1252982"/>
                    <a:pt x="241173" y="1252982"/>
                  </a:cubicBezTo>
                  <a:lnTo>
                    <a:pt x="133985" y="1252982"/>
                  </a:lnTo>
                  <a:cubicBezTo>
                    <a:pt x="59944" y="1253109"/>
                    <a:pt x="0" y="1193038"/>
                    <a:pt x="0" y="1118997"/>
                  </a:cubicBezTo>
                  <a:close/>
                </a:path>
              </a:pathLst>
            </a:custGeom>
            <a:solidFill>
              <a:srgbClr val="D6E0F2"/>
            </a:solidFill>
            <a:ln w="25400" cap="sq">
              <a:solidFill>
                <a:srgbClr val="D6E0F2"/>
              </a:solidFill>
              <a:prstDash val="solid"/>
              <a:miter/>
            </a:ln>
          </p:spPr>
        </p:sp>
      </p:grpSp>
      <p:sp>
        <p:nvSpPr>
          <p:cNvPr name="TextBox 40" id="40"/>
          <p:cNvSpPr txBox="true"/>
          <p:nvPr/>
        </p:nvSpPr>
        <p:spPr>
          <a:xfrm rot="0">
            <a:off x="1737360" y="7854315"/>
            <a:ext cx="4023360" cy="558165"/>
          </a:xfrm>
          <a:prstGeom prst="rect">
            <a:avLst/>
          </a:prstGeom>
        </p:spPr>
        <p:txBody>
          <a:bodyPr anchor="t" rtlCol="false" tIns="0" lIns="0" bIns="0" rIns="0">
            <a:spAutoFit/>
          </a:bodyPr>
          <a:lstStyle/>
          <a:p>
            <a:pPr algn="l">
              <a:lnSpc>
                <a:spcPts val="2999"/>
              </a:lnSpc>
            </a:pPr>
            <a:r>
              <a:rPr lang="en-US" sz="2499" b="true">
                <a:solidFill>
                  <a:srgbClr val="0A1F44"/>
                </a:solidFill>
                <a:latin typeface="Arial Bold"/>
                <a:ea typeface="Arial Bold"/>
                <a:cs typeface="Arial Bold"/>
                <a:sym typeface="Arial Bold"/>
              </a:rPr>
              <a:t>Kurang</a:t>
            </a:r>
          </a:p>
        </p:txBody>
      </p:sp>
      <p:sp>
        <p:nvSpPr>
          <p:cNvPr name="TextBox 41" id="41"/>
          <p:cNvSpPr txBox="true"/>
          <p:nvPr/>
        </p:nvSpPr>
        <p:spPr>
          <a:xfrm rot="0">
            <a:off x="6035040" y="7844790"/>
            <a:ext cx="2468880" cy="567690"/>
          </a:xfrm>
          <a:prstGeom prst="rect">
            <a:avLst/>
          </a:prstGeom>
        </p:spPr>
        <p:txBody>
          <a:bodyPr anchor="t" rtlCol="false" tIns="0" lIns="0" bIns="0" rIns="0">
            <a:spAutoFit/>
          </a:bodyPr>
          <a:lstStyle/>
          <a:p>
            <a:pPr algn="r">
              <a:lnSpc>
                <a:spcPts val="3120"/>
              </a:lnSpc>
            </a:pPr>
            <a:r>
              <a:rPr lang="en-US" sz="2600" b="true">
                <a:solidFill>
                  <a:srgbClr val="1448C8"/>
                </a:solidFill>
                <a:latin typeface="Arial Bold"/>
                <a:ea typeface="Arial Bold"/>
                <a:cs typeface="Arial Bold"/>
                <a:sym typeface="Arial Bold"/>
              </a:rPr>
              <a:t>0–54%</a:t>
            </a:r>
          </a:p>
        </p:txBody>
      </p:sp>
      <p:sp>
        <p:nvSpPr>
          <p:cNvPr name="TextBox 42" id="42"/>
          <p:cNvSpPr txBox="true"/>
          <p:nvPr/>
        </p:nvSpPr>
        <p:spPr>
          <a:xfrm rot="0">
            <a:off x="1737360" y="8429244"/>
            <a:ext cx="6766560" cy="623316"/>
          </a:xfrm>
          <a:prstGeom prst="rect">
            <a:avLst/>
          </a:prstGeom>
        </p:spPr>
        <p:txBody>
          <a:bodyPr anchor="t" rtlCol="false" tIns="0" lIns="0" bIns="0" rIns="0">
            <a:spAutoFit/>
          </a:bodyPr>
          <a:lstStyle/>
          <a:p>
            <a:pPr algn="l">
              <a:lnSpc>
                <a:spcPts val="2279"/>
              </a:lnSpc>
            </a:pPr>
            <a:r>
              <a:rPr lang="en-US" sz="1899">
                <a:solidFill>
                  <a:srgbClr val="5B6B85"/>
                </a:solidFill>
                <a:latin typeface="Calibri (MS)"/>
                <a:ea typeface="Calibri (MS)"/>
                <a:cs typeface="Calibri (MS)"/>
                <a:sym typeface="Calibri (MS)"/>
              </a:rPr>
              <a:t>Sangat minim, tidak berfungsi, atau tidak dapat dibuktikan.</a:t>
            </a:r>
          </a:p>
        </p:txBody>
      </p:sp>
      <p:grpSp>
        <p:nvGrpSpPr>
          <p:cNvPr name="Group 43" id="43"/>
          <p:cNvGrpSpPr/>
          <p:nvPr/>
        </p:nvGrpSpPr>
        <p:grpSpPr>
          <a:xfrm rot="0">
            <a:off x="9222743" y="2181863"/>
            <a:ext cx="8163563" cy="7066283"/>
            <a:chOff x="0" y="0"/>
            <a:chExt cx="10884751" cy="9421711"/>
          </a:xfrm>
        </p:grpSpPr>
        <p:sp>
          <p:nvSpPr>
            <p:cNvPr name="Freeform 44" id="44"/>
            <p:cNvSpPr/>
            <p:nvPr/>
          </p:nvSpPr>
          <p:spPr>
            <a:xfrm flipH="false" flipV="false" rot="0">
              <a:off x="0" y="0"/>
              <a:ext cx="10884789" cy="9421749"/>
            </a:xfrm>
            <a:custGeom>
              <a:avLst/>
              <a:gdLst/>
              <a:ahLst/>
              <a:cxnLst/>
              <a:rect r="r" b="b" t="t" l="l"/>
              <a:pathLst>
                <a:path h="9421749" w="10884789">
                  <a:moveTo>
                    <a:pt x="0" y="244729"/>
                  </a:moveTo>
                  <a:cubicBezTo>
                    <a:pt x="0" y="109601"/>
                    <a:pt x="109601" y="0"/>
                    <a:pt x="244729" y="0"/>
                  </a:cubicBezTo>
                  <a:lnTo>
                    <a:pt x="10640060" y="0"/>
                  </a:lnTo>
                  <a:cubicBezTo>
                    <a:pt x="10775188" y="0"/>
                    <a:pt x="10884789" y="109601"/>
                    <a:pt x="10884789" y="244729"/>
                  </a:cubicBezTo>
                  <a:lnTo>
                    <a:pt x="10884789" y="9177020"/>
                  </a:lnTo>
                  <a:cubicBezTo>
                    <a:pt x="10884789" y="9312148"/>
                    <a:pt x="10775188" y="9421749"/>
                    <a:pt x="10640060" y="9421749"/>
                  </a:cubicBezTo>
                  <a:lnTo>
                    <a:pt x="244729" y="9421749"/>
                  </a:lnTo>
                  <a:cubicBezTo>
                    <a:pt x="109601" y="9421749"/>
                    <a:pt x="0" y="9312148"/>
                    <a:pt x="0" y="9177020"/>
                  </a:cubicBezTo>
                  <a:close/>
                </a:path>
              </a:pathLst>
            </a:custGeom>
            <a:solidFill>
              <a:srgbClr val="0A1F44">
                <a:alpha val="85000"/>
              </a:srgbClr>
            </a:solidFill>
            <a:ln w="25400" cap="sq">
              <a:solidFill>
                <a:srgbClr val="0A1F44"/>
              </a:solidFill>
              <a:prstDash val="solid"/>
              <a:miter/>
            </a:ln>
          </p:spPr>
        </p:sp>
      </p:grpSp>
      <p:sp>
        <p:nvSpPr>
          <p:cNvPr name="TextBox 45" id="45"/>
          <p:cNvSpPr txBox="true"/>
          <p:nvPr/>
        </p:nvSpPr>
        <p:spPr>
          <a:xfrm rot="0">
            <a:off x="9692640" y="2476119"/>
            <a:ext cx="7315200" cy="504825"/>
          </a:xfrm>
          <a:prstGeom prst="rect">
            <a:avLst/>
          </a:prstGeom>
        </p:spPr>
        <p:txBody>
          <a:bodyPr anchor="t" rtlCol="false" tIns="0" lIns="0" bIns="0" rIns="0">
            <a:spAutoFit/>
          </a:bodyPr>
          <a:lstStyle/>
          <a:p>
            <a:pPr algn="l">
              <a:lnSpc>
                <a:spcPts val="2400"/>
              </a:lnSpc>
            </a:pPr>
            <a:r>
              <a:rPr lang="en-US" sz="2000" b="true">
                <a:solidFill>
                  <a:srgbClr val="FFC81E"/>
                </a:solidFill>
                <a:latin typeface="Consolas Bold"/>
                <a:ea typeface="Consolas Bold"/>
                <a:cs typeface="Consolas Bold"/>
                <a:sym typeface="Consolas Bold"/>
              </a:rPr>
              <a:t>KETENTUAN PENJURIAN</a:t>
            </a:r>
          </a:p>
        </p:txBody>
      </p:sp>
      <p:sp>
        <p:nvSpPr>
          <p:cNvPr name="TextBox 46" id="46"/>
          <p:cNvSpPr txBox="true"/>
          <p:nvPr/>
        </p:nvSpPr>
        <p:spPr>
          <a:xfrm rot="0">
            <a:off x="9692640" y="3061335"/>
            <a:ext cx="7315200" cy="6082665"/>
          </a:xfrm>
          <a:prstGeom prst="rect">
            <a:avLst/>
          </a:prstGeom>
        </p:spPr>
        <p:txBody>
          <a:bodyPr anchor="t" rtlCol="false" tIns="0" lIns="0" bIns="0" rIns="0">
            <a:spAutoFit/>
          </a:bodyPr>
          <a:lstStyle/>
          <a:p>
            <a:pPr algn="l" marL="530859" indent="-265430" lvl="1">
              <a:lnSpc>
                <a:spcPts val="2639"/>
              </a:lnSpc>
              <a:buFont typeface="Arial"/>
              <a:buChar char="•"/>
            </a:pPr>
            <a:r>
              <a:rPr lang="en-US" sz="2199">
                <a:solidFill>
                  <a:srgbClr val="FFFFFF"/>
                </a:solidFill>
                <a:latin typeface="Calibri (MS)"/>
                <a:ea typeface="Calibri (MS)"/>
                <a:cs typeface="Calibri (MS)"/>
                <a:sym typeface="Calibri (MS)"/>
              </a:rPr>
              <a:t>Nilai akhir adalah rata-rata skor seluruh juri yang menilai secara independen (maksimal 100).</a:t>
            </a:r>
          </a:p>
          <a:p>
            <a:pPr algn="l" marL="530859" indent="-265430" lvl="1">
              <a:lnSpc>
                <a:spcPts val="2639"/>
              </a:lnSpc>
              <a:buFont typeface="Arial"/>
              <a:buChar char="•"/>
            </a:pPr>
            <a:r>
              <a:rPr lang="en-US" sz="2199">
                <a:solidFill>
                  <a:srgbClr val="FFFFFF"/>
                </a:solidFill>
                <a:latin typeface="Calibri (MS)"/>
                <a:ea typeface="Calibri (MS)"/>
                <a:cs typeface="Calibri (MS)"/>
                <a:sym typeface="Calibri (MS)"/>
              </a:rPr>
              <a:t>Wajib dari nol: seluruh karya dibuat sejak lomba dibuka (5 Okt 2026, 09.30 WIB). Project atau repository yang sudah ada sebelumnya akan ada pengurangan nilai.</a:t>
            </a:r>
          </a:p>
          <a:p>
            <a:pPr algn="l" marL="530859" indent="-265430" lvl="1">
              <a:lnSpc>
                <a:spcPts val="2639"/>
              </a:lnSpc>
              <a:buFont typeface="Arial"/>
              <a:buChar char="•"/>
            </a:pPr>
            <a:r>
              <a:rPr lang="en-US" sz="2199">
                <a:solidFill>
                  <a:srgbClr val="FFFFFF"/>
                </a:solidFill>
                <a:latin typeface="Calibri (MS)"/>
                <a:ea typeface="Calibri (MS)"/>
                <a:cs typeface="Calibri (MS)"/>
                <a:sym typeface="Calibri (MS)"/>
              </a:rPr>
              <a:t>Keaslian diverifikasi: tanggal pembuatan repository dan riwayat commit dicocokkan dengan log prompt. Beban pembuktian ada pada peserta.</a:t>
            </a:r>
          </a:p>
          <a:p>
            <a:pPr algn="l" marL="530859" indent="-265430" lvl="1">
              <a:lnSpc>
                <a:spcPts val="2639"/>
              </a:lnSpc>
              <a:buFont typeface="Arial"/>
              <a:buChar char="•"/>
            </a:pPr>
            <a:r>
              <a:rPr lang="en-US" sz="2199">
                <a:solidFill>
                  <a:srgbClr val="FFFFFF"/>
                </a:solidFill>
                <a:latin typeface="Calibri (MS)"/>
                <a:ea typeface="Calibri (MS)"/>
                <a:cs typeface="Calibri (MS)"/>
                <a:sym typeface="Calibri (MS)"/>
              </a:rPr>
              <a:t>Terbukti memakai project lama: pengurangan nilai. Tidak dapat dibuktikan dari nol: diskualifikasi (tidak dinilai lebih lanjut).</a:t>
            </a:r>
          </a:p>
          <a:p>
            <a:pPr algn="l" marL="530859" indent="-265430" lvl="1">
              <a:lnSpc>
                <a:spcPts val="2639"/>
              </a:lnSpc>
              <a:buFont typeface="Arial"/>
              <a:buChar char="•"/>
            </a:pPr>
            <a:r>
              <a:rPr lang="en-US" sz="2199">
                <a:solidFill>
                  <a:srgbClr val="FFFFFF"/>
                </a:solidFill>
                <a:latin typeface="Calibri (MS)"/>
                <a:ea typeface="Calibri (MS)"/>
                <a:cs typeface="Calibri (MS)"/>
                <a:sym typeface="Calibri (MS)"/>
              </a:rPr>
              <a:t>Jika nilai sama, pembeda berurutan: Proses Vibe Coding, Fungsionalitas &amp; Relevansi Tema, UI/UX &amp; Responsivitas.</a:t>
            </a:r>
          </a:p>
          <a:p>
            <a:pPr algn="l" marL="530859" indent="-265430" lvl="1">
              <a:lnSpc>
                <a:spcPts val="2639"/>
              </a:lnSpc>
              <a:buFont typeface="Arial"/>
              <a:buChar char="•"/>
            </a:pPr>
            <a:r>
              <a:rPr lang="en-US" sz="2199">
                <a:solidFill>
                  <a:srgbClr val="FFFFFF"/>
                </a:solidFill>
                <a:latin typeface="Calibri (MS)"/>
                <a:ea typeface="Calibri (MS)"/>
                <a:cs typeface="Calibri (MS)"/>
                <a:sym typeface="Calibri (MS)"/>
              </a:rPr>
              <a:t>Keputusan dewan juri bersifat final dan tidak dapat diganggu gugat.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40"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10</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Ketentuan Penjurian — Karya Wajib Dari Nol</a:t>
              </a:r>
            </a:p>
          </p:txBody>
        </p:sp>
      </p:grpSp>
      <p:sp>
        <p:nvSpPr>
          <p:cNvPr name="TextBox 11" id="11"/>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2" id="12"/>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pSp>
        <p:nvGrpSpPr>
          <p:cNvPr name="Group 13" id="13"/>
          <p:cNvGrpSpPr/>
          <p:nvPr/>
        </p:nvGrpSpPr>
        <p:grpSpPr>
          <a:xfrm rot="0">
            <a:off x="901703" y="1907543"/>
            <a:ext cx="16484603" cy="1122683"/>
            <a:chOff x="0" y="0"/>
            <a:chExt cx="21979471" cy="1496911"/>
          </a:xfrm>
        </p:grpSpPr>
        <p:sp>
          <p:nvSpPr>
            <p:cNvPr name="Freeform 14" id="14"/>
            <p:cNvSpPr/>
            <p:nvPr/>
          </p:nvSpPr>
          <p:spPr>
            <a:xfrm flipH="false" flipV="false" rot="0">
              <a:off x="0" y="0"/>
              <a:ext cx="21979508" cy="1497076"/>
            </a:xfrm>
            <a:custGeom>
              <a:avLst/>
              <a:gdLst/>
              <a:ahLst/>
              <a:cxnLst/>
              <a:rect r="r" b="b" t="t" l="l"/>
              <a:pathLst>
                <a:path h="1497076" w="21979508">
                  <a:moveTo>
                    <a:pt x="0" y="199644"/>
                  </a:moveTo>
                  <a:cubicBezTo>
                    <a:pt x="0" y="89408"/>
                    <a:pt x="89408" y="0"/>
                    <a:pt x="199644" y="0"/>
                  </a:cubicBezTo>
                  <a:lnTo>
                    <a:pt x="21779864" y="0"/>
                  </a:lnTo>
                  <a:cubicBezTo>
                    <a:pt x="21890101" y="0"/>
                    <a:pt x="21979508" y="89408"/>
                    <a:pt x="21979508" y="199644"/>
                  </a:cubicBezTo>
                  <a:lnTo>
                    <a:pt x="21979508" y="1297432"/>
                  </a:lnTo>
                  <a:cubicBezTo>
                    <a:pt x="21979508" y="1407668"/>
                    <a:pt x="21890101" y="1497076"/>
                    <a:pt x="21779864" y="1497076"/>
                  </a:cubicBezTo>
                  <a:lnTo>
                    <a:pt x="199644" y="1497076"/>
                  </a:lnTo>
                  <a:cubicBezTo>
                    <a:pt x="89408" y="1496949"/>
                    <a:pt x="0" y="1407541"/>
                    <a:pt x="0" y="1297305"/>
                  </a:cubicBezTo>
                  <a:close/>
                </a:path>
              </a:pathLst>
            </a:custGeom>
            <a:solidFill>
              <a:srgbClr val="1448C8"/>
            </a:solidFill>
            <a:ln w="25400" cap="sq">
              <a:solidFill>
                <a:srgbClr val="1448C8"/>
              </a:solidFill>
              <a:prstDash val="solid"/>
              <a:miter/>
            </a:ln>
          </p:spPr>
        </p:sp>
      </p:grpSp>
      <p:grpSp>
        <p:nvGrpSpPr>
          <p:cNvPr name="Group 15" id="15"/>
          <p:cNvGrpSpPr/>
          <p:nvPr/>
        </p:nvGrpSpPr>
        <p:grpSpPr>
          <a:xfrm rot="0">
            <a:off x="1371600" y="1920240"/>
            <a:ext cx="2926080" cy="1097280"/>
            <a:chOff x="0" y="0"/>
            <a:chExt cx="3901440" cy="1463040"/>
          </a:xfrm>
        </p:grpSpPr>
        <p:sp>
          <p:nvSpPr>
            <p:cNvPr name="Freeform 16" id="16"/>
            <p:cNvSpPr/>
            <p:nvPr/>
          </p:nvSpPr>
          <p:spPr>
            <a:xfrm flipH="false" flipV="false" rot="0">
              <a:off x="0" y="0"/>
              <a:ext cx="3901440" cy="1463040"/>
            </a:xfrm>
            <a:custGeom>
              <a:avLst/>
              <a:gdLst/>
              <a:ahLst/>
              <a:cxnLst/>
              <a:rect r="r" b="b" t="t" l="l"/>
              <a:pathLst>
                <a:path h="1463040" w="3901440">
                  <a:moveTo>
                    <a:pt x="0" y="0"/>
                  </a:moveTo>
                  <a:lnTo>
                    <a:pt x="3901440" y="0"/>
                  </a:lnTo>
                  <a:lnTo>
                    <a:pt x="3901440" y="1463040"/>
                  </a:lnTo>
                  <a:lnTo>
                    <a:pt x="0" y="1463040"/>
                  </a:lnTo>
                  <a:close/>
                </a:path>
              </a:pathLst>
            </a:custGeom>
            <a:blipFill>
              <a:blip r:embed="rId4">
                <a:alphaModFix amt="0"/>
              </a:blip>
              <a:stretch>
                <a:fillRect l="0" t="-1960" r="0" b="-1960"/>
              </a:stretch>
            </a:blipFill>
          </p:spPr>
        </p:sp>
        <p:sp>
          <p:nvSpPr>
            <p:cNvPr name="TextBox 17" id="17"/>
            <p:cNvSpPr txBox="true"/>
            <p:nvPr/>
          </p:nvSpPr>
          <p:spPr>
            <a:xfrm>
              <a:off x="0" y="-47625"/>
              <a:ext cx="3901440" cy="1510665"/>
            </a:xfrm>
            <a:prstGeom prst="rect">
              <a:avLst/>
            </a:prstGeom>
          </p:spPr>
          <p:txBody>
            <a:bodyPr anchor="ctr" rtlCol="false" tIns="0" lIns="0" bIns="0" rIns="0"/>
            <a:lstStyle/>
            <a:p>
              <a:pPr algn="l">
                <a:lnSpc>
                  <a:spcPts val="2400"/>
                </a:lnSpc>
              </a:pPr>
              <a:r>
                <a:rPr lang="en-US" sz="2000" b="true">
                  <a:solidFill>
                    <a:srgbClr val="FFC81E"/>
                  </a:solidFill>
                  <a:latin typeface="Consolas Bold"/>
                  <a:ea typeface="Consolas Bold"/>
                  <a:cs typeface="Consolas Bold"/>
                  <a:sym typeface="Consolas Bold"/>
                </a:rPr>
                <a:t>GARIS START</a:t>
              </a:r>
            </a:p>
          </p:txBody>
        </p:sp>
      </p:grpSp>
      <p:grpSp>
        <p:nvGrpSpPr>
          <p:cNvPr name="Group 18" id="18"/>
          <p:cNvGrpSpPr/>
          <p:nvPr/>
        </p:nvGrpSpPr>
        <p:grpSpPr>
          <a:xfrm rot="0">
            <a:off x="4023360" y="1920240"/>
            <a:ext cx="4754880" cy="1097280"/>
            <a:chOff x="0" y="0"/>
            <a:chExt cx="6339840" cy="1463040"/>
          </a:xfrm>
        </p:grpSpPr>
        <p:sp>
          <p:nvSpPr>
            <p:cNvPr name="Freeform 19" id="19"/>
            <p:cNvSpPr/>
            <p:nvPr/>
          </p:nvSpPr>
          <p:spPr>
            <a:xfrm flipH="false" flipV="false" rot="0">
              <a:off x="0" y="0"/>
              <a:ext cx="6339840" cy="1463040"/>
            </a:xfrm>
            <a:custGeom>
              <a:avLst/>
              <a:gdLst/>
              <a:ahLst/>
              <a:cxnLst/>
              <a:rect r="r" b="b" t="t" l="l"/>
              <a:pathLst>
                <a:path h="1463040" w="6339840">
                  <a:moveTo>
                    <a:pt x="0" y="0"/>
                  </a:moveTo>
                  <a:lnTo>
                    <a:pt x="6339840" y="0"/>
                  </a:lnTo>
                  <a:lnTo>
                    <a:pt x="6339840" y="1463040"/>
                  </a:lnTo>
                  <a:lnTo>
                    <a:pt x="0" y="1463040"/>
                  </a:lnTo>
                  <a:close/>
                </a:path>
              </a:pathLst>
            </a:custGeom>
            <a:blipFill>
              <a:blip r:embed="rId4">
                <a:alphaModFix amt="0"/>
              </a:blip>
              <a:stretch>
                <a:fillRect l="0" t="-34435" r="0" b="-34435"/>
              </a:stretch>
            </a:blipFill>
          </p:spPr>
        </p:sp>
        <p:sp>
          <p:nvSpPr>
            <p:cNvPr name="TextBox 20" id="20"/>
            <p:cNvSpPr txBox="true"/>
            <p:nvPr/>
          </p:nvSpPr>
          <p:spPr>
            <a:xfrm>
              <a:off x="0" y="-19050"/>
              <a:ext cx="6339840" cy="1482090"/>
            </a:xfrm>
            <a:prstGeom prst="rect">
              <a:avLst/>
            </a:prstGeom>
          </p:spPr>
          <p:txBody>
            <a:bodyPr anchor="ctr" rtlCol="false" tIns="0" lIns="0" bIns="0" rIns="0"/>
            <a:lstStyle/>
            <a:p>
              <a:pPr algn="l">
                <a:lnSpc>
                  <a:spcPts val="3600"/>
                </a:lnSpc>
              </a:pPr>
              <a:r>
                <a:rPr lang="en-US" sz="3000" b="true">
                  <a:solidFill>
                    <a:srgbClr val="FFFFFF"/>
                  </a:solidFill>
                  <a:latin typeface="Arial Bold"/>
                  <a:ea typeface="Arial Bold"/>
                  <a:cs typeface="Arial Bold"/>
                  <a:sym typeface="Arial Bold"/>
                </a:rPr>
                <a:t>5 Okt 2026 · 09.30 WIB</a:t>
              </a:r>
            </a:p>
          </p:txBody>
        </p:sp>
      </p:grpSp>
      <p:grpSp>
        <p:nvGrpSpPr>
          <p:cNvPr name="Group 21" id="21"/>
          <p:cNvGrpSpPr/>
          <p:nvPr/>
        </p:nvGrpSpPr>
        <p:grpSpPr>
          <a:xfrm rot="0">
            <a:off x="8778240" y="1920240"/>
            <a:ext cx="8321040" cy="1097280"/>
            <a:chOff x="0" y="0"/>
            <a:chExt cx="11094720" cy="1463040"/>
          </a:xfrm>
        </p:grpSpPr>
        <p:sp>
          <p:nvSpPr>
            <p:cNvPr name="Freeform 22" id="22"/>
            <p:cNvSpPr/>
            <p:nvPr/>
          </p:nvSpPr>
          <p:spPr>
            <a:xfrm flipH="false" flipV="false" rot="0">
              <a:off x="0" y="0"/>
              <a:ext cx="11094720" cy="1463040"/>
            </a:xfrm>
            <a:custGeom>
              <a:avLst/>
              <a:gdLst/>
              <a:ahLst/>
              <a:cxnLst/>
              <a:rect r="r" b="b" t="t" l="l"/>
              <a:pathLst>
                <a:path h="1463040" w="11094720">
                  <a:moveTo>
                    <a:pt x="0" y="0"/>
                  </a:moveTo>
                  <a:lnTo>
                    <a:pt x="11094720" y="0"/>
                  </a:lnTo>
                  <a:lnTo>
                    <a:pt x="11094720" y="1463040"/>
                  </a:lnTo>
                  <a:lnTo>
                    <a:pt x="0" y="1463040"/>
                  </a:lnTo>
                  <a:close/>
                </a:path>
              </a:pathLst>
            </a:custGeom>
            <a:blipFill>
              <a:blip r:embed="rId4">
                <a:alphaModFix amt="0"/>
              </a:blip>
              <a:stretch>
                <a:fillRect l="0" t="-97761" r="0" b="-97761"/>
              </a:stretch>
            </a:blipFill>
          </p:spPr>
        </p:sp>
        <p:sp>
          <p:nvSpPr>
            <p:cNvPr name="TextBox 23" id="23"/>
            <p:cNvSpPr txBox="true"/>
            <p:nvPr/>
          </p:nvSpPr>
          <p:spPr>
            <a:xfrm>
              <a:off x="0" y="-38100"/>
              <a:ext cx="11094720" cy="1501140"/>
            </a:xfrm>
            <a:prstGeom prst="rect">
              <a:avLst/>
            </a:prstGeom>
          </p:spPr>
          <p:txBody>
            <a:bodyPr anchor="ctr" rtlCol="false" tIns="0" lIns="0" bIns="0" rIns="0"/>
            <a:lstStyle/>
            <a:p>
              <a:pPr algn="l">
                <a:lnSpc>
                  <a:spcPts val="2279"/>
                </a:lnSpc>
              </a:pPr>
              <a:r>
                <a:rPr lang="en-US" sz="1899">
                  <a:solidFill>
                    <a:srgbClr val="FFFFFF"/>
                  </a:solidFill>
                  <a:latin typeface="Calibri (MS)"/>
                  <a:ea typeface="Calibri (MS)"/>
                  <a:cs typeface="Calibri (MS)"/>
                  <a:sym typeface="Calibri (MS)"/>
                </a:rPr>
                <a:t>Repository, kode, desain, dan docs AI Agent harus dibuat setelah garis start. Ide boleh disiapkan sebelumnya; hasil jadinya tidak.</a:t>
              </a:r>
            </a:p>
          </p:txBody>
        </p:sp>
      </p:grpSp>
      <p:grpSp>
        <p:nvGrpSpPr>
          <p:cNvPr name="Group 24" id="24"/>
          <p:cNvGrpSpPr/>
          <p:nvPr/>
        </p:nvGrpSpPr>
        <p:grpSpPr>
          <a:xfrm rot="0">
            <a:off x="904875" y="3245739"/>
            <a:ext cx="8065770" cy="2945130"/>
            <a:chOff x="0" y="0"/>
            <a:chExt cx="10754360" cy="3926840"/>
          </a:xfrm>
        </p:grpSpPr>
        <p:sp>
          <p:nvSpPr>
            <p:cNvPr name="Freeform 25" id="25"/>
            <p:cNvSpPr/>
            <p:nvPr/>
          </p:nvSpPr>
          <p:spPr>
            <a:xfrm flipH="false" flipV="false" rot="0">
              <a:off x="0" y="0"/>
              <a:ext cx="10754361" cy="3926840"/>
            </a:xfrm>
            <a:custGeom>
              <a:avLst/>
              <a:gdLst/>
              <a:ahLst/>
              <a:cxnLst/>
              <a:rect r="r" b="b" t="t" l="l"/>
              <a:pathLst>
                <a:path h="3926840" w="10754361">
                  <a:moveTo>
                    <a:pt x="0" y="196342"/>
                  </a:moveTo>
                  <a:cubicBezTo>
                    <a:pt x="0" y="87884"/>
                    <a:pt x="87884" y="0"/>
                    <a:pt x="196342" y="0"/>
                  </a:cubicBezTo>
                  <a:lnTo>
                    <a:pt x="10558018" y="0"/>
                  </a:lnTo>
                  <a:cubicBezTo>
                    <a:pt x="10666476" y="0"/>
                    <a:pt x="10754361" y="87884"/>
                    <a:pt x="10754361" y="196342"/>
                  </a:cubicBezTo>
                  <a:lnTo>
                    <a:pt x="10754361" y="3730498"/>
                  </a:lnTo>
                  <a:cubicBezTo>
                    <a:pt x="10754361" y="3838956"/>
                    <a:pt x="10666476" y="3926840"/>
                    <a:pt x="10558018" y="3926840"/>
                  </a:cubicBezTo>
                  <a:lnTo>
                    <a:pt x="196342" y="3926840"/>
                  </a:lnTo>
                  <a:cubicBezTo>
                    <a:pt x="87884" y="3926840"/>
                    <a:pt x="0" y="3838956"/>
                    <a:pt x="0" y="3730498"/>
                  </a:cubicBezTo>
                  <a:close/>
                </a:path>
              </a:pathLst>
            </a:custGeom>
            <a:solidFill>
              <a:srgbClr val="FFFFFF">
                <a:alpha val="50000"/>
              </a:srgbClr>
            </a:solidFill>
            <a:ln w="19050" cap="sq">
              <a:solidFill>
                <a:srgbClr val="D6E0F2"/>
              </a:solidFill>
              <a:prstDash val="solid"/>
              <a:miter/>
            </a:ln>
          </p:spPr>
        </p:sp>
      </p:grpSp>
      <p:sp>
        <p:nvSpPr>
          <p:cNvPr name="TextBox 26" id="26"/>
          <p:cNvSpPr txBox="true"/>
          <p:nvPr/>
        </p:nvSpPr>
        <p:spPr>
          <a:xfrm rot="0">
            <a:off x="1280160" y="3390519"/>
            <a:ext cx="7315200" cy="504825"/>
          </a:xfrm>
          <a:prstGeom prst="rect">
            <a:avLst/>
          </a:prstGeom>
        </p:spPr>
        <p:txBody>
          <a:bodyPr anchor="t" rtlCol="false" tIns="0" lIns="0" bIns="0" rIns="0">
            <a:spAutoFit/>
          </a:bodyPr>
          <a:lstStyle/>
          <a:p>
            <a:pPr algn="l">
              <a:lnSpc>
                <a:spcPts val="2400"/>
              </a:lnSpc>
            </a:pPr>
            <a:r>
              <a:rPr lang="en-US" sz="2000" b="true">
                <a:solidFill>
                  <a:srgbClr val="5BD18B"/>
                </a:solidFill>
                <a:latin typeface="Consolas Bold"/>
                <a:ea typeface="Consolas Bold"/>
                <a:cs typeface="Consolas Bold"/>
                <a:sym typeface="Consolas Bold"/>
              </a:rPr>
              <a:t>✓  YANG BOLEH</a:t>
            </a:r>
          </a:p>
        </p:txBody>
      </p:sp>
      <p:sp>
        <p:nvSpPr>
          <p:cNvPr name="TextBox 27" id="27"/>
          <p:cNvSpPr txBox="true"/>
          <p:nvPr/>
        </p:nvSpPr>
        <p:spPr>
          <a:xfrm rot="0">
            <a:off x="1280160" y="3948684"/>
            <a:ext cx="7315200" cy="2141220"/>
          </a:xfrm>
          <a:prstGeom prst="rect">
            <a:avLst/>
          </a:prstGeom>
        </p:spPr>
        <p:txBody>
          <a:bodyPr anchor="t" rtlCol="false" tIns="0" lIns="0" bIns="0" rIns="0">
            <a:spAutoFit/>
          </a:bodyPr>
          <a:lstStyle/>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Menyiapkan akun GitHub, hosting, dan tools pada waktu persiapan (09.00–09.30).</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Memikirkan ide dan konsep sebelum lomba, tanpa kode, desain, atau dokumen jadi.</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Memakai framework, library, dan package pihak ketiga (npm, composer, dsb.).</a:t>
            </a:r>
          </a:p>
        </p:txBody>
      </p:sp>
      <p:grpSp>
        <p:nvGrpSpPr>
          <p:cNvPr name="Group 28" id="28"/>
          <p:cNvGrpSpPr/>
          <p:nvPr/>
        </p:nvGrpSpPr>
        <p:grpSpPr>
          <a:xfrm rot="0">
            <a:off x="9317355" y="3245739"/>
            <a:ext cx="8065770" cy="2945130"/>
            <a:chOff x="0" y="0"/>
            <a:chExt cx="10754360" cy="3926840"/>
          </a:xfrm>
        </p:grpSpPr>
        <p:sp>
          <p:nvSpPr>
            <p:cNvPr name="Freeform 29" id="29"/>
            <p:cNvSpPr/>
            <p:nvPr/>
          </p:nvSpPr>
          <p:spPr>
            <a:xfrm flipH="false" flipV="false" rot="0">
              <a:off x="0" y="0"/>
              <a:ext cx="10754361" cy="3926840"/>
            </a:xfrm>
            <a:custGeom>
              <a:avLst/>
              <a:gdLst/>
              <a:ahLst/>
              <a:cxnLst/>
              <a:rect r="r" b="b" t="t" l="l"/>
              <a:pathLst>
                <a:path h="3926840" w="10754361">
                  <a:moveTo>
                    <a:pt x="0" y="196342"/>
                  </a:moveTo>
                  <a:cubicBezTo>
                    <a:pt x="0" y="87884"/>
                    <a:pt x="87884" y="0"/>
                    <a:pt x="196342" y="0"/>
                  </a:cubicBezTo>
                  <a:lnTo>
                    <a:pt x="10558018" y="0"/>
                  </a:lnTo>
                  <a:cubicBezTo>
                    <a:pt x="10666476" y="0"/>
                    <a:pt x="10754361" y="87884"/>
                    <a:pt x="10754361" y="196342"/>
                  </a:cubicBezTo>
                  <a:lnTo>
                    <a:pt x="10754361" y="3730498"/>
                  </a:lnTo>
                  <a:cubicBezTo>
                    <a:pt x="10754361" y="3838956"/>
                    <a:pt x="10666476" y="3926840"/>
                    <a:pt x="10558018" y="3926840"/>
                  </a:cubicBezTo>
                  <a:lnTo>
                    <a:pt x="196342" y="3926840"/>
                  </a:lnTo>
                  <a:cubicBezTo>
                    <a:pt x="87884" y="3926840"/>
                    <a:pt x="0" y="3838956"/>
                    <a:pt x="0" y="3730498"/>
                  </a:cubicBezTo>
                  <a:close/>
                </a:path>
              </a:pathLst>
            </a:custGeom>
            <a:solidFill>
              <a:srgbClr val="FFFFFF">
                <a:alpha val="50000"/>
              </a:srgbClr>
            </a:solidFill>
            <a:ln w="19050" cap="sq">
              <a:solidFill>
                <a:srgbClr val="D6E0F2"/>
              </a:solidFill>
              <a:prstDash val="solid"/>
              <a:miter/>
            </a:ln>
          </p:spPr>
        </p:sp>
      </p:grpSp>
      <p:sp>
        <p:nvSpPr>
          <p:cNvPr name="TextBox 30" id="30"/>
          <p:cNvSpPr txBox="true"/>
          <p:nvPr/>
        </p:nvSpPr>
        <p:spPr>
          <a:xfrm rot="0">
            <a:off x="9692640" y="3390519"/>
            <a:ext cx="7315200" cy="504825"/>
          </a:xfrm>
          <a:prstGeom prst="rect">
            <a:avLst/>
          </a:prstGeom>
        </p:spPr>
        <p:txBody>
          <a:bodyPr anchor="t" rtlCol="false" tIns="0" lIns="0" bIns="0" rIns="0">
            <a:spAutoFit/>
          </a:bodyPr>
          <a:lstStyle/>
          <a:p>
            <a:pPr algn="l">
              <a:lnSpc>
                <a:spcPts val="2400"/>
              </a:lnSpc>
            </a:pPr>
            <a:r>
              <a:rPr lang="en-US" sz="2000" b="true">
                <a:solidFill>
                  <a:srgbClr val="E5484D"/>
                </a:solidFill>
                <a:latin typeface="Consolas Bold"/>
                <a:ea typeface="Consolas Bold"/>
                <a:cs typeface="Consolas Bold"/>
                <a:sym typeface="Consolas Bold"/>
              </a:rPr>
              <a:t>✕  YANG TIDAK BOLEH</a:t>
            </a:r>
          </a:p>
        </p:txBody>
      </p:sp>
      <p:sp>
        <p:nvSpPr>
          <p:cNvPr name="TextBox 31" id="31"/>
          <p:cNvSpPr txBox="true"/>
          <p:nvPr/>
        </p:nvSpPr>
        <p:spPr>
          <a:xfrm rot="0">
            <a:off x="9692640" y="3948684"/>
            <a:ext cx="7315200" cy="2141220"/>
          </a:xfrm>
          <a:prstGeom prst="rect">
            <a:avLst/>
          </a:prstGeom>
        </p:spPr>
        <p:txBody>
          <a:bodyPr anchor="t" rtlCol="false" tIns="0" lIns="0" bIns="0" rIns="0">
            <a:spAutoFit/>
          </a:bodyPr>
          <a:lstStyle/>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Memakai repository, fork, atau template dari project yang dibuat sebelum garis start.</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Menyalin kode, komponen, atau halaman dari project lama, termasuk milik sendiri.</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Memakai docs acuan AI Agent atau prompt yang sudah disusun sebelum lomba.</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Menghapus/menulis ulang riwayat commit (force push) dan memalsukan tanggal commit.</a:t>
            </a:r>
          </a:p>
        </p:txBody>
      </p:sp>
      <p:grpSp>
        <p:nvGrpSpPr>
          <p:cNvPr name="Group 32" id="32"/>
          <p:cNvGrpSpPr/>
          <p:nvPr/>
        </p:nvGrpSpPr>
        <p:grpSpPr>
          <a:xfrm rot="0">
            <a:off x="904875" y="6354699"/>
            <a:ext cx="8065770" cy="2945130"/>
            <a:chOff x="0" y="0"/>
            <a:chExt cx="10754360" cy="3926840"/>
          </a:xfrm>
        </p:grpSpPr>
        <p:sp>
          <p:nvSpPr>
            <p:cNvPr name="Freeform 33" id="33"/>
            <p:cNvSpPr/>
            <p:nvPr/>
          </p:nvSpPr>
          <p:spPr>
            <a:xfrm flipH="false" flipV="false" rot="0">
              <a:off x="0" y="0"/>
              <a:ext cx="10754361" cy="3926840"/>
            </a:xfrm>
            <a:custGeom>
              <a:avLst/>
              <a:gdLst/>
              <a:ahLst/>
              <a:cxnLst/>
              <a:rect r="r" b="b" t="t" l="l"/>
              <a:pathLst>
                <a:path h="3926840" w="10754361">
                  <a:moveTo>
                    <a:pt x="0" y="196342"/>
                  </a:moveTo>
                  <a:cubicBezTo>
                    <a:pt x="0" y="87884"/>
                    <a:pt x="87884" y="0"/>
                    <a:pt x="196342" y="0"/>
                  </a:cubicBezTo>
                  <a:lnTo>
                    <a:pt x="10558018" y="0"/>
                  </a:lnTo>
                  <a:cubicBezTo>
                    <a:pt x="10666476" y="0"/>
                    <a:pt x="10754361" y="87884"/>
                    <a:pt x="10754361" y="196342"/>
                  </a:cubicBezTo>
                  <a:lnTo>
                    <a:pt x="10754361" y="3730498"/>
                  </a:lnTo>
                  <a:cubicBezTo>
                    <a:pt x="10754361" y="3838956"/>
                    <a:pt x="10666476" y="3926840"/>
                    <a:pt x="10558018" y="3926840"/>
                  </a:cubicBezTo>
                  <a:lnTo>
                    <a:pt x="196342" y="3926840"/>
                  </a:lnTo>
                  <a:cubicBezTo>
                    <a:pt x="87884" y="3926840"/>
                    <a:pt x="0" y="3838956"/>
                    <a:pt x="0" y="3730498"/>
                  </a:cubicBezTo>
                  <a:close/>
                </a:path>
              </a:pathLst>
            </a:custGeom>
            <a:solidFill>
              <a:srgbClr val="FFFFFF">
                <a:alpha val="50000"/>
              </a:srgbClr>
            </a:solidFill>
            <a:ln w="19050" cap="sq">
              <a:solidFill>
                <a:srgbClr val="D6E0F2"/>
              </a:solidFill>
              <a:prstDash val="solid"/>
              <a:miter/>
            </a:ln>
          </p:spPr>
        </p:sp>
      </p:grpSp>
      <p:sp>
        <p:nvSpPr>
          <p:cNvPr name="TextBox 34" id="34"/>
          <p:cNvSpPr txBox="true"/>
          <p:nvPr/>
        </p:nvSpPr>
        <p:spPr>
          <a:xfrm rot="0">
            <a:off x="1280160" y="6499479"/>
            <a:ext cx="7315200" cy="504825"/>
          </a:xfrm>
          <a:prstGeom prst="rect">
            <a:avLst/>
          </a:prstGeom>
        </p:spPr>
        <p:txBody>
          <a:bodyPr anchor="t" rtlCol="false" tIns="0" lIns="0" bIns="0" rIns="0">
            <a:spAutoFit/>
          </a:bodyPr>
          <a:lstStyle/>
          <a:p>
            <a:pPr algn="l">
              <a:lnSpc>
                <a:spcPts val="2400"/>
              </a:lnSpc>
            </a:pPr>
            <a:r>
              <a:rPr lang="en-US" sz="2000" b="true">
                <a:solidFill>
                  <a:srgbClr val="1448C8"/>
                </a:solidFill>
                <a:latin typeface="Consolas Bold"/>
                <a:ea typeface="Consolas Bold"/>
                <a:cs typeface="Consolas Bold"/>
                <a:sym typeface="Consolas Bold"/>
              </a:rPr>
              <a:t>CARA JURI MEMVERIFIKASI</a:t>
            </a:r>
          </a:p>
        </p:txBody>
      </p:sp>
      <p:sp>
        <p:nvSpPr>
          <p:cNvPr name="TextBox 35" id="35"/>
          <p:cNvSpPr txBox="true"/>
          <p:nvPr/>
        </p:nvSpPr>
        <p:spPr>
          <a:xfrm rot="0">
            <a:off x="1280160" y="7057644"/>
            <a:ext cx="7315200" cy="2141220"/>
          </a:xfrm>
          <a:prstGeom prst="rect">
            <a:avLst/>
          </a:prstGeom>
        </p:spPr>
        <p:txBody>
          <a:bodyPr anchor="t" rtlCol="false" tIns="0" lIns="0" bIns="0" rIns="0">
            <a:spAutoFit/>
          </a:bodyPr>
          <a:lstStyle/>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Tanggal pembuatan repository dan commit pertama dicek terhadap garis start (5 Okt 2026, 09.30 WIB).</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Log prompt dicocokkan dengan riwayat commit: urutan, isi, dan waktunya.</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Juri dapat meminta klarifikasi singkat (tertulis atau daring). Beban pembuktian ada pada peserta.</a:t>
            </a:r>
          </a:p>
        </p:txBody>
      </p:sp>
      <p:grpSp>
        <p:nvGrpSpPr>
          <p:cNvPr name="Group 36" id="36"/>
          <p:cNvGrpSpPr/>
          <p:nvPr/>
        </p:nvGrpSpPr>
        <p:grpSpPr>
          <a:xfrm rot="0">
            <a:off x="9317355" y="6354699"/>
            <a:ext cx="8065770" cy="2945130"/>
            <a:chOff x="0" y="0"/>
            <a:chExt cx="10754360" cy="3926840"/>
          </a:xfrm>
        </p:grpSpPr>
        <p:sp>
          <p:nvSpPr>
            <p:cNvPr name="Freeform 37" id="37"/>
            <p:cNvSpPr/>
            <p:nvPr/>
          </p:nvSpPr>
          <p:spPr>
            <a:xfrm flipH="false" flipV="false" rot="0">
              <a:off x="0" y="0"/>
              <a:ext cx="10754361" cy="3926840"/>
            </a:xfrm>
            <a:custGeom>
              <a:avLst/>
              <a:gdLst/>
              <a:ahLst/>
              <a:cxnLst/>
              <a:rect r="r" b="b" t="t" l="l"/>
              <a:pathLst>
                <a:path h="3926840" w="10754361">
                  <a:moveTo>
                    <a:pt x="0" y="196342"/>
                  </a:moveTo>
                  <a:cubicBezTo>
                    <a:pt x="0" y="87884"/>
                    <a:pt x="87884" y="0"/>
                    <a:pt x="196342" y="0"/>
                  </a:cubicBezTo>
                  <a:lnTo>
                    <a:pt x="10558018" y="0"/>
                  </a:lnTo>
                  <a:cubicBezTo>
                    <a:pt x="10666476" y="0"/>
                    <a:pt x="10754361" y="87884"/>
                    <a:pt x="10754361" y="196342"/>
                  </a:cubicBezTo>
                  <a:lnTo>
                    <a:pt x="10754361" y="3730498"/>
                  </a:lnTo>
                  <a:cubicBezTo>
                    <a:pt x="10754361" y="3838956"/>
                    <a:pt x="10666476" y="3926840"/>
                    <a:pt x="10558018" y="3926840"/>
                  </a:cubicBezTo>
                  <a:lnTo>
                    <a:pt x="196342" y="3926840"/>
                  </a:lnTo>
                  <a:cubicBezTo>
                    <a:pt x="87884" y="3926840"/>
                    <a:pt x="0" y="3838956"/>
                    <a:pt x="0" y="3730498"/>
                  </a:cubicBezTo>
                  <a:close/>
                </a:path>
              </a:pathLst>
            </a:custGeom>
            <a:solidFill>
              <a:srgbClr val="FFF4CC">
                <a:alpha val="50000"/>
              </a:srgbClr>
            </a:solidFill>
            <a:ln w="19050" cap="sq">
              <a:solidFill>
                <a:srgbClr val="FFC81E"/>
              </a:solidFill>
              <a:prstDash val="solid"/>
              <a:miter/>
            </a:ln>
          </p:spPr>
        </p:sp>
      </p:grpSp>
      <p:sp>
        <p:nvSpPr>
          <p:cNvPr name="TextBox 38" id="38"/>
          <p:cNvSpPr txBox="true"/>
          <p:nvPr/>
        </p:nvSpPr>
        <p:spPr>
          <a:xfrm rot="0">
            <a:off x="9692640" y="6499479"/>
            <a:ext cx="7315200" cy="504825"/>
          </a:xfrm>
          <a:prstGeom prst="rect">
            <a:avLst/>
          </a:prstGeom>
        </p:spPr>
        <p:txBody>
          <a:bodyPr anchor="t" rtlCol="false" tIns="0" lIns="0" bIns="0" rIns="0">
            <a:spAutoFit/>
          </a:bodyPr>
          <a:lstStyle/>
          <a:p>
            <a:pPr algn="l">
              <a:lnSpc>
                <a:spcPts val="2400"/>
              </a:lnSpc>
            </a:pPr>
            <a:r>
              <a:rPr lang="en-US" sz="2000" b="true">
                <a:solidFill>
                  <a:srgbClr val="0B1D3A"/>
                </a:solidFill>
                <a:latin typeface="Consolas Bold"/>
                <a:ea typeface="Consolas Bold"/>
                <a:cs typeface="Consolas Bold"/>
                <a:sym typeface="Consolas Bold"/>
              </a:rPr>
              <a:t>SANKSI</a:t>
            </a:r>
          </a:p>
        </p:txBody>
      </p:sp>
      <p:sp>
        <p:nvSpPr>
          <p:cNvPr name="TextBox 39" id="39"/>
          <p:cNvSpPr txBox="true"/>
          <p:nvPr/>
        </p:nvSpPr>
        <p:spPr>
          <a:xfrm rot="0">
            <a:off x="9692640" y="7057644"/>
            <a:ext cx="7315200" cy="2141220"/>
          </a:xfrm>
          <a:prstGeom prst="rect">
            <a:avLst/>
          </a:prstGeom>
        </p:spPr>
        <p:txBody>
          <a:bodyPr anchor="t" rtlCol="false" tIns="0" lIns="0" bIns="0" rIns="0">
            <a:spAutoFit/>
          </a:bodyPr>
          <a:lstStyle/>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Terbukti memakai project lama: pengurangan nilai sebesar 35%.</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Tidak dapat dibuktikan dibuat dari nol: diskualifikasi.</a:t>
            </a:r>
          </a:p>
          <a:p>
            <a:pPr algn="l" marL="410211" indent="-205105" lvl="1">
              <a:lnSpc>
                <a:spcPts val="2040"/>
              </a:lnSpc>
              <a:buFont typeface="Arial"/>
              <a:buChar char="•"/>
            </a:pPr>
            <a:r>
              <a:rPr lang="en-US" sz="1700">
                <a:solidFill>
                  <a:srgbClr val="0B1D3A"/>
                </a:solidFill>
                <a:latin typeface="Calibri (MS)"/>
                <a:ea typeface="Calibri (MS)"/>
                <a:cs typeface="Calibri (MS)"/>
                <a:sym typeface="Calibri (MS)"/>
              </a:rPr>
              <a:t>Tidak menanggapi klarifikasi tepat waktu: dianggap tidak dapat dibuktikan.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51"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1097280" y="731520"/>
            <a:ext cx="14630400" cy="1097280"/>
            <a:chOff x="0" y="0"/>
            <a:chExt cx="19507200" cy="1463040"/>
          </a:xfrm>
        </p:grpSpPr>
        <p:sp>
          <p:nvSpPr>
            <p:cNvPr name="Freeform 4" id="4"/>
            <p:cNvSpPr/>
            <p:nvPr/>
          </p:nvSpPr>
          <p:spPr>
            <a:xfrm flipH="false" flipV="false" rot="0">
              <a:off x="0" y="0"/>
              <a:ext cx="19507200" cy="1463040"/>
            </a:xfrm>
            <a:custGeom>
              <a:avLst/>
              <a:gdLst/>
              <a:ahLst/>
              <a:cxnLst/>
              <a:rect r="r" b="b" t="t" l="l"/>
              <a:pathLst>
                <a:path h="1463040" w="19507200">
                  <a:moveTo>
                    <a:pt x="0" y="0"/>
                  </a:moveTo>
                  <a:lnTo>
                    <a:pt x="19507200" y="0"/>
                  </a:lnTo>
                  <a:lnTo>
                    <a:pt x="19507200" y="1463040"/>
                  </a:lnTo>
                  <a:lnTo>
                    <a:pt x="0" y="1463040"/>
                  </a:lnTo>
                  <a:close/>
                </a:path>
              </a:pathLst>
            </a:custGeom>
            <a:blipFill>
              <a:blip r:embed="rId4">
                <a:alphaModFix amt="0"/>
              </a:blip>
              <a:stretch>
                <a:fillRect l="0" t="-209800" r="0" b="-209800"/>
              </a:stretch>
            </a:blipFill>
          </p:spPr>
        </p:sp>
        <p:sp>
          <p:nvSpPr>
            <p:cNvPr name="TextBox 5" id="5"/>
            <p:cNvSpPr txBox="true"/>
            <p:nvPr/>
          </p:nvSpPr>
          <p:spPr>
            <a:xfrm>
              <a:off x="0" y="-38100"/>
              <a:ext cx="19507200" cy="1501140"/>
            </a:xfrm>
            <a:prstGeom prst="rect">
              <a:avLst/>
            </a:prstGeom>
          </p:spPr>
          <p:txBody>
            <a:bodyPr anchor="ctr" rtlCol="false" tIns="0" lIns="0" bIns="0" rIns="0"/>
            <a:lstStyle/>
            <a:p>
              <a:pPr algn="l">
                <a:lnSpc>
                  <a:spcPts val="6720"/>
                </a:lnSpc>
              </a:pPr>
              <a:r>
                <a:rPr lang="en-US" sz="5600" b="true">
                  <a:solidFill>
                    <a:srgbClr val="FFFFFF"/>
                  </a:solidFill>
                  <a:latin typeface="Arial Bold"/>
                  <a:ea typeface="Arial Bold"/>
                  <a:cs typeface="Arial Bold"/>
                  <a:sym typeface="Arial Bold"/>
                </a:rPr>
                <a:t>Larangan Peserta</a:t>
              </a:r>
            </a:p>
          </p:txBody>
        </p:sp>
      </p:grpSp>
      <p:sp>
        <p:nvSpPr>
          <p:cNvPr name="TextBox 6" id="6"/>
          <p:cNvSpPr txBox="true"/>
          <p:nvPr/>
        </p:nvSpPr>
        <p:spPr>
          <a:xfrm rot="0">
            <a:off x="1097280" y="2348865"/>
            <a:ext cx="7863840" cy="668655"/>
          </a:xfrm>
          <a:prstGeom prst="rect">
            <a:avLst/>
          </a:prstGeom>
        </p:spPr>
        <p:txBody>
          <a:bodyPr anchor="t" rtlCol="false" tIns="0" lIns="0" bIns="0" rIns="0">
            <a:spAutoFit/>
          </a:bodyPr>
          <a:lstStyle/>
          <a:p>
            <a:pPr algn="l">
              <a:lnSpc>
                <a:spcPts val="3840"/>
              </a:lnSpc>
            </a:pPr>
            <a:r>
              <a:rPr lang="en-US" sz="3200" b="true">
                <a:solidFill>
                  <a:srgbClr val="FFFFFF"/>
                </a:solidFill>
                <a:latin typeface="Arial Bold"/>
                <a:ea typeface="Arial Bold"/>
                <a:cs typeface="Arial Bold"/>
                <a:sym typeface="Arial Bold"/>
              </a:rPr>
              <a:t>DISKUALIFIKASI</a:t>
            </a:r>
          </a:p>
        </p:txBody>
      </p:sp>
      <p:sp>
        <p:nvSpPr>
          <p:cNvPr name="TextBox 7" id="7"/>
          <p:cNvSpPr txBox="true"/>
          <p:nvPr/>
        </p:nvSpPr>
        <p:spPr>
          <a:xfrm rot="0">
            <a:off x="1097280" y="3024759"/>
            <a:ext cx="7863840" cy="504825"/>
          </a:xfrm>
          <a:prstGeom prst="rect">
            <a:avLst/>
          </a:prstGeom>
        </p:spPr>
        <p:txBody>
          <a:bodyPr anchor="t" rtlCol="false" tIns="0" lIns="0" bIns="0" rIns="0">
            <a:spAutoFit/>
          </a:bodyPr>
          <a:lstStyle/>
          <a:p>
            <a:pPr algn="l">
              <a:lnSpc>
                <a:spcPts val="2639"/>
              </a:lnSpc>
            </a:pPr>
            <a:r>
              <a:rPr lang="en-US" sz="2199" i="true">
                <a:solidFill>
                  <a:srgbClr val="BFD3FA"/>
                </a:solidFill>
                <a:latin typeface="Calibri (MS) Italics"/>
                <a:ea typeface="Calibri (MS) Italics"/>
                <a:cs typeface="Calibri (MS) Italics"/>
                <a:sym typeface="Calibri (MS) Italics"/>
              </a:rPr>
              <a:t>Karya gugur dan tidak dinilai</a:t>
            </a:r>
          </a:p>
        </p:txBody>
      </p:sp>
      <p:grpSp>
        <p:nvGrpSpPr>
          <p:cNvPr name="Group 8" id="8"/>
          <p:cNvGrpSpPr/>
          <p:nvPr/>
        </p:nvGrpSpPr>
        <p:grpSpPr>
          <a:xfrm rot="0">
            <a:off x="1088136" y="3749039"/>
            <a:ext cx="7889243" cy="1234440"/>
            <a:chOff x="0" y="0"/>
            <a:chExt cx="10518991" cy="2179663"/>
          </a:xfrm>
        </p:grpSpPr>
        <p:sp>
          <p:nvSpPr>
            <p:cNvPr name="Freeform 9" id="9"/>
            <p:cNvSpPr/>
            <p:nvPr/>
          </p:nvSpPr>
          <p:spPr>
            <a:xfrm flipH="false" flipV="false" rot="0">
              <a:off x="0" y="0"/>
              <a:ext cx="10518901" cy="2179574"/>
            </a:xfrm>
            <a:custGeom>
              <a:avLst/>
              <a:gdLst/>
              <a:ahLst/>
              <a:cxnLst/>
              <a:rect r="r" b="b" t="t" l="l"/>
              <a:pathLst>
                <a:path h="2179574" w="10518901">
                  <a:moveTo>
                    <a:pt x="0" y="198120"/>
                  </a:moveTo>
                  <a:cubicBezTo>
                    <a:pt x="0" y="88773"/>
                    <a:pt x="88773" y="0"/>
                    <a:pt x="198120" y="0"/>
                  </a:cubicBezTo>
                  <a:lnTo>
                    <a:pt x="10320782" y="0"/>
                  </a:lnTo>
                  <a:cubicBezTo>
                    <a:pt x="10430256" y="0"/>
                    <a:pt x="10518901" y="88773"/>
                    <a:pt x="10518901" y="198120"/>
                  </a:cubicBezTo>
                  <a:lnTo>
                    <a:pt x="10518901" y="1981454"/>
                  </a:lnTo>
                  <a:cubicBezTo>
                    <a:pt x="10518901" y="2090928"/>
                    <a:pt x="10430128" y="2179574"/>
                    <a:pt x="10320782" y="2179574"/>
                  </a:cubicBezTo>
                  <a:lnTo>
                    <a:pt x="198120" y="2179574"/>
                  </a:lnTo>
                  <a:cubicBezTo>
                    <a:pt x="88646" y="2179574"/>
                    <a:pt x="0" y="2090801"/>
                    <a:pt x="0" y="1981454"/>
                  </a:cubicBezTo>
                  <a:close/>
                </a:path>
              </a:pathLst>
            </a:custGeom>
            <a:solidFill>
              <a:srgbClr val="1448C8">
                <a:alpha val="85000"/>
              </a:srgbClr>
            </a:solidFill>
            <a:ln w="25400" cap="sq">
              <a:solidFill>
                <a:srgbClr val="1448C8"/>
              </a:solidFill>
              <a:prstDash val="solid"/>
              <a:miter/>
            </a:ln>
          </p:spPr>
        </p:sp>
      </p:grpSp>
      <p:grpSp>
        <p:nvGrpSpPr>
          <p:cNvPr name="Group 10" id="10"/>
          <p:cNvGrpSpPr/>
          <p:nvPr/>
        </p:nvGrpSpPr>
        <p:grpSpPr>
          <a:xfrm rot="0">
            <a:off x="1426464" y="3749039"/>
            <a:ext cx="731520" cy="1234440"/>
            <a:chOff x="0" y="0"/>
            <a:chExt cx="975360" cy="2145792"/>
          </a:xfrm>
        </p:grpSpPr>
        <p:sp>
          <p:nvSpPr>
            <p:cNvPr name="Freeform 11" id="11"/>
            <p:cNvSpPr/>
            <p:nvPr/>
          </p:nvSpPr>
          <p:spPr>
            <a:xfrm flipH="false" flipV="false" rot="0">
              <a:off x="0" y="0"/>
              <a:ext cx="975360" cy="2145792"/>
            </a:xfrm>
            <a:custGeom>
              <a:avLst/>
              <a:gdLst/>
              <a:ahLst/>
              <a:cxnLst/>
              <a:rect r="r" b="b" t="t" l="l"/>
              <a:pathLst>
                <a:path h="2145792" w="975360">
                  <a:moveTo>
                    <a:pt x="0" y="0"/>
                  </a:moveTo>
                  <a:lnTo>
                    <a:pt x="975360" y="0"/>
                  </a:lnTo>
                  <a:lnTo>
                    <a:pt x="975360" y="2145792"/>
                  </a:lnTo>
                  <a:lnTo>
                    <a:pt x="0" y="2145792"/>
                  </a:lnTo>
                  <a:close/>
                </a:path>
              </a:pathLst>
            </a:custGeom>
            <a:blipFill>
              <a:blip r:embed="rId4">
                <a:alphaModFix amt="0"/>
              </a:blip>
              <a:stretch>
                <a:fillRect l="-232267" t="0" r="-232267" b="0"/>
              </a:stretch>
            </a:blipFill>
          </p:spPr>
        </p:sp>
        <p:sp>
          <p:nvSpPr>
            <p:cNvPr name="TextBox 12" id="12"/>
            <p:cNvSpPr txBox="true"/>
            <p:nvPr/>
          </p:nvSpPr>
          <p:spPr>
            <a:xfrm>
              <a:off x="0" y="-9525"/>
              <a:ext cx="975360" cy="2155317"/>
            </a:xfrm>
            <a:prstGeom prst="rect">
              <a:avLst/>
            </a:prstGeom>
          </p:spPr>
          <p:txBody>
            <a:bodyPr anchor="ctr" rtlCol="false" tIns="0" lIns="0" bIns="0" rIns="0"/>
            <a:lstStyle/>
            <a:p>
              <a:pPr algn="ctr">
                <a:lnSpc>
                  <a:spcPts val="4799"/>
                </a:lnSpc>
              </a:pPr>
              <a:r>
                <a:rPr lang="en-US" sz="3999" b="true">
                  <a:solidFill>
                    <a:srgbClr val="FFD966"/>
                  </a:solidFill>
                  <a:latin typeface="Arial Bold"/>
                  <a:ea typeface="Arial Bold"/>
                  <a:cs typeface="Arial Bold"/>
                  <a:sym typeface="Arial Bold"/>
                </a:rPr>
                <a:t>✕</a:t>
              </a:r>
            </a:p>
          </p:txBody>
        </p:sp>
      </p:grpSp>
      <p:grpSp>
        <p:nvGrpSpPr>
          <p:cNvPr name="Group 13" id="13"/>
          <p:cNvGrpSpPr/>
          <p:nvPr/>
        </p:nvGrpSpPr>
        <p:grpSpPr>
          <a:xfrm rot="0">
            <a:off x="2468880" y="3749039"/>
            <a:ext cx="6217920" cy="1234440"/>
            <a:chOff x="0" y="0"/>
            <a:chExt cx="8290560" cy="1950720"/>
          </a:xfrm>
        </p:grpSpPr>
        <p:sp>
          <p:nvSpPr>
            <p:cNvPr name="Freeform 14" id="14"/>
            <p:cNvSpPr/>
            <p:nvPr/>
          </p:nvSpPr>
          <p:spPr>
            <a:xfrm flipH="false" flipV="false" rot="0">
              <a:off x="0" y="0"/>
              <a:ext cx="8290560" cy="1950720"/>
            </a:xfrm>
            <a:custGeom>
              <a:avLst/>
              <a:gdLst/>
              <a:ahLst/>
              <a:cxnLst/>
              <a:rect r="r" b="b" t="t" l="l"/>
              <a:pathLst>
                <a:path h="1950720" w="8290560">
                  <a:moveTo>
                    <a:pt x="0" y="0"/>
                  </a:moveTo>
                  <a:lnTo>
                    <a:pt x="8290560" y="0"/>
                  </a:lnTo>
                  <a:lnTo>
                    <a:pt x="8290560" y="1950720"/>
                  </a:lnTo>
                  <a:lnTo>
                    <a:pt x="0" y="1950720"/>
                  </a:lnTo>
                  <a:close/>
                </a:path>
              </a:pathLst>
            </a:custGeom>
            <a:blipFill>
              <a:blip r:embed="rId4">
                <a:alphaModFix amt="0"/>
              </a:blip>
              <a:stretch>
                <a:fillRect l="0" t="-32811" r="0" b="-32811"/>
              </a:stretch>
            </a:blipFill>
          </p:spPr>
        </p:sp>
        <p:sp>
          <p:nvSpPr>
            <p:cNvPr name="TextBox 15" id="15"/>
            <p:cNvSpPr txBox="true"/>
            <p:nvPr/>
          </p:nvSpPr>
          <p:spPr>
            <a:xfrm>
              <a:off x="0" y="-47625"/>
              <a:ext cx="8290560" cy="1998345"/>
            </a:xfrm>
            <a:prstGeom prst="rect">
              <a:avLst/>
            </a:prstGeom>
          </p:spPr>
          <p:txBody>
            <a:bodyPr anchor="ctr" rtlCol="false" tIns="0" lIns="0" bIns="0" rIns="0"/>
            <a:lstStyle/>
            <a:p>
              <a:pPr algn="l">
                <a:lnSpc>
                  <a:spcPts val="2760"/>
                </a:lnSpc>
              </a:pPr>
              <a:r>
                <a:rPr lang="en-US" sz="2300">
                  <a:solidFill>
                    <a:srgbClr val="FFFFFF"/>
                  </a:solidFill>
                  <a:latin typeface="Calibri (MS)"/>
                  <a:ea typeface="Calibri (MS)"/>
                  <a:cs typeface="Calibri (MS)"/>
                  <a:sym typeface="Calibri (MS)"/>
                </a:rPr>
                <a:t>Menyerahkan karya bukan hasil sendiri atau melakukan plagiarisme.</a:t>
              </a:r>
            </a:p>
          </p:txBody>
        </p:sp>
      </p:grpSp>
      <p:grpSp>
        <p:nvGrpSpPr>
          <p:cNvPr name="Group 16" id="16"/>
          <p:cNvGrpSpPr/>
          <p:nvPr/>
        </p:nvGrpSpPr>
        <p:grpSpPr>
          <a:xfrm rot="0">
            <a:off x="1088136" y="5148072"/>
            <a:ext cx="7889243" cy="1234440"/>
            <a:chOff x="0" y="0"/>
            <a:chExt cx="10518991" cy="2179663"/>
          </a:xfrm>
        </p:grpSpPr>
        <p:sp>
          <p:nvSpPr>
            <p:cNvPr name="Freeform 17" id="17"/>
            <p:cNvSpPr/>
            <p:nvPr/>
          </p:nvSpPr>
          <p:spPr>
            <a:xfrm flipH="false" flipV="false" rot="0">
              <a:off x="0" y="0"/>
              <a:ext cx="10518901" cy="2179574"/>
            </a:xfrm>
            <a:custGeom>
              <a:avLst/>
              <a:gdLst/>
              <a:ahLst/>
              <a:cxnLst/>
              <a:rect r="r" b="b" t="t" l="l"/>
              <a:pathLst>
                <a:path h="2179574" w="10518901">
                  <a:moveTo>
                    <a:pt x="0" y="198120"/>
                  </a:moveTo>
                  <a:cubicBezTo>
                    <a:pt x="0" y="88773"/>
                    <a:pt x="88773" y="0"/>
                    <a:pt x="198120" y="0"/>
                  </a:cubicBezTo>
                  <a:lnTo>
                    <a:pt x="10320782" y="0"/>
                  </a:lnTo>
                  <a:cubicBezTo>
                    <a:pt x="10430256" y="0"/>
                    <a:pt x="10518901" y="88773"/>
                    <a:pt x="10518901" y="198120"/>
                  </a:cubicBezTo>
                  <a:lnTo>
                    <a:pt x="10518901" y="1981454"/>
                  </a:lnTo>
                  <a:cubicBezTo>
                    <a:pt x="10518901" y="2090928"/>
                    <a:pt x="10430128" y="2179574"/>
                    <a:pt x="10320782" y="2179574"/>
                  </a:cubicBezTo>
                  <a:lnTo>
                    <a:pt x="198120" y="2179574"/>
                  </a:lnTo>
                  <a:cubicBezTo>
                    <a:pt x="88646" y="2179574"/>
                    <a:pt x="0" y="2090801"/>
                    <a:pt x="0" y="1981454"/>
                  </a:cubicBezTo>
                  <a:close/>
                </a:path>
              </a:pathLst>
            </a:custGeom>
            <a:solidFill>
              <a:srgbClr val="1448C8">
                <a:alpha val="85000"/>
              </a:srgbClr>
            </a:solidFill>
            <a:ln w="25400" cap="sq">
              <a:solidFill>
                <a:srgbClr val="1448C8"/>
              </a:solidFill>
              <a:prstDash val="solid"/>
              <a:miter/>
            </a:ln>
          </p:spPr>
        </p:sp>
      </p:grpSp>
      <p:grpSp>
        <p:nvGrpSpPr>
          <p:cNvPr name="Group 18" id="18"/>
          <p:cNvGrpSpPr/>
          <p:nvPr/>
        </p:nvGrpSpPr>
        <p:grpSpPr>
          <a:xfrm rot="0">
            <a:off x="1426464" y="5148072"/>
            <a:ext cx="731520" cy="1234440"/>
            <a:chOff x="0" y="0"/>
            <a:chExt cx="975360" cy="2145792"/>
          </a:xfrm>
        </p:grpSpPr>
        <p:sp>
          <p:nvSpPr>
            <p:cNvPr name="Freeform 19" id="19"/>
            <p:cNvSpPr/>
            <p:nvPr/>
          </p:nvSpPr>
          <p:spPr>
            <a:xfrm flipH="false" flipV="false" rot="0">
              <a:off x="0" y="0"/>
              <a:ext cx="975360" cy="2145792"/>
            </a:xfrm>
            <a:custGeom>
              <a:avLst/>
              <a:gdLst/>
              <a:ahLst/>
              <a:cxnLst/>
              <a:rect r="r" b="b" t="t" l="l"/>
              <a:pathLst>
                <a:path h="2145792" w="975360">
                  <a:moveTo>
                    <a:pt x="0" y="0"/>
                  </a:moveTo>
                  <a:lnTo>
                    <a:pt x="975360" y="0"/>
                  </a:lnTo>
                  <a:lnTo>
                    <a:pt x="975360" y="2145792"/>
                  </a:lnTo>
                  <a:lnTo>
                    <a:pt x="0" y="2145792"/>
                  </a:lnTo>
                  <a:close/>
                </a:path>
              </a:pathLst>
            </a:custGeom>
            <a:blipFill>
              <a:blip r:embed="rId4">
                <a:alphaModFix amt="0"/>
              </a:blip>
              <a:stretch>
                <a:fillRect l="-232267" t="0" r="-232267" b="0"/>
              </a:stretch>
            </a:blipFill>
          </p:spPr>
        </p:sp>
        <p:sp>
          <p:nvSpPr>
            <p:cNvPr name="TextBox 20" id="20"/>
            <p:cNvSpPr txBox="true"/>
            <p:nvPr/>
          </p:nvSpPr>
          <p:spPr>
            <a:xfrm>
              <a:off x="0" y="-9525"/>
              <a:ext cx="975360" cy="2155317"/>
            </a:xfrm>
            <a:prstGeom prst="rect">
              <a:avLst/>
            </a:prstGeom>
          </p:spPr>
          <p:txBody>
            <a:bodyPr anchor="ctr" rtlCol="false" tIns="0" lIns="0" bIns="0" rIns="0"/>
            <a:lstStyle/>
            <a:p>
              <a:pPr algn="ctr">
                <a:lnSpc>
                  <a:spcPts val="4799"/>
                </a:lnSpc>
              </a:pPr>
              <a:r>
                <a:rPr lang="en-US" sz="3999" b="true">
                  <a:solidFill>
                    <a:srgbClr val="FFD966"/>
                  </a:solidFill>
                  <a:latin typeface="Arial Bold"/>
                  <a:ea typeface="Arial Bold"/>
                  <a:cs typeface="Arial Bold"/>
                  <a:sym typeface="Arial Bold"/>
                </a:rPr>
                <a:t>✕</a:t>
              </a:r>
            </a:p>
          </p:txBody>
        </p:sp>
      </p:grpSp>
      <p:grpSp>
        <p:nvGrpSpPr>
          <p:cNvPr name="Group 21" id="21"/>
          <p:cNvGrpSpPr/>
          <p:nvPr/>
        </p:nvGrpSpPr>
        <p:grpSpPr>
          <a:xfrm rot="0">
            <a:off x="2468880" y="5148072"/>
            <a:ext cx="6217920" cy="1234440"/>
            <a:chOff x="0" y="0"/>
            <a:chExt cx="8290560" cy="1950720"/>
          </a:xfrm>
        </p:grpSpPr>
        <p:sp>
          <p:nvSpPr>
            <p:cNvPr name="Freeform 22" id="22"/>
            <p:cNvSpPr/>
            <p:nvPr/>
          </p:nvSpPr>
          <p:spPr>
            <a:xfrm flipH="false" flipV="false" rot="0">
              <a:off x="0" y="0"/>
              <a:ext cx="8290560" cy="1950720"/>
            </a:xfrm>
            <a:custGeom>
              <a:avLst/>
              <a:gdLst/>
              <a:ahLst/>
              <a:cxnLst/>
              <a:rect r="r" b="b" t="t" l="l"/>
              <a:pathLst>
                <a:path h="1950720" w="8290560">
                  <a:moveTo>
                    <a:pt x="0" y="0"/>
                  </a:moveTo>
                  <a:lnTo>
                    <a:pt x="8290560" y="0"/>
                  </a:lnTo>
                  <a:lnTo>
                    <a:pt x="8290560" y="1950720"/>
                  </a:lnTo>
                  <a:lnTo>
                    <a:pt x="0" y="1950720"/>
                  </a:lnTo>
                  <a:close/>
                </a:path>
              </a:pathLst>
            </a:custGeom>
            <a:blipFill>
              <a:blip r:embed="rId4">
                <a:alphaModFix amt="0"/>
              </a:blip>
              <a:stretch>
                <a:fillRect l="0" t="-32811" r="0" b="-32811"/>
              </a:stretch>
            </a:blipFill>
          </p:spPr>
        </p:sp>
        <p:sp>
          <p:nvSpPr>
            <p:cNvPr name="TextBox 23" id="23"/>
            <p:cNvSpPr txBox="true"/>
            <p:nvPr/>
          </p:nvSpPr>
          <p:spPr>
            <a:xfrm>
              <a:off x="0" y="-47625"/>
              <a:ext cx="8290560" cy="1998345"/>
            </a:xfrm>
            <a:prstGeom prst="rect">
              <a:avLst/>
            </a:prstGeom>
          </p:spPr>
          <p:txBody>
            <a:bodyPr anchor="ctr" rtlCol="false" tIns="0" lIns="0" bIns="0" rIns="0"/>
            <a:lstStyle/>
            <a:p>
              <a:pPr algn="l">
                <a:lnSpc>
                  <a:spcPts val="2760"/>
                </a:lnSpc>
              </a:pPr>
              <a:r>
                <a:rPr lang="en-US" sz="2300">
                  <a:solidFill>
                    <a:srgbClr val="FFFFFF"/>
                  </a:solidFill>
                  <a:latin typeface="Calibri (MS)"/>
                  <a:ea typeface="Calibri (MS)"/>
                  <a:cs typeface="Calibri (MS)"/>
                  <a:sym typeface="Calibri (MS)"/>
                </a:rPr>
                <a:t>Membuat repository GitHub private sehingga tidak dapat diperiksa.</a:t>
              </a:r>
            </a:p>
          </p:txBody>
        </p:sp>
      </p:grpSp>
      <p:grpSp>
        <p:nvGrpSpPr>
          <p:cNvPr name="Group 24" id="24"/>
          <p:cNvGrpSpPr/>
          <p:nvPr/>
        </p:nvGrpSpPr>
        <p:grpSpPr>
          <a:xfrm rot="0">
            <a:off x="1088136" y="6547104"/>
            <a:ext cx="7889243" cy="1234440"/>
            <a:chOff x="0" y="0"/>
            <a:chExt cx="10518991" cy="2179663"/>
          </a:xfrm>
        </p:grpSpPr>
        <p:sp>
          <p:nvSpPr>
            <p:cNvPr name="Freeform 25" id="25"/>
            <p:cNvSpPr/>
            <p:nvPr/>
          </p:nvSpPr>
          <p:spPr>
            <a:xfrm flipH="false" flipV="false" rot="0">
              <a:off x="0" y="0"/>
              <a:ext cx="10518901" cy="2179574"/>
            </a:xfrm>
            <a:custGeom>
              <a:avLst/>
              <a:gdLst/>
              <a:ahLst/>
              <a:cxnLst/>
              <a:rect r="r" b="b" t="t" l="l"/>
              <a:pathLst>
                <a:path h="2179574" w="10518901">
                  <a:moveTo>
                    <a:pt x="0" y="198120"/>
                  </a:moveTo>
                  <a:cubicBezTo>
                    <a:pt x="0" y="88773"/>
                    <a:pt x="88773" y="0"/>
                    <a:pt x="198120" y="0"/>
                  </a:cubicBezTo>
                  <a:lnTo>
                    <a:pt x="10320782" y="0"/>
                  </a:lnTo>
                  <a:cubicBezTo>
                    <a:pt x="10430256" y="0"/>
                    <a:pt x="10518901" y="88773"/>
                    <a:pt x="10518901" y="198120"/>
                  </a:cubicBezTo>
                  <a:lnTo>
                    <a:pt x="10518901" y="1981454"/>
                  </a:lnTo>
                  <a:cubicBezTo>
                    <a:pt x="10518901" y="2090928"/>
                    <a:pt x="10430128" y="2179574"/>
                    <a:pt x="10320782" y="2179574"/>
                  </a:cubicBezTo>
                  <a:lnTo>
                    <a:pt x="198120" y="2179574"/>
                  </a:lnTo>
                  <a:cubicBezTo>
                    <a:pt x="88646" y="2179574"/>
                    <a:pt x="0" y="2090801"/>
                    <a:pt x="0" y="1981454"/>
                  </a:cubicBezTo>
                  <a:close/>
                </a:path>
              </a:pathLst>
            </a:custGeom>
            <a:solidFill>
              <a:srgbClr val="1448C8"/>
            </a:solidFill>
            <a:ln w="25400" cap="sq">
              <a:solidFill>
                <a:srgbClr val="1448C8"/>
              </a:solidFill>
              <a:prstDash val="solid"/>
              <a:miter/>
            </a:ln>
          </p:spPr>
        </p:sp>
      </p:grpSp>
      <p:grpSp>
        <p:nvGrpSpPr>
          <p:cNvPr name="Group 26" id="26"/>
          <p:cNvGrpSpPr/>
          <p:nvPr/>
        </p:nvGrpSpPr>
        <p:grpSpPr>
          <a:xfrm rot="0">
            <a:off x="1426464" y="6547104"/>
            <a:ext cx="731520" cy="1234440"/>
            <a:chOff x="0" y="0"/>
            <a:chExt cx="975360" cy="2145792"/>
          </a:xfrm>
        </p:grpSpPr>
        <p:sp>
          <p:nvSpPr>
            <p:cNvPr name="Freeform 27" id="27"/>
            <p:cNvSpPr/>
            <p:nvPr/>
          </p:nvSpPr>
          <p:spPr>
            <a:xfrm flipH="false" flipV="false" rot="0">
              <a:off x="0" y="0"/>
              <a:ext cx="975360" cy="2145792"/>
            </a:xfrm>
            <a:custGeom>
              <a:avLst/>
              <a:gdLst/>
              <a:ahLst/>
              <a:cxnLst/>
              <a:rect r="r" b="b" t="t" l="l"/>
              <a:pathLst>
                <a:path h="2145792" w="975360">
                  <a:moveTo>
                    <a:pt x="0" y="0"/>
                  </a:moveTo>
                  <a:lnTo>
                    <a:pt x="975360" y="0"/>
                  </a:lnTo>
                  <a:lnTo>
                    <a:pt x="975360" y="2145792"/>
                  </a:lnTo>
                  <a:lnTo>
                    <a:pt x="0" y="2145792"/>
                  </a:lnTo>
                  <a:close/>
                </a:path>
              </a:pathLst>
            </a:custGeom>
            <a:blipFill>
              <a:blip r:embed="rId4">
                <a:alphaModFix amt="0"/>
              </a:blip>
              <a:stretch>
                <a:fillRect l="-232267" t="0" r="-232267" b="0"/>
              </a:stretch>
            </a:blipFill>
          </p:spPr>
        </p:sp>
        <p:sp>
          <p:nvSpPr>
            <p:cNvPr name="TextBox 28" id="28"/>
            <p:cNvSpPr txBox="true"/>
            <p:nvPr/>
          </p:nvSpPr>
          <p:spPr>
            <a:xfrm>
              <a:off x="0" y="-9525"/>
              <a:ext cx="975360" cy="2155317"/>
            </a:xfrm>
            <a:prstGeom prst="rect">
              <a:avLst/>
            </a:prstGeom>
          </p:spPr>
          <p:txBody>
            <a:bodyPr anchor="ctr" rtlCol="false" tIns="0" lIns="0" bIns="0" rIns="0"/>
            <a:lstStyle/>
            <a:p>
              <a:pPr algn="ctr">
                <a:lnSpc>
                  <a:spcPts val="4799"/>
                </a:lnSpc>
              </a:pPr>
              <a:r>
                <a:rPr lang="en-US" sz="3999" b="true">
                  <a:solidFill>
                    <a:srgbClr val="FFD966"/>
                  </a:solidFill>
                  <a:latin typeface="Arial Bold"/>
                  <a:ea typeface="Arial Bold"/>
                  <a:cs typeface="Arial Bold"/>
                  <a:sym typeface="Arial Bold"/>
                </a:rPr>
                <a:t>✕</a:t>
              </a:r>
            </a:p>
          </p:txBody>
        </p:sp>
      </p:grpSp>
      <p:grpSp>
        <p:nvGrpSpPr>
          <p:cNvPr name="Group 29" id="29"/>
          <p:cNvGrpSpPr/>
          <p:nvPr/>
        </p:nvGrpSpPr>
        <p:grpSpPr>
          <a:xfrm rot="0">
            <a:off x="2468880" y="6547104"/>
            <a:ext cx="6217920" cy="1234440"/>
            <a:chOff x="0" y="0"/>
            <a:chExt cx="8290560" cy="1950720"/>
          </a:xfrm>
        </p:grpSpPr>
        <p:sp>
          <p:nvSpPr>
            <p:cNvPr name="Freeform 30" id="30"/>
            <p:cNvSpPr/>
            <p:nvPr/>
          </p:nvSpPr>
          <p:spPr>
            <a:xfrm flipH="false" flipV="false" rot="0">
              <a:off x="0" y="0"/>
              <a:ext cx="8290560" cy="1950720"/>
            </a:xfrm>
            <a:custGeom>
              <a:avLst/>
              <a:gdLst/>
              <a:ahLst/>
              <a:cxnLst/>
              <a:rect r="r" b="b" t="t" l="l"/>
              <a:pathLst>
                <a:path h="1950720" w="8290560">
                  <a:moveTo>
                    <a:pt x="0" y="0"/>
                  </a:moveTo>
                  <a:lnTo>
                    <a:pt x="8290560" y="0"/>
                  </a:lnTo>
                  <a:lnTo>
                    <a:pt x="8290560" y="1950720"/>
                  </a:lnTo>
                  <a:lnTo>
                    <a:pt x="0" y="1950720"/>
                  </a:lnTo>
                  <a:close/>
                </a:path>
              </a:pathLst>
            </a:custGeom>
            <a:blipFill>
              <a:blip r:embed="rId4">
                <a:alphaModFix amt="0"/>
              </a:blip>
              <a:stretch>
                <a:fillRect l="0" t="-32811" r="0" b="-32811"/>
              </a:stretch>
            </a:blipFill>
          </p:spPr>
        </p:sp>
        <p:sp>
          <p:nvSpPr>
            <p:cNvPr name="TextBox 31" id="31"/>
            <p:cNvSpPr txBox="true"/>
            <p:nvPr/>
          </p:nvSpPr>
          <p:spPr>
            <a:xfrm>
              <a:off x="0" y="-47625"/>
              <a:ext cx="8290560" cy="1998345"/>
            </a:xfrm>
            <a:prstGeom prst="rect">
              <a:avLst/>
            </a:prstGeom>
          </p:spPr>
          <p:txBody>
            <a:bodyPr anchor="ctr" rtlCol="false" tIns="0" lIns="0" bIns="0" rIns="0"/>
            <a:lstStyle/>
            <a:p>
              <a:pPr algn="l">
                <a:lnSpc>
                  <a:spcPts val="2760"/>
                </a:lnSpc>
              </a:pPr>
              <a:r>
                <a:rPr lang="en-US" sz="2300">
                  <a:solidFill>
                    <a:srgbClr val="FFFFFF"/>
                  </a:solidFill>
                  <a:latin typeface="Calibri (MS)"/>
                  <a:ea typeface="Calibri (MS)"/>
                  <a:cs typeface="Calibri (MS)"/>
                  <a:sym typeface="Calibri (MS)"/>
                </a:rPr>
                <a:t>Memanipulasi atau memalsukan dokumentasi prompt.</a:t>
              </a:r>
            </a:p>
          </p:txBody>
        </p:sp>
      </p:grpSp>
      <p:sp>
        <p:nvSpPr>
          <p:cNvPr name="TextBox 32" id="32"/>
          <p:cNvSpPr txBox="true"/>
          <p:nvPr/>
        </p:nvSpPr>
        <p:spPr>
          <a:xfrm rot="0">
            <a:off x="9326880" y="2348865"/>
            <a:ext cx="7863840" cy="668655"/>
          </a:xfrm>
          <a:prstGeom prst="rect">
            <a:avLst/>
          </a:prstGeom>
        </p:spPr>
        <p:txBody>
          <a:bodyPr anchor="t" rtlCol="false" tIns="0" lIns="0" bIns="0" rIns="0">
            <a:spAutoFit/>
          </a:bodyPr>
          <a:lstStyle/>
          <a:p>
            <a:pPr algn="l">
              <a:lnSpc>
                <a:spcPts val="3840"/>
              </a:lnSpc>
            </a:pPr>
            <a:r>
              <a:rPr lang="en-US" sz="3200" b="true">
                <a:solidFill>
                  <a:srgbClr val="FFFFFF"/>
                </a:solidFill>
                <a:latin typeface="Arial Bold"/>
                <a:ea typeface="Arial Bold"/>
                <a:cs typeface="Arial Bold"/>
                <a:sym typeface="Arial Bold"/>
              </a:rPr>
              <a:t>PENGURANGAN NILAI</a:t>
            </a:r>
          </a:p>
        </p:txBody>
      </p:sp>
      <p:sp>
        <p:nvSpPr>
          <p:cNvPr name="TextBox 33" id="33"/>
          <p:cNvSpPr txBox="true"/>
          <p:nvPr/>
        </p:nvSpPr>
        <p:spPr>
          <a:xfrm rot="0">
            <a:off x="9326880" y="3024759"/>
            <a:ext cx="7863840" cy="504825"/>
          </a:xfrm>
          <a:prstGeom prst="rect">
            <a:avLst/>
          </a:prstGeom>
        </p:spPr>
        <p:txBody>
          <a:bodyPr anchor="t" rtlCol="false" tIns="0" lIns="0" bIns="0" rIns="0">
            <a:spAutoFit/>
          </a:bodyPr>
          <a:lstStyle/>
          <a:p>
            <a:pPr algn="l">
              <a:lnSpc>
                <a:spcPts val="2639"/>
              </a:lnSpc>
            </a:pPr>
            <a:r>
              <a:rPr lang="en-US" sz="2199" i="true">
                <a:solidFill>
                  <a:srgbClr val="BFD3FA"/>
                </a:solidFill>
                <a:latin typeface="Calibri (MS) Italics"/>
                <a:ea typeface="Calibri (MS) Italics"/>
                <a:cs typeface="Calibri (MS) Italics"/>
                <a:sym typeface="Calibri (MS) Italics"/>
              </a:rPr>
              <a:t>Karya tetap dinilai, skor dikurangi</a:t>
            </a:r>
          </a:p>
        </p:txBody>
      </p:sp>
      <p:grpSp>
        <p:nvGrpSpPr>
          <p:cNvPr name="Group 34" id="34"/>
          <p:cNvGrpSpPr/>
          <p:nvPr/>
        </p:nvGrpSpPr>
        <p:grpSpPr>
          <a:xfrm rot="0">
            <a:off x="9317736" y="5148072"/>
            <a:ext cx="7889243" cy="1234440"/>
            <a:chOff x="0" y="0"/>
            <a:chExt cx="10518991" cy="2179663"/>
          </a:xfrm>
        </p:grpSpPr>
        <p:sp>
          <p:nvSpPr>
            <p:cNvPr name="Freeform 35" id="35"/>
            <p:cNvSpPr/>
            <p:nvPr/>
          </p:nvSpPr>
          <p:spPr>
            <a:xfrm flipH="false" flipV="false" rot="0">
              <a:off x="0" y="0"/>
              <a:ext cx="10518901" cy="2179574"/>
            </a:xfrm>
            <a:custGeom>
              <a:avLst/>
              <a:gdLst/>
              <a:ahLst/>
              <a:cxnLst/>
              <a:rect r="r" b="b" t="t" l="l"/>
              <a:pathLst>
                <a:path h="2179574" w="10518901">
                  <a:moveTo>
                    <a:pt x="0" y="198120"/>
                  </a:moveTo>
                  <a:cubicBezTo>
                    <a:pt x="0" y="88773"/>
                    <a:pt x="88773" y="0"/>
                    <a:pt x="198120" y="0"/>
                  </a:cubicBezTo>
                  <a:lnTo>
                    <a:pt x="10320782" y="0"/>
                  </a:lnTo>
                  <a:cubicBezTo>
                    <a:pt x="10430256" y="0"/>
                    <a:pt x="10518901" y="88773"/>
                    <a:pt x="10518901" y="198120"/>
                  </a:cubicBezTo>
                  <a:lnTo>
                    <a:pt x="10518901" y="1981454"/>
                  </a:lnTo>
                  <a:cubicBezTo>
                    <a:pt x="10518901" y="2090928"/>
                    <a:pt x="10430128" y="2179574"/>
                    <a:pt x="10320782" y="2179574"/>
                  </a:cubicBezTo>
                  <a:lnTo>
                    <a:pt x="198120" y="2179574"/>
                  </a:lnTo>
                  <a:cubicBezTo>
                    <a:pt x="88646" y="2179574"/>
                    <a:pt x="0" y="2090801"/>
                    <a:pt x="0" y="1981454"/>
                  </a:cubicBezTo>
                  <a:close/>
                </a:path>
              </a:pathLst>
            </a:custGeom>
            <a:solidFill>
              <a:srgbClr val="FFC81E">
                <a:alpha val="85000"/>
              </a:srgbClr>
            </a:solidFill>
            <a:ln w="25400" cap="sq">
              <a:solidFill>
                <a:srgbClr val="FFC81E"/>
              </a:solidFill>
              <a:prstDash val="solid"/>
              <a:miter/>
            </a:ln>
          </p:spPr>
        </p:sp>
      </p:grpSp>
      <p:grpSp>
        <p:nvGrpSpPr>
          <p:cNvPr name="Group 36" id="36"/>
          <p:cNvGrpSpPr/>
          <p:nvPr/>
        </p:nvGrpSpPr>
        <p:grpSpPr>
          <a:xfrm rot="0">
            <a:off x="9656064" y="5148072"/>
            <a:ext cx="731520" cy="1234440"/>
            <a:chOff x="0" y="0"/>
            <a:chExt cx="975360" cy="2145792"/>
          </a:xfrm>
        </p:grpSpPr>
        <p:sp>
          <p:nvSpPr>
            <p:cNvPr name="Freeform 37" id="37"/>
            <p:cNvSpPr/>
            <p:nvPr/>
          </p:nvSpPr>
          <p:spPr>
            <a:xfrm flipH="false" flipV="false" rot="0">
              <a:off x="0" y="0"/>
              <a:ext cx="975360" cy="2145792"/>
            </a:xfrm>
            <a:custGeom>
              <a:avLst/>
              <a:gdLst/>
              <a:ahLst/>
              <a:cxnLst/>
              <a:rect r="r" b="b" t="t" l="l"/>
              <a:pathLst>
                <a:path h="2145792" w="975360">
                  <a:moveTo>
                    <a:pt x="0" y="0"/>
                  </a:moveTo>
                  <a:lnTo>
                    <a:pt x="975360" y="0"/>
                  </a:lnTo>
                  <a:lnTo>
                    <a:pt x="975360" y="2145792"/>
                  </a:lnTo>
                  <a:lnTo>
                    <a:pt x="0" y="2145792"/>
                  </a:lnTo>
                  <a:close/>
                </a:path>
              </a:pathLst>
            </a:custGeom>
            <a:blipFill>
              <a:blip r:embed="rId4">
                <a:alphaModFix amt="0"/>
              </a:blip>
              <a:stretch>
                <a:fillRect l="-232267" t="0" r="-232267" b="0"/>
              </a:stretch>
            </a:blipFill>
          </p:spPr>
        </p:sp>
        <p:sp>
          <p:nvSpPr>
            <p:cNvPr name="TextBox 38" id="38"/>
            <p:cNvSpPr txBox="true"/>
            <p:nvPr/>
          </p:nvSpPr>
          <p:spPr>
            <a:xfrm>
              <a:off x="0" y="-9525"/>
              <a:ext cx="975360" cy="2155317"/>
            </a:xfrm>
            <a:prstGeom prst="rect">
              <a:avLst/>
            </a:prstGeom>
          </p:spPr>
          <p:txBody>
            <a:bodyPr anchor="ctr" rtlCol="false" tIns="0" lIns="0" bIns="0" rIns="0"/>
            <a:lstStyle/>
            <a:p>
              <a:pPr algn="ctr">
                <a:lnSpc>
                  <a:spcPts val="4799"/>
                </a:lnSpc>
              </a:pPr>
              <a:r>
                <a:rPr lang="en-US" sz="3999" b="true">
                  <a:solidFill>
                    <a:srgbClr val="0A1F44"/>
                  </a:solidFill>
                  <a:latin typeface="Arial Bold"/>
                  <a:ea typeface="Arial Bold"/>
                  <a:cs typeface="Arial Bold"/>
                  <a:sym typeface="Arial Bold"/>
                </a:rPr>
                <a:t>−</a:t>
              </a:r>
            </a:p>
          </p:txBody>
        </p:sp>
      </p:grpSp>
      <p:grpSp>
        <p:nvGrpSpPr>
          <p:cNvPr name="Group 39" id="39"/>
          <p:cNvGrpSpPr/>
          <p:nvPr/>
        </p:nvGrpSpPr>
        <p:grpSpPr>
          <a:xfrm rot="0">
            <a:off x="10698480" y="5148072"/>
            <a:ext cx="6217920" cy="1234440"/>
            <a:chOff x="0" y="0"/>
            <a:chExt cx="8290560" cy="1950720"/>
          </a:xfrm>
        </p:grpSpPr>
        <p:sp>
          <p:nvSpPr>
            <p:cNvPr name="Freeform 40" id="40"/>
            <p:cNvSpPr/>
            <p:nvPr/>
          </p:nvSpPr>
          <p:spPr>
            <a:xfrm flipH="false" flipV="false" rot="0">
              <a:off x="0" y="0"/>
              <a:ext cx="8290560" cy="1950720"/>
            </a:xfrm>
            <a:custGeom>
              <a:avLst/>
              <a:gdLst/>
              <a:ahLst/>
              <a:cxnLst/>
              <a:rect r="r" b="b" t="t" l="l"/>
              <a:pathLst>
                <a:path h="1950720" w="8290560">
                  <a:moveTo>
                    <a:pt x="0" y="0"/>
                  </a:moveTo>
                  <a:lnTo>
                    <a:pt x="8290560" y="0"/>
                  </a:lnTo>
                  <a:lnTo>
                    <a:pt x="8290560" y="1950720"/>
                  </a:lnTo>
                  <a:lnTo>
                    <a:pt x="0" y="1950720"/>
                  </a:lnTo>
                  <a:close/>
                </a:path>
              </a:pathLst>
            </a:custGeom>
            <a:blipFill>
              <a:blip r:embed="rId4">
                <a:alphaModFix amt="0"/>
              </a:blip>
              <a:stretch>
                <a:fillRect l="0" t="-32811" r="0" b="-32811"/>
              </a:stretch>
            </a:blipFill>
          </p:spPr>
        </p:sp>
        <p:sp>
          <p:nvSpPr>
            <p:cNvPr name="TextBox 41" id="41"/>
            <p:cNvSpPr txBox="true"/>
            <p:nvPr/>
          </p:nvSpPr>
          <p:spPr>
            <a:xfrm>
              <a:off x="0" y="-47625"/>
              <a:ext cx="8290560" cy="1998345"/>
            </a:xfrm>
            <a:prstGeom prst="rect">
              <a:avLst/>
            </a:prstGeom>
          </p:spPr>
          <p:txBody>
            <a:bodyPr anchor="ctr" rtlCol="false" tIns="0" lIns="0" bIns="0" rIns="0"/>
            <a:lstStyle/>
            <a:p>
              <a:pPr algn="l">
                <a:lnSpc>
                  <a:spcPts val="2760"/>
                </a:lnSpc>
              </a:pPr>
              <a:r>
                <a:rPr lang="en-US" sz="2300">
                  <a:solidFill>
                    <a:srgbClr val="0A1F44"/>
                  </a:solidFill>
                  <a:latin typeface="Calibri (MS)"/>
                  <a:ea typeface="Calibri (MS)"/>
                  <a:cs typeface="Calibri (MS)"/>
                  <a:sym typeface="Calibri (MS)"/>
                </a:rPr>
                <a:t>Terbukti memakai project yang dibuat sebelum lomba dibuka (5 Okt 2026, 09.30 WIB): pengurangan nilai sebesar 35%.</a:t>
              </a:r>
            </a:p>
          </p:txBody>
        </p:sp>
      </p:grpSp>
      <p:grpSp>
        <p:nvGrpSpPr>
          <p:cNvPr name="Group 42" id="42"/>
          <p:cNvGrpSpPr/>
          <p:nvPr/>
        </p:nvGrpSpPr>
        <p:grpSpPr>
          <a:xfrm rot="0">
            <a:off x="9317736" y="6547104"/>
            <a:ext cx="7889243" cy="1234440"/>
            <a:chOff x="0" y="0"/>
            <a:chExt cx="10518991" cy="2179663"/>
          </a:xfrm>
        </p:grpSpPr>
        <p:sp>
          <p:nvSpPr>
            <p:cNvPr name="Freeform 43" id="43"/>
            <p:cNvSpPr/>
            <p:nvPr/>
          </p:nvSpPr>
          <p:spPr>
            <a:xfrm flipH="false" flipV="false" rot="0">
              <a:off x="0" y="0"/>
              <a:ext cx="10518901" cy="2179574"/>
            </a:xfrm>
            <a:custGeom>
              <a:avLst/>
              <a:gdLst/>
              <a:ahLst/>
              <a:cxnLst/>
              <a:rect r="r" b="b" t="t" l="l"/>
              <a:pathLst>
                <a:path h="2179574" w="10518901">
                  <a:moveTo>
                    <a:pt x="0" y="198120"/>
                  </a:moveTo>
                  <a:cubicBezTo>
                    <a:pt x="0" y="88773"/>
                    <a:pt x="88773" y="0"/>
                    <a:pt x="198120" y="0"/>
                  </a:cubicBezTo>
                  <a:lnTo>
                    <a:pt x="10320782" y="0"/>
                  </a:lnTo>
                  <a:cubicBezTo>
                    <a:pt x="10430256" y="0"/>
                    <a:pt x="10518901" y="88773"/>
                    <a:pt x="10518901" y="198120"/>
                  </a:cubicBezTo>
                  <a:lnTo>
                    <a:pt x="10518901" y="1981454"/>
                  </a:lnTo>
                  <a:cubicBezTo>
                    <a:pt x="10518901" y="2090928"/>
                    <a:pt x="10430128" y="2179574"/>
                    <a:pt x="10320782" y="2179574"/>
                  </a:cubicBezTo>
                  <a:lnTo>
                    <a:pt x="198120" y="2179574"/>
                  </a:lnTo>
                  <a:cubicBezTo>
                    <a:pt x="88646" y="2179574"/>
                    <a:pt x="0" y="2090801"/>
                    <a:pt x="0" y="1981454"/>
                  </a:cubicBezTo>
                  <a:close/>
                </a:path>
              </a:pathLst>
            </a:custGeom>
            <a:solidFill>
              <a:srgbClr val="FFC81E">
                <a:alpha val="85000"/>
              </a:srgbClr>
            </a:solidFill>
            <a:ln w="25400" cap="sq">
              <a:solidFill>
                <a:srgbClr val="FFC81E"/>
              </a:solidFill>
              <a:prstDash val="solid"/>
              <a:miter/>
            </a:ln>
          </p:spPr>
        </p:sp>
      </p:grpSp>
      <p:grpSp>
        <p:nvGrpSpPr>
          <p:cNvPr name="Group 44" id="44"/>
          <p:cNvGrpSpPr/>
          <p:nvPr/>
        </p:nvGrpSpPr>
        <p:grpSpPr>
          <a:xfrm rot="0">
            <a:off x="9656064" y="6547104"/>
            <a:ext cx="731520" cy="1234440"/>
            <a:chOff x="0" y="0"/>
            <a:chExt cx="975360" cy="2145792"/>
          </a:xfrm>
        </p:grpSpPr>
        <p:sp>
          <p:nvSpPr>
            <p:cNvPr name="Freeform 45" id="45"/>
            <p:cNvSpPr/>
            <p:nvPr/>
          </p:nvSpPr>
          <p:spPr>
            <a:xfrm flipH="false" flipV="false" rot="0">
              <a:off x="0" y="0"/>
              <a:ext cx="975360" cy="2145792"/>
            </a:xfrm>
            <a:custGeom>
              <a:avLst/>
              <a:gdLst/>
              <a:ahLst/>
              <a:cxnLst/>
              <a:rect r="r" b="b" t="t" l="l"/>
              <a:pathLst>
                <a:path h="2145792" w="975360">
                  <a:moveTo>
                    <a:pt x="0" y="0"/>
                  </a:moveTo>
                  <a:lnTo>
                    <a:pt x="975360" y="0"/>
                  </a:lnTo>
                  <a:lnTo>
                    <a:pt x="975360" y="2145792"/>
                  </a:lnTo>
                  <a:lnTo>
                    <a:pt x="0" y="2145792"/>
                  </a:lnTo>
                  <a:close/>
                </a:path>
              </a:pathLst>
            </a:custGeom>
            <a:blipFill>
              <a:blip r:embed="rId4">
                <a:alphaModFix amt="0"/>
              </a:blip>
              <a:stretch>
                <a:fillRect l="-232267" t="0" r="-232267" b="0"/>
              </a:stretch>
            </a:blipFill>
          </p:spPr>
        </p:sp>
        <p:sp>
          <p:nvSpPr>
            <p:cNvPr name="TextBox 46" id="46"/>
            <p:cNvSpPr txBox="true"/>
            <p:nvPr/>
          </p:nvSpPr>
          <p:spPr>
            <a:xfrm>
              <a:off x="0" y="-9525"/>
              <a:ext cx="975360" cy="2155317"/>
            </a:xfrm>
            <a:prstGeom prst="rect">
              <a:avLst/>
            </a:prstGeom>
          </p:spPr>
          <p:txBody>
            <a:bodyPr anchor="ctr" rtlCol="false" tIns="0" lIns="0" bIns="0" rIns="0"/>
            <a:lstStyle/>
            <a:p>
              <a:pPr algn="ctr">
                <a:lnSpc>
                  <a:spcPts val="4799"/>
                </a:lnSpc>
              </a:pPr>
              <a:r>
                <a:rPr lang="en-US" sz="3999" b="true">
                  <a:solidFill>
                    <a:srgbClr val="0A1F44"/>
                  </a:solidFill>
                  <a:latin typeface="Arial Bold"/>
                  <a:ea typeface="Arial Bold"/>
                  <a:cs typeface="Arial Bold"/>
                  <a:sym typeface="Arial Bold"/>
                </a:rPr>
                <a:t>−</a:t>
              </a:r>
            </a:p>
          </p:txBody>
        </p:sp>
      </p:grpSp>
      <p:grpSp>
        <p:nvGrpSpPr>
          <p:cNvPr name="Group 47" id="47"/>
          <p:cNvGrpSpPr/>
          <p:nvPr/>
        </p:nvGrpSpPr>
        <p:grpSpPr>
          <a:xfrm rot="0">
            <a:off x="10698480" y="6547104"/>
            <a:ext cx="6217920" cy="1234440"/>
            <a:chOff x="0" y="0"/>
            <a:chExt cx="8290560" cy="1950720"/>
          </a:xfrm>
        </p:grpSpPr>
        <p:sp>
          <p:nvSpPr>
            <p:cNvPr name="Freeform 48" id="48"/>
            <p:cNvSpPr/>
            <p:nvPr/>
          </p:nvSpPr>
          <p:spPr>
            <a:xfrm flipH="false" flipV="false" rot="0">
              <a:off x="0" y="0"/>
              <a:ext cx="8290560" cy="1950720"/>
            </a:xfrm>
            <a:custGeom>
              <a:avLst/>
              <a:gdLst/>
              <a:ahLst/>
              <a:cxnLst/>
              <a:rect r="r" b="b" t="t" l="l"/>
              <a:pathLst>
                <a:path h="1950720" w="8290560">
                  <a:moveTo>
                    <a:pt x="0" y="0"/>
                  </a:moveTo>
                  <a:lnTo>
                    <a:pt x="8290560" y="0"/>
                  </a:lnTo>
                  <a:lnTo>
                    <a:pt x="8290560" y="1950720"/>
                  </a:lnTo>
                  <a:lnTo>
                    <a:pt x="0" y="1950720"/>
                  </a:lnTo>
                  <a:close/>
                </a:path>
              </a:pathLst>
            </a:custGeom>
            <a:blipFill>
              <a:blip r:embed="rId4">
                <a:alphaModFix amt="0"/>
              </a:blip>
              <a:stretch>
                <a:fillRect l="0" t="-32811" r="0" b="-32811"/>
              </a:stretch>
            </a:blipFill>
          </p:spPr>
        </p:sp>
        <p:sp>
          <p:nvSpPr>
            <p:cNvPr name="TextBox 49" id="49"/>
            <p:cNvSpPr txBox="true"/>
            <p:nvPr/>
          </p:nvSpPr>
          <p:spPr>
            <a:xfrm>
              <a:off x="0" y="-47625"/>
              <a:ext cx="8290560" cy="1998345"/>
            </a:xfrm>
            <a:prstGeom prst="rect">
              <a:avLst/>
            </a:prstGeom>
          </p:spPr>
          <p:txBody>
            <a:bodyPr anchor="ctr" rtlCol="false" tIns="0" lIns="0" bIns="0" rIns="0"/>
            <a:lstStyle/>
            <a:p>
              <a:pPr algn="l">
                <a:lnSpc>
                  <a:spcPts val="2760"/>
                </a:lnSpc>
              </a:pPr>
              <a:r>
                <a:rPr lang="en-US" sz="2300">
                  <a:solidFill>
                    <a:srgbClr val="0A1F44"/>
                  </a:solidFill>
                  <a:latin typeface="Calibri (MS)"/>
                  <a:ea typeface="Calibri (MS)"/>
                  <a:cs typeface="Calibri (MS)"/>
                  <a:sym typeface="Calibri (MS)"/>
                </a:rPr>
                <a:t>Terlambat mengumpulkan karya dengan konfirmasi yang disetujui panitia sebelum batas akhir: pengurangan nilai sebesar 10%.</a:t>
              </a:r>
            </a:p>
          </p:txBody>
        </p:sp>
      </p:grpSp>
      <p:sp>
        <p:nvSpPr>
          <p:cNvPr name="TextBox 50" id="50"/>
          <p:cNvSpPr txBox="true"/>
          <p:nvPr/>
        </p:nvSpPr>
        <p:spPr>
          <a:xfrm rot="0">
            <a:off x="1097280" y="9279255"/>
            <a:ext cx="16093440" cy="504825"/>
          </a:xfrm>
          <a:prstGeom prst="rect">
            <a:avLst/>
          </a:prstGeom>
        </p:spPr>
        <p:txBody>
          <a:bodyPr anchor="t" rtlCol="false" tIns="0" lIns="0" bIns="0" rIns="0">
            <a:spAutoFit/>
          </a:bodyPr>
          <a:lstStyle/>
          <a:p>
            <a:pPr algn="l">
              <a:lnSpc>
                <a:spcPts val="2520"/>
              </a:lnSpc>
            </a:pPr>
            <a:r>
              <a:rPr lang="en-US" sz="2100" i="true">
                <a:solidFill>
                  <a:srgbClr val="BFD3FA"/>
                </a:solidFill>
                <a:latin typeface="Calibri (MS) Italics"/>
                <a:ea typeface="Calibri (MS) Italics"/>
                <a:cs typeface="Calibri (MS) Italics"/>
                <a:sym typeface="Calibri (MS) Italics"/>
              </a:rPr>
              <a:t>Keputusan dewan juri bersifat mutlak dan tidak dapat diganggu gugat.</a:t>
            </a:r>
          </a:p>
        </p:txBody>
      </p:sp>
      <p:grpSp>
        <p:nvGrpSpPr>
          <p:cNvPr name="Dup 300" id="300"/>
          <p:cNvGrpSpPr/>
          <p:nvPr/>
        </p:nvGrpSpPr>
        <p:grpSpPr>
          <a:xfrm rot="0">
            <a:off x="1088136" y="7946136"/>
            <a:ext cx="7889243" cy="1234440"/>
            <a:chOff x="0" y="0"/>
            <a:chExt cx="10518991" cy="2179663"/>
          </a:xfrm>
        </p:grpSpPr>
        <p:sp>
          <p:nvSpPr>
            <p:cNvPr name="Freeform 9" id="9"/>
            <p:cNvSpPr/>
            <p:nvPr/>
          </p:nvSpPr>
          <p:spPr>
            <a:xfrm flipH="false" flipV="false" rot="0">
              <a:off x="0" y="0"/>
              <a:ext cx="10518901" cy="2179574"/>
            </a:xfrm>
            <a:custGeom>
              <a:avLst/>
              <a:gdLst/>
              <a:ahLst/>
              <a:cxnLst/>
              <a:rect r="r" b="b" t="t" l="l"/>
              <a:pathLst>
                <a:path h="2179574" w="10518901">
                  <a:moveTo>
                    <a:pt x="0" y="198120"/>
                  </a:moveTo>
                  <a:cubicBezTo>
                    <a:pt x="0" y="88773"/>
                    <a:pt x="88773" y="0"/>
                    <a:pt x="198120" y="0"/>
                  </a:cubicBezTo>
                  <a:lnTo>
                    <a:pt x="10320782" y="0"/>
                  </a:lnTo>
                  <a:cubicBezTo>
                    <a:pt x="10430256" y="0"/>
                    <a:pt x="10518901" y="88773"/>
                    <a:pt x="10518901" y="198120"/>
                  </a:cubicBezTo>
                  <a:lnTo>
                    <a:pt x="10518901" y="1981454"/>
                  </a:lnTo>
                  <a:cubicBezTo>
                    <a:pt x="10518901" y="2090928"/>
                    <a:pt x="10430128" y="2179574"/>
                    <a:pt x="10320782" y="2179574"/>
                  </a:cubicBezTo>
                  <a:lnTo>
                    <a:pt x="198120" y="2179574"/>
                  </a:lnTo>
                  <a:cubicBezTo>
                    <a:pt x="88646" y="2179574"/>
                    <a:pt x="0" y="2090801"/>
                    <a:pt x="0" y="1981454"/>
                  </a:cubicBezTo>
                  <a:close/>
                </a:path>
              </a:pathLst>
            </a:custGeom>
            <a:solidFill>
              <a:srgbClr val="1448C8">
                <a:alpha val="85000"/>
              </a:srgbClr>
            </a:solidFill>
            <a:ln w="25400" cap="sq">
              <a:solidFill>
                <a:srgbClr val="1448C8"/>
              </a:solidFill>
              <a:prstDash val="solid"/>
              <a:miter/>
            </a:ln>
          </p:spPr>
        </p:sp>
      </p:grpSp>
      <p:grpSp>
        <p:nvGrpSpPr>
          <p:cNvPr name="Dup 301" id="301"/>
          <p:cNvGrpSpPr/>
          <p:nvPr/>
        </p:nvGrpSpPr>
        <p:grpSpPr>
          <a:xfrm rot="0">
            <a:off x="1426464" y="8001000"/>
            <a:ext cx="731520" cy="1234440"/>
            <a:chOff x="0" y="0"/>
            <a:chExt cx="975360" cy="2145792"/>
          </a:xfrm>
        </p:grpSpPr>
        <p:sp>
          <p:nvSpPr>
            <p:cNvPr name="Freeform 11" id="11"/>
            <p:cNvSpPr/>
            <p:nvPr/>
          </p:nvSpPr>
          <p:spPr>
            <a:xfrm flipH="false" flipV="false" rot="0">
              <a:off x="0" y="0"/>
              <a:ext cx="975360" cy="2145792"/>
            </a:xfrm>
            <a:custGeom>
              <a:avLst/>
              <a:gdLst/>
              <a:ahLst/>
              <a:cxnLst/>
              <a:rect r="r" b="b" t="t" l="l"/>
              <a:pathLst>
                <a:path h="2145792" w="975360">
                  <a:moveTo>
                    <a:pt x="0" y="0"/>
                  </a:moveTo>
                  <a:lnTo>
                    <a:pt x="975360" y="0"/>
                  </a:lnTo>
                  <a:lnTo>
                    <a:pt x="975360" y="2145792"/>
                  </a:lnTo>
                  <a:lnTo>
                    <a:pt x="0" y="2145792"/>
                  </a:lnTo>
                  <a:close/>
                </a:path>
              </a:pathLst>
            </a:custGeom>
            <a:blipFill>
              <a:blip r:embed="rId4">
                <a:alphaModFix amt="0"/>
              </a:blip>
              <a:stretch>
                <a:fillRect l="-232267" t="0" r="-232267" b="0"/>
              </a:stretch>
            </a:blipFill>
          </p:spPr>
        </p:sp>
        <p:sp>
          <p:nvSpPr>
            <p:cNvPr name="TextBox 12" id="12"/>
            <p:cNvSpPr txBox="true"/>
            <p:nvPr/>
          </p:nvSpPr>
          <p:spPr>
            <a:xfrm>
              <a:off x="0" y="-9525"/>
              <a:ext cx="975360" cy="2155317"/>
            </a:xfrm>
            <a:prstGeom prst="rect">
              <a:avLst/>
            </a:prstGeom>
          </p:spPr>
          <p:txBody>
            <a:bodyPr anchor="ctr" rtlCol="false" tIns="0" lIns="0" bIns="0" rIns="0"/>
            <a:lstStyle/>
            <a:p>
              <a:pPr algn="ctr">
                <a:lnSpc>
                  <a:spcPts val="4799"/>
                </a:lnSpc>
              </a:pPr>
              <a:r>
                <a:rPr lang="en-US" sz="3999" b="true">
                  <a:solidFill>
                    <a:srgbClr val="FFD966"/>
                  </a:solidFill>
                  <a:latin typeface="Arial Bold"/>
                  <a:ea typeface="Arial Bold"/>
                  <a:cs typeface="Arial Bold"/>
                  <a:sym typeface="Arial Bold"/>
                </a:rPr>
                <a:t>✕</a:t>
              </a:r>
            </a:p>
          </p:txBody>
        </p:sp>
      </p:grpSp>
      <p:grpSp>
        <p:nvGrpSpPr>
          <p:cNvPr name="Dup 302" id="302"/>
          <p:cNvGrpSpPr/>
          <p:nvPr/>
        </p:nvGrpSpPr>
        <p:grpSpPr>
          <a:xfrm rot="0">
            <a:off x="2468880" y="8028431"/>
            <a:ext cx="6217920" cy="1234440"/>
            <a:chOff x="0" y="0"/>
            <a:chExt cx="8290560" cy="1950720"/>
          </a:xfrm>
        </p:grpSpPr>
        <p:sp>
          <p:nvSpPr>
            <p:cNvPr name="Freeform 14" id="14"/>
            <p:cNvSpPr/>
            <p:nvPr/>
          </p:nvSpPr>
          <p:spPr>
            <a:xfrm flipH="false" flipV="false" rot="0">
              <a:off x="0" y="0"/>
              <a:ext cx="8290560" cy="1950720"/>
            </a:xfrm>
            <a:custGeom>
              <a:avLst/>
              <a:gdLst/>
              <a:ahLst/>
              <a:cxnLst/>
              <a:rect r="r" b="b" t="t" l="l"/>
              <a:pathLst>
                <a:path h="1950720" w="8290560">
                  <a:moveTo>
                    <a:pt x="0" y="0"/>
                  </a:moveTo>
                  <a:lnTo>
                    <a:pt x="8290560" y="0"/>
                  </a:lnTo>
                  <a:lnTo>
                    <a:pt x="8290560" y="1950720"/>
                  </a:lnTo>
                  <a:lnTo>
                    <a:pt x="0" y="1950720"/>
                  </a:lnTo>
                  <a:close/>
                </a:path>
              </a:pathLst>
            </a:custGeom>
            <a:blipFill>
              <a:blip r:embed="rId4">
                <a:alphaModFix amt="0"/>
              </a:blip>
              <a:stretch>
                <a:fillRect l="0" t="-32811" r="0" b="-32811"/>
              </a:stretch>
            </a:blipFill>
          </p:spPr>
        </p:sp>
        <p:sp>
          <p:nvSpPr>
            <p:cNvPr name="TextBox 15" id="15"/>
            <p:cNvSpPr txBox="true"/>
            <p:nvPr/>
          </p:nvSpPr>
          <p:spPr>
            <a:xfrm>
              <a:off x="0" y="-47625"/>
              <a:ext cx="8290560" cy="1998345"/>
            </a:xfrm>
            <a:prstGeom prst="rect">
              <a:avLst/>
            </a:prstGeom>
          </p:spPr>
          <p:txBody>
            <a:bodyPr anchor="ctr" rtlCol="false" tIns="0" lIns="0" bIns="0" rIns="0"/>
            <a:lstStyle/>
            <a:p>
              <a:pPr algn="l">
                <a:lnSpc>
                  <a:spcPts val="2760"/>
                </a:lnSpc>
              </a:pPr>
              <a:r>
                <a:rPr lang="en-US" sz="2300">
                  <a:solidFill>
                    <a:srgbClr val="FFFFFF"/>
                  </a:solidFill>
                  <a:latin typeface="Calibri (MS)"/>
                  <a:ea typeface="Calibri (MS)"/>
                  <a:cs typeface="Calibri (MS)"/>
                  <a:sym typeface="Calibri (MS)"/>
                </a:rPr>
                <a:t>Mengumpulkan karya melewati batas akhir 15 Okt 2026, 15.30 WIB tanpa konfirmasi.</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50"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12</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Mekanisme Pengumpulan Karya</a:t>
              </a:r>
            </a:p>
          </p:txBody>
        </p:sp>
      </p:grpSp>
      <p:sp>
        <p:nvSpPr>
          <p:cNvPr name="TextBox 11" id="11"/>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2" id="12"/>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pSp>
        <p:nvGrpSpPr>
          <p:cNvPr name="Group 13" id="13"/>
          <p:cNvGrpSpPr/>
          <p:nvPr/>
        </p:nvGrpSpPr>
        <p:grpSpPr>
          <a:xfrm rot="0">
            <a:off x="904875" y="2550795"/>
            <a:ext cx="3859530" cy="4225290"/>
            <a:chOff x="0" y="0"/>
            <a:chExt cx="5146040" cy="5633720"/>
          </a:xfrm>
        </p:grpSpPr>
        <p:sp>
          <p:nvSpPr>
            <p:cNvPr name="Freeform 14" id="14"/>
            <p:cNvSpPr/>
            <p:nvPr/>
          </p:nvSpPr>
          <p:spPr>
            <a:xfrm flipH="false" flipV="false" rot="0">
              <a:off x="0" y="0"/>
              <a:ext cx="5146040" cy="5633720"/>
            </a:xfrm>
            <a:custGeom>
              <a:avLst/>
              <a:gdLst/>
              <a:ahLst/>
              <a:cxnLst/>
              <a:rect r="r" b="b" t="t" l="l"/>
              <a:pathLst>
                <a:path h="5633720" w="5146040">
                  <a:moveTo>
                    <a:pt x="0" y="245110"/>
                  </a:moveTo>
                  <a:cubicBezTo>
                    <a:pt x="0" y="109728"/>
                    <a:pt x="109728" y="0"/>
                    <a:pt x="245110" y="0"/>
                  </a:cubicBezTo>
                  <a:lnTo>
                    <a:pt x="4900930" y="0"/>
                  </a:lnTo>
                  <a:cubicBezTo>
                    <a:pt x="5036312" y="0"/>
                    <a:pt x="5146040" y="109728"/>
                    <a:pt x="5146040" y="245110"/>
                  </a:cubicBezTo>
                  <a:lnTo>
                    <a:pt x="5146040" y="5388610"/>
                  </a:lnTo>
                  <a:cubicBezTo>
                    <a:pt x="5146040" y="5523992"/>
                    <a:pt x="5036312" y="5633720"/>
                    <a:pt x="4900930" y="5633720"/>
                  </a:cubicBezTo>
                  <a:lnTo>
                    <a:pt x="245110" y="5633720"/>
                  </a:lnTo>
                  <a:cubicBezTo>
                    <a:pt x="109728" y="5633720"/>
                    <a:pt x="0" y="5523992"/>
                    <a:pt x="0" y="5388610"/>
                  </a:cubicBezTo>
                  <a:close/>
                </a:path>
              </a:pathLst>
            </a:custGeom>
            <a:solidFill>
              <a:srgbClr val="FFFFFF">
                <a:alpha val="50000"/>
              </a:srgbClr>
            </a:solidFill>
            <a:ln w="19050" cap="sq">
              <a:solidFill>
                <a:srgbClr val="D6E0F2"/>
              </a:solidFill>
              <a:prstDash val="solid"/>
              <a:miter/>
            </a:ln>
          </p:spPr>
        </p:sp>
      </p:grpSp>
      <p:grpSp>
        <p:nvGrpSpPr>
          <p:cNvPr name="Group 15" id="15"/>
          <p:cNvGrpSpPr/>
          <p:nvPr/>
        </p:nvGrpSpPr>
        <p:grpSpPr>
          <a:xfrm rot="0">
            <a:off x="2364743" y="2913383"/>
            <a:ext cx="939803" cy="939803"/>
            <a:chOff x="0" y="0"/>
            <a:chExt cx="1253071" cy="1253071"/>
          </a:xfrm>
        </p:grpSpPr>
        <p:sp>
          <p:nvSpPr>
            <p:cNvPr name="Freeform 16" id="16"/>
            <p:cNvSpPr/>
            <p:nvPr/>
          </p:nvSpPr>
          <p:spPr>
            <a:xfrm flipH="false" flipV="false" rot="0">
              <a:off x="0" y="0"/>
              <a:ext cx="1253109" cy="1253109"/>
            </a:xfrm>
            <a:custGeom>
              <a:avLst/>
              <a:gdLst/>
              <a:ahLst/>
              <a:cxnLst/>
              <a:rect r="r" b="b" t="t" l="l"/>
              <a:pathLst>
                <a:path h="1253109" w="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1448C8"/>
            </a:solidFill>
            <a:ln w="25400" cap="sq">
              <a:solidFill>
                <a:srgbClr val="1448C8"/>
              </a:solidFill>
              <a:prstDash val="solid"/>
              <a:miter/>
            </a:ln>
          </p:spPr>
        </p:sp>
      </p:grpSp>
      <p:grpSp>
        <p:nvGrpSpPr>
          <p:cNvPr name="Group 17" id="17"/>
          <p:cNvGrpSpPr/>
          <p:nvPr/>
        </p:nvGrpSpPr>
        <p:grpSpPr>
          <a:xfrm rot="0">
            <a:off x="2377440" y="2926080"/>
            <a:ext cx="914400" cy="914400"/>
            <a:chOff x="0" y="0"/>
            <a:chExt cx="1219200" cy="1219200"/>
          </a:xfrm>
        </p:grpSpPr>
        <p:sp>
          <p:nvSpPr>
            <p:cNvPr name="Freeform 18" id="18"/>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4">
                <a:alphaModFix amt="0"/>
              </a:blip>
              <a:stretch>
                <a:fillRect l="-78303" t="0" r="-78303" b="0"/>
              </a:stretch>
            </a:blipFill>
          </p:spPr>
        </p:sp>
        <p:sp>
          <p:nvSpPr>
            <p:cNvPr name="TextBox 19" id="19"/>
            <p:cNvSpPr txBox="true"/>
            <p:nvPr/>
          </p:nvSpPr>
          <p:spPr>
            <a:xfrm>
              <a:off x="0" y="-28575"/>
              <a:ext cx="1219200" cy="1247775"/>
            </a:xfrm>
            <a:prstGeom prst="rect">
              <a:avLst/>
            </a:prstGeom>
          </p:spPr>
          <p:txBody>
            <a:bodyPr anchor="ctr" rtlCol="false" tIns="0" lIns="0" bIns="0" rIns="0"/>
            <a:lstStyle/>
            <a:p>
              <a:pPr algn="ctr">
                <a:lnSpc>
                  <a:spcPts val="3840"/>
                </a:lnSpc>
              </a:pPr>
              <a:r>
                <a:rPr lang="en-US" sz="3200" b="true">
                  <a:solidFill>
                    <a:srgbClr val="FFC81E"/>
                  </a:solidFill>
                  <a:latin typeface="Arial Bold"/>
                  <a:ea typeface="Arial Bold"/>
                  <a:cs typeface="Arial Bold"/>
                  <a:sym typeface="Arial Bold"/>
                </a:rPr>
                <a:t>1</a:t>
              </a:r>
            </a:p>
          </p:txBody>
        </p:sp>
      </p:grpSp>
      <p:sp>
        <p:nvSpPr>
          <p:cNvPr name="TextBox 20" id="20"/>
          <p:cNvSpPr txBox="true"/>
          <p:nvPr/>
        </p:nvSpPr>
        <p:spPr>
          <a:xfrm rot="0">
            <a:off x="1188720" y="4168140"/>
            <a:ext cx="3291840" cy="2415540"/>
          </a:xfrm>
          <a:prstGeom prst="rect">
            <a:avLst/>
          </a:prstGeom>
        </p:spPr>
        <p:txBody>
          <a:bodyPr anchor="t" rtlCol="false" tIns="0" lIns="0" bIns="0" rIns="0">
            <a:spAutoFit/>
          </a:bodyPr>
          <a:lstStyle/>
          <a:p>
            <a:pPr algn="ctr">
              <a:lnSpc>
                <a:spcPts val="2879"/>
              </a:lnSpc>
            </a:pPr>
            <a:r>
              <a:rPr lang="en-US" sz="2400" b="true">
                <a:solidFill>
                  <a:srgbClr val="0B1D3A"/>
                </a:solidFill>
                <a:latin typeface="Calibri (MS) Bold"/>
                <a:ea typeface="Calibri (MS) Bold"/>
                <a:cs typeface="Calibri (MS) Bold"/>
                <a:sym typeface="Calibri (MS) Bold"/>
              </a:rPr>
              <a:t>Tautan repository GitHub (public)</a:t>
            </a:r>
          </a:p>
        </p:txBody>
      </p:sp>
      <p:grpSp>
        <p:nvGrpSpPr>
          <p:cNvPr name="Group 21" id="21"/>
          <p:cNvGrpSpPr/>
          <p:nvPr/>
        </p:nvGrpSpPr>
        <p:grpSpPr>
          <a:xfrm rot="0">
            <a:off x="5074539" y="2550795"/>
            <a:ext cx="3859530" cy="4225290"/>
            <a:chOff x="0" y="0"/>
            <a:chExt cx="5146040" cy="5633720"/>
          </a:xfrm>
        </p:grpSpPr>
        <p:sp>
          <p:nvSpPr>
            <p:cNvPr name="Freeform 22" id="22"/>
            <p:cNvSpPr/>
            <p:nvPr/>
          </p:nvSpPr>
          <p:spPr>
            <a:xfrm flipH="false" flipV="false" rot="0">
              <a:off x="0" y="0"/>
              <a:ext cx="5146040" cy="5633720"/>
            </a:xfrm>
            <a:custGeom>
              <a:avLst/>
              <a:gdLst/>
              <a:ahLst/>
              <a:cxnLst/>
              <a:rect r="r" b="b" t="t" l="l"/>
              <a:pathLst>
                <a:path h="5633720" w="5146040">
                  <a:moveTo>
                    <a:pt x="0" y="245110"/>
                  </a:moveTo>
                  <a:cubicBezTo>
                    <a:pt x="0" y="109728"/>
                    <a:pt x="109728" y="0"/>
                    <a:pt x="245110" y="0"/>
                  </a:cubicBezTo>
                  <a:lnTo>
                    <a:pt x="4900930" y="0"/>
                  </a:lnTo>
                  <a:cubicBezTo>
                    <a:pt x="5036312" y="0"/>
                    <a:pt x="5146040" y="109728"/>
                    <a:pt x="5146040" y="245110"/>
                  </a:cubicBezTo>
                  <a:lnTo>
                    <a:pt x="5146040" y="5388610"/>
                  </a:lnTo>
                  <a:cubicBezTo>
                    <a:pt x="5146040" y="5523992"/>
                    <a:pt x="5036312" y="5633720"/>
                    <a:pt x="4900930" y="5633720"/>
                  </a:cubicBezTo>
                  <a:lnTo>
                    <a:pt x="245110" y="5633720"/>
                  </a:lnTo>
                  <a:cubicBezTo>
                    <a:pt x="109728" y="5633720"/>
                    <a:pt x="0" y="5523992"/>
                    <a:pt x="0" y="5388610"/>
                  </a:cubicBezTo>
                  <a:close/>
                </a:path>
              </a:pathLst>
            </a:custGeom>
            <a:solidFill>
              <a:srgbClr val="FFFFFF">
                <a:alpha val="50000"/>
              </a:srgbClr>
            </a:solidFill>
            <a:ln w="19050" cap="sq">
              <a:solidFill>
                <a:srgbClr val="D6E0F2"/>
              </a:solidFill>
              <a:prstDash val="solid"/>
              <a:miter/>
            </a:ln>
          </p:spPr>
        </p:sp>
      </p:grpSp>
      <p:grpSp>
        <p:nvGrpSpPr>
          <p:cNvPr name="Group 23" id="23"/>
          <p:cNvGrpSpPr/>
          <p:nvPr/>
        </p:nvGrpSpPr>
        <p:grpSpPr>
          <a:xfrm rot="0">
            <a:off x="6534407" y="2913383"/>
            <a:ext cx="939803" cy="939803"/>
            <a:chOff x="0" y="0"/>
            <a:chExt cx="1253071" cy="1253071"/>
          </a:xfrm>
        </p:grpSpPr>
        <p:sp>
          <p:nvSpPr>
            <p:cNvPr name="Freeform 24" id="24"/>
            <p:cNvSpPr/>
            <p:nvPr/>
          </p:nvSpPr>
          <p:spPr>
            <a:xfrm flipH="false" flipV="false" rot="0">
              <a:off x="0" y="0"/>
              <a:ext cx="1253109" cy="1253109"/>
            </a:xfrm>
            <a:custGeom>
              <a:avLst/>
              <a:gdLst/>
              <a:ahLst/>
              <a:cxnLst/>
              <a:rect r="r" b="b" t="t" l="l"/>
              <a:pathLst>
                <a:path h="1253109" w="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1448C8"/>
            </a:solidFill>
            <a:ln w="25400" cap="sq">
              <a:solidFill>
                <a:srgbClr val="1448C8"/>
              </a:solidFill>
              <a:prstDash val="solid"/>
              <a:miter/>
            </a:ln>
          </p:spPr>
        </p:sp>
      </p:grpSp>
      <p:grpSp>
        <p:nvGrpSpPr>
          <p:cNvPr name="Group 25" id="25"/>
          <p:cNvGrpSpPr/>
          <p:nvPr/>
        </p:nvGrpSpPr>
        <p:grpSpPr>
          <a:xfrm rot="0">
            <a:off x="6547104" y="2926080"/>
            <a:ext cx="914400" cy="914400"/>
            <a:chOff x="0" y="0"/>
            <a:chExt cx="1219200" cy="1219200"/>
          </a:xfrm>
        </p:grpSpPr>
        <p:sp>
          <p:nvSpPr>
            <p:cNvPr name="Freeform 26" id="26"/>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4">
                <a:alphaModFix amt="0"/>
              </a:blip>
              <a:stretch>
                <a:fillRect l="-78303" t="0" r="-78303" b="0"/>
              </a:stretch>
            </a:blipFill>
          </p:spPr>
        </p:sp>
        <p:sp>
          <p:nvSpPr>
            <p:cNvPr name="TextBox 27" id="27"/>
            <p:cNvSpPr txBox="true"/>
            <p:nvPr/>
          </p:nvSpPr>
          <p:spPr>
            <a:xfrm>
              <a:off x="0" y="-28575"/>
              <a:ext cx="1219200" cy="1247775"/>
            </a:xfrm>
            <a:prstGeom prst="rect">
              <a:avLst/>
            </a:prstGeom>
          </p:spPr>
          <p:txBody>
            <a:bodyPr anchor="ctr" rtlCol="false" tIns="0" lIns="0" bIns="0" rIns="0"/>
            <a:lstStyle/>
            <a:p>
              <a:pPr algn="ctr">
                <a:lnSpc>
                  <a:spcPts val="3840"/>
                </a:lnSpc>
              </a:pPr>
              <a:r>
                <a:rPr lang="en-US" sz="3200" b="true">
                  <a:solidFill>
                    <a:srgbClr val="FFC81E"/>
                  </a:solidFill>
                  <a:latin typeface="Arial Bold"/>
                  <a:ea typeface="Arial Bold"/>
                  <a:cs typeface="Arial Bold"/>
                  <a:sym typeface="Arial Bold"/>
                </a:rPr>
                <a:t>2</a:t>
              </a:r>
            </a:p>
          </p:txBody>
        </p:sp>
      </p:grpSp>
      <p:sp>
        <p:nvSpPr>
          <p:cNvPr name="TextBox 28" id="28"/>
          <p:cNvSpPr txBox="true"/>
          <p:nvPr/>
        </p:nvSpPr>
        <p:spPr>
          <a:xfrm rot="0">
            <a:off x="5358384" y="4168140"/>
            <a:ext cx="3291840" cy="2415540"/>
          </a:xfrm>
          <a:prstGeom prst="rect">
            <a:avLst/>
          </a:prstGeom>
        </p:spPr>
        <p:txBody>
          <a:bodyPr anchor="t" rtlCol="false" tIns="0" lIns="0" bIns="0" rIns="0">
            <a:spAutoFit/>
          </a:bodyPr>
          <a:lstStyle/>
          <a:p>
            <a:pPr algn="ctr">
              <a:lnSpc>
                <a:spcPts val="2879"/>
              </a:lnSpc>
            </a:pPr>
            <a:r>
              <a:rPr lang="en-US" sz="2400" b="true">
                <a:solidFill>
                  <a:srgbClr val="0B1D3A"/>
                </a:solidFill>
                <a:latin typeface="Calibri (MS) Bold"/>
                <a:ea typeface="Calibri (MS) Bold"/>
                <a:cs typeface="Calibri (MS) Bold"/>
                <a:sym typeface="Calibri (MS) Bold"/>
              </a:rPr>
              <a:t>Dokumen docs acuan AI Agent</a:t>
            </a:r>
          </a:p>
        </p:txBody>
      </p:sp>
      <p:grpSp>
        <p:nvGrpSpPr>
          <p:cNvPr name="Group 29" id="29"/>
          <p:cNvGrpSpPr/>
          <p:nvPr/>
        </p:nvGrpSpPr>
        <p:grpSpPr>
          <a:xfrm rot="0">
            <a:off x="9244203" y="2550795"/>
            <a:ext cx="3859530" cy="4225290"/>
            <a:chOff x="0" y="0"/>
            <a:chExt cx="5146040" cy="5633720"/>
          </a:xfrm>
        </p:grpSpPr>
        <p:sp>
          <p:nvSpPr>
            <p:cNvPr name="Freeform 30" id="30"/>
            <p:cNvSpPr/>
            <p:nvPr/>
          </p:nvSpPr>
          <p:spPr>
            <a:xfrm flipH="false" flipV="false" rot="0">
              <a:off x="0" y="0"/>
              <a:ext cx="5146040" cy="5633720"/>
            </a:xfrm>
            <a:custGeom>
              <a:avLst/>
              <a:gdLst/>
              <a:ahLst/>
              <a:cxnLst/>
              <a:rect r="r" b="b" t="t" l="l"/>
              <a:pathLst>
                <a:path h="5633720" w="5146040">
                  <a:moveTo>
                    <a:pt x="0" y="245110"/>
                  </a:moveTo>
                  <a:cubicBezTo>
                    <a:pt x="0" y="109728"/>
                    <a:pt x="109728" y="0"/>
                    <a:pt x="245110" y="0"/>
                  </a:cubicBezTo>
                  <a:lnTo>
                    <a:pt x="4900930" y="0"/>
                  </a:lnTo>
                  <a:cubicBezTo>
                    <a:pt x="5036312" y="0"/>
                    <a:pt x="5146040" y="109728"/>
                    <a:pt x="5146040" y="245110"/>
                  </a:cubicBezTo>
                  <a:lnTo>
                    <a:pt x="5146040" y="5388610"/>
                  </a:lnTo>
                  <a:cubicBezTo>
                    <a:pt x="5146040" y="5523992"/>
                    <a:pt x="5036312" y="5633720"/>
                    <a:pt x="4900930" y="5633720"/>
                  </a:cubicBezTo>
                  <a:lnTo>
                    <a:pt x="245110" y="5633720"/>
                  </a:lnTo>
                  <a:cubicBezTo>
                    <a:pt x="109728" y="5633720"/>
                    <a:pt x="0" y="5523992"/>
                    <a:pt x="0" y="5388610"/>
                  </a:cubicBezTo>
                  <a:close/>
                </a:path>
              </a:pathLst>
            </a:custGeom>
            <a:solidFill>
              <a:srgbClr val="FFFFFF">
                <a:alpha val="50000"/>
              </a:srgbClr>
            </a:solidFill>
            <a:ln w="19050" cap="sq">
              <a:solidFill>
                <a:srgbClr val="D6E0F2"/>
              </a:solidFill>
              <a:prstDash val="solid"/>
              <a:miter/>
            </a:ln>
          </p:spPr>
        </p:sp>
      </p:grpSp>
      <p:grpSp>
        <p:nvGrpSpPr>
          <p:cNvPr name="Group 31" id="31"/>
          <p:cNvGrpSpPr/>
          <p:nvPr/>
        </p:nvGrpSpPr>
        <p:grpSpPr>
          <a:xfrm rot="0">
            <a:off x="10704071" y="2913383"/>
            <a:ext cx="939803" cy="939803"/>
            <a:chOff x="0" y="0"/>
            <a:chExt cx="1253071" cy="1253071"/>
          </a:xfrm>
        </p:grpSpPr>
        <p:sp>
          <p:nvSpPr>
            <p:cNvPr name="Freeform 32" id="32"/>
            <p:cNvSpPr/>
            <p:nvPr/>
          </p:nvSpPr>
          <p:spPr>
            <a:xfrm flipH="false" flipV="false" rot="0">
              <a:off x="0" y="0"/>
              <a:ext cx="1253109" cy="1253109"/>
            </a:xfrm>
            <a:custGeom>
              <a:avLst/>
              <a:gdLst/>
              <a:ahLst/>
              <a:cxnLst/>
              <a:rect r="r" b="b" t="t" l="l"/>
              <a:pathLst>
                <a:path h="1253109" w="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1448C8"/>
            </a:solidFill>
            <a:ln w="25400" cap="sq">
              <a:solidFill>
                <a:srgbClr val="1448C8"/>
              </a:solidFill>
              <a:prstDash val="solid"/>
              <a:miter/>
            </a:ln>
          </p:spPr>
        </p:sp>
      </p:grpSp>
      <p:grpSp>
        <p:nvGrpSpPr>
          <p:cNvPr name="Group 33" id="33"/>
          <p:cNvGrpSpPr/>
          <p:nvPr/>
        </p:nvGrpSpPr>
        <p:grpSpPr>
          <a:xfrm rot="0">
            <a:off x="10716768" y="2926080"/>
            <a:ext cx="914400" cy="914400"/>
            <a:chOff x="0" y="0"/>
            <a:chExt cx="1219200" cy="1219200"/>
          </a:xfrm>
        </p:grpSpPr>
        <p:sp>
          <p:nvSpPr>
            <p:cNvPr name="Freeform 34" id="34"/>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4">
                <a:alphaModFix amt="0"/>
              </a:blip>
              <a:stretch>
                <a:fillRect l="-78303" t="0" r="-78303" b="0"/>
              </a:stretch>
            </a:blipFill>
          </p:spPr>
        </p:sp>
        <p:sp>
          <p:nvSpPr>
            <p:cNvPr name="TextBox 35" id="35"/>
            <p:cNvSpPr txBox="true"/>
            <p:nvPr/>
          </p:nvSpPr>
          <p:spPr>
            <a:xfrm>
              <a:off x="0" y="-28575"/>
              <a:ext cx="1219200" cy="1247775"/>
            </a:xfrm>
            <a:prstGeom prst="rect">
              <a:avLst/>
            </a:prstGeom>
          </p:spPr>
          <p:txBody>
            <a:bodyPr anchor="ctr" rtlCol="false" tIns="0" lIns="0" bIns="0" rIns="0"/>
            <a:lstStyle/>
            <a:p>
              <a:pPr algn="ctr">
                <a:lnSpc>
                  <a:spcPts val="3840"/>
                </a:lnSpc>
              </a:pPr>
              <a:r>
                <a:rPr lang="en-US" sz="3200" b="true">
                  <a:solidFill>
                    <a:srgbClr val="FFC81E"/>
                  </a:solidFill>
                  <a:latin typeface="Arial Bold"/>
                  <a:ea typeface="Arial Bold"/>
                  <a:cs typeface="Arial Bold"/>
                  <a:sym typeface="Arial Bold"/>
                </a:rPr>
                <a:t>3</a:t>
              </a:r>
            </a:p>
          </p:txBody>
        </p:sp>
      </p:grpSp>
      <p:sp>
        <p:nvSpPr>
          <p:cNvPr name="TextBox 36" id="36"/>
          <p:cNvSpPr txBox="true"/>
          <p:nvPr/>
        </p:nvSpPr>
        <p:spPr>
          <a:xfrm rot="0">
            <a:off x="9528048" y="4168140"/>
            <a:ext cx="3291840" cy="2415540"/>
          </a:xfrm>
          <a:prstGeom prst="rect">
            <a:avLst/>
          </a:prstGeom>
        </p:spPr>
        <p:txBody>
          <a:bodyPr anchor="t" rtlCol="false" tIns="0" lIns="0" bIns="0" rIns="0">
            <a:spAutoFit/>
          </a:bodyPr>
          <a:lstStyle/>
          <a:p>
            <a:pPr algn="ctr">
              <a:lnSpc>
                <a:spcPts val="2879"/>
              </a:lnSpc>
            </a:pPr>
            <a:r>
              <a:rPr lang="en-US" sz="2400" b="true">
                <a:solidFill>
                  <a:srgbClr val="0B1D3A"/>
                </a:solidFill>
                <a:latin typeface="Calibri (MS) Bold"/>
                <a:ea typeface="Calibri (MS) Bold"/>
                <a:cs typeface="Calibri (MS) Bold"/>
                <a:sym typeface="Calibri (MS) Bold"/>
              </a:rPr>
              <a:t>Jurnal prompt terkurasi (5 prompt)</a:t>
            </a:r>
          </a:p>
        </p:txBody>
      </p:sp>
      <p:grpSp>
        <p:nvGrpSpPr>
          <p:cNvPr name="Group 37" id="37"/>
          <p:cNvGrpSpPr/>
          <p:nvPr/>
        </p:nvGrpSpPr>
        <p:grpSpPr>
          <a:xfrm rot="0">
            <a:off x="13413867" y="2550795"/>
            <a:ext cx="3859530" cy="4225290"/>
            <a:chOff x="0" y="0"/>
            <a:chExt cx="5146040" cy="5633720"/>
          </a:xfrm>
        </p:grpSpPr>
        <p:sp>
          <p:nvSpPr>
            <p:cNvPr name="Freeform 38" id="38"/>
            <p:cNvSpPr/>
            <p:nvPr/>
          </p:nvSpPr>
          <p:spPr>
            <a:xfrm flipH="false" flipV="false" rot="0">
              <a:off x="0" y="0"/>
              <a:ext cx="5146040" cy="5633720"/>
            </a:xfrm>
            <a:custGeom>
              <a:avLst/>
              <a:gdLst/>
              <a:ahLst/>
              <a:cxnLst/>
              <a:rect r="r" b="b" t="t" l="l"/>
              <a:pathLst>
                <a:path h="5633720" w="5146040">
                  <a:moveTo>
                    <a:pt x="0" y="245110"/>
                  </a:moveTo>
                  <a:cubicBezTo>
                    <a:pt x="0" y="109728"/>
                    <a:pt x="109728" y="0"/>
                    <a:pt x="245110" y="0"/>
                  </a:cubicBezTo>
                  <a:lnTo>
                    <a:pt x="4900930" y="0"/>
                  </a:lnTo>
                  <a:cubicBezTo>
                    <a:pt x="5036312" y="0"/>
                    <a:pt x="5146040" y="109728"/>
                    <a:pt x="5146040" y="245110"/>
                  </a:cubicBezTo>
                  <a:lnTo>
                    <a:pt x="5146040" y="5388610"/>
                  </a:lnTo>
                  <a:cubicBezTo>
                    <a:pt x="5146040" y="5523992"/>
                    <a:pt x="5036312" y="5633720"/>
                    <a:pt x="4900930" y="5633720"/>
                  </a:cubicBezTo>
                  <a:lnTo>
                    <a:pt x="245110" y="5633720"/>
                  </a:lnTo>
                  <a:cubicBezTo>
                    <a:pt x="109728" y="5633720"/>
                    <a:pt x="0" y="5523992"/>
                    <a:pt x="0" y="5388610"/>
                  </a:cubicBezTo>
                  <a:close/>
                </a:path>
              </a:pathLst>
            </a:custGeom>
            <a:solidFill>
              <a:srgbClr val="FFFFFF">
                <a:alpha val="50000"/>
              </a:srgbClr>
            </a:solidFill>
            <a:ln w="19050" cap="sq">
              <a:solidFill>
                <a:srgbClr val="D6E0F2"/>
              </a:solidFill>
              <a:prstDash val="solid"/>
              <a:miter/>
            </a:ln>
          </p:spPr>
        </p:sp>
      </p:grpSp>
      <p:grpSp>
        <p:nvGrpSpPr>
          <p:cNvPr name="Group 39" id="39"/>
          <p:cNvGrpSpPr/>
          <p:nvPr/>
        </p:nvGrpSpPr>
        <p:grpSpPr>
          <a:xfrm rot="0">
            <a:off x="14873735" y="2913383"/>
            <a:ext cx="939803" cy="939803"/>
            <a:chOff x="0" y="0"/>
            <a:chExt cx="1253071" cy="1253071"/>
          </a:xfrm>
        </p:grpSpPr>
        <p:sp>
          <p:nvSpPr>
            <p:cNvPr name="Freeform 40" id="40"/>
            <p:cNvSpPr/>
            <p:nvPr/>
          </p:nvSpPr>
          <p:spPr>
            <a:xfrm flipH="false" flipV="false" rot="0">
              <a:off x="0" y="0"/>
              <a:ext cx="1253109" cy="1253109"/>
            </a:xfrm>
            <a:custGeom>
              <a:avLst/>
              <a:gdLst/>
              <a:ahLst/>
              <a:cxnLst/>
              <a:rect r="r" b="b" t="t" l="l"/>
              <a:pathLst>
                <a:path h="1253109" w="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1448C8"/>
            </a:solidFill>
            <a:ln w="25400" cap="sq">
              <a:solidFill>
                <a:srgbClr val="1448C8"/>
              </a:solidFill>
              <a:prstDash val="solid"/>
              <a:miter/>
            </a:ln>
          </p:spPr>
        </p:sp>
      </p:grpSp>
      <p:grpSp>
        <p:nvGrpSpPr>
          <p:cNvPr name="Group 41" id="41"/>
          <p:cNvGrpSpPr/>
          <p:nvPr/>
        </p:nvGrpSpPr>
        <p:grpSpPr>
          <a:xfrm rot="0">
            <a:off x="14886432" y="2926080"/>
            <a:ext cx="914400" cy="914400"/>
            <a:chOff x="0" y="0"/>
            <a:chExt cx="1219200" cy="1219200"/>
          </a:xfrm>
        </p:grpSpPr>
        <p:sp>
          <p:nvSpPr>
            <p:cNvPr name="Freeform 42" id="42"/>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4">
                <a:alphaModFix amt="0"/>
              </a:blip>
              <a:stretch>
                <a:fillRect l="-78303" t="0" r="-78303" b="0"/>
              </a:stretch>
            </a:blipFill>
          </p:spPr>
        </p:sp>
        <p:sp>
          <p:nvSpPr>
            <p:cNvPr name="TextBox 43" id="43"/>
            <p:cNvSpPr txBox="true"/>
            <p:nvPr/>
          </p:nvSpPr>
          <p:spPr>
            <a:xfrm>
              <a:off x="0" y="-28575"/>
              <a:ext cx="1219200" cy="1247775"/>
            </a:xfrm>
            <a:prstGeom prst="rect">
              <a:avLst/>
            </a:prstGeom>
          </p:spPr>
          <p:txBody>
            <a:bodyPr anchor="ctr" rtlCol="false" tIns="0" lIns="0" bIns="0" rIns="0"/>
            <a:lstStyle/>
            <a:p>
              <a:pPr algn="ctr">
                <a:lnSpc>
                  <a:spcPts val="3840"/>
                </a:lnSpc>
              </a:pPr>
              <a:r>
                <a:rPr lang="en-US" sz="3200" b="true">
                  <a:solidFill>
                    <a:srgbClr val="FFC81E"/>
                  </a:solidFill>
                  <a:latin typeface="Arial Bold"/>
                  <a:ea typeface="Arial Bold"/>
                  <a:cs typeface="Arial Bold"/>
                  <a:sym typeface="Arial Bold"/>
                </a:rPr>
                <a:t>4</a:t>
              </a:r>
            </a:p>
          </p:txBody>
        </p:sp>
      </p:grpSp>
      <p:sp>
        <p:nvSpPr>
          <p:cNvPr name="TextBox 44" id="44"/>
          <p:cNvSpPr txBox="true"/>
          <p:nvPr/>
        </p:nvSpPr>
        <p:spPr>
          <a:xfrm rot="0">
            <a:off x="13697712" y="4168140"/>
            <a:ext cx="3291840" cy="2415540"/>
          </a:xfrm>
          <a:prstGeom prst="rect">
            <a:avLst/>
          </a:prstGeom>
        </p:spPr>
        <p:txBody>
          <a:bodyPr anchor="t" rtlCol="false" tIns="0" lIns="0" bIns="0" rIns="0">
            <a:spAutoFit/>
          </a:bodyPr>
          <a:lstStyle/>
          <a:p>
            <a:pPr algn="ctr">
              <a:lnSpc>
                <a:spcPts val="2879"/>
              </a:lnSpc>
            </a:pPr>
            <a:r>
              <a:rPr lang="en-US" sz="2400" b="true">
                <a:solidFill>
                  <a:srgbClr val="0B1D3A"/>
                </a:solidFill>
                <a:latin typeface="Calibri (MS) Bold"/>
                <a:ea typeface="Calibri (MS) Bold"/>
                <a:cs typeface="Calibri (MS) Bold"/>
                <a:sym typeface="Calibri (MS) Bold"/>
              </a:rPr>
              <a:t>Tautan hasil deploy website (hosting bebas)</a:t>
            </a:r>
          </a:p>
        </p:txBody>
      </p:sp>
      <p:grpSp>
        <p:nvGrpSpPr>
          <p:cNvPr name="Group 45" id="45"/>
          <p:cNvGrpSpPr/>
          <p:nvPr/>
        </p:nvGrpSpPr>
        <p:grpSpPr>
          <a:xfrm rot="0">
            <a:off x="904875" y="7488555"/>
            <a:ext cx="16478250" cy="933450"/>
            <a:chOff x="0" y="0"/>
            <a:chExt cx="21971000" cy="1244600"/>
          </a:xfrm>
        </p:grpSpPr>
        <p:sp>
          <p:nvSpPr>
            <p:cNvPr name="Freeform 46" id="46"/>
            <p:cNvSpPr/>
            <p:nvPr/>
          </p:nvSpPr>
          <p:spPr>
            <a:xfrm flipH="false" flipV="false" rot="0">
              <a:off x="0" y="0"/>
              <a:ext cx="21971000" cy="1244600"/>
            </a:xfrm>
            <a:custGeom>
              <a:avLst/>
              <a:gdLst/>
              <a:ahLst/>
              <a:cxnLst/>
              <a:rect r="r" b="b" t="t" l="l"/>
              <a:pathLst>
                <a:path h="1244600" w="21971000">
                  <a:moveTo>
                    <a:pt x="0" y="199136"/>
                  </a:moveTo>
                  <a:cubicBezTo>
                    <a:pt x="0" y="89154"/>
                    <a:pt x="89154" y="0"/>
                    <a:pt x="199136" y="0"/>
                  </a:cubicBezTo>
                  <a:lnTo>
                    <a:pt x="21771863" y="0"/>
                  </a:lnTo>
                  <a:cubicBezTo>
                    <a:pt x="21881846" y="0"/>
                    <a:pt x="21971000" y="89154"/>
                    <a:pt x="21971000" y="199136"/>
                  </a:cubicBezTo>
                  <a:lnTo>
                    <a:pt x="21971000" y="1045464"/>
                  </a:lnTo>
                  <a:cubicBezTo>
                    <a:pt x="21971000" y="1155446"/>
                    <a:pt x="21881846" y="1244600"/>
                    <a:pt x="21771863" y="1244600"/>
                  </a:cubicBezTo>
                  <a:lnTo>
                    <a:pt x="199136" y="1244600"/>
                  </a:lnTo>
                  <a:cubicBezTo>
                    <a:pt x="89154" y="1244600"/>
                    <a:pt x="0" y="1155446"/>
                    <a:pt x="0" y="1045464"/>
                  </a:cubicBezTo>
                  <a:close/>
                </a:path>
              </a:pathLst>
            </a:custGeom>
            <a:solidFill>
              <a:srgbClr val="FFF4CC"/>
            </a:solidFill>
            <a:ln w="19050" cap="sq">
              <a:solidFill>
                <a:srgbClr val="FFC81E"/>
              </a:solidFill>
              <a:prstDash val="solid"/>
              <a:miter/>
            </a:ln>
          </p:spPr>
        </p:sp>
      </p:grpSp>
      <p:grpSp>
        <p:nvGrpSpPr>
          <p:cNvPr name="Group 47" id="47"/>
          <p:cNvGrpSpPr/>
          <p:nvPr/>
        </p:nvGrpSpPr>
        <p:grpSpPr>
          <a:xfrm rot="0">
            <a:off x="1280160" y="7498080"/>
            <a:ext cx="15727680" cy="914400"/>
            <a:chOff x="0" y="0"/>
            <a:chExt cx="20970240" cy="1219200"/>
          </a:xfrm>
        </p:grpSpPr>
        <p:sp>
          <p:nvSpPr>
            <p:cNvPr name="Freeform 48" id="48"/>
            <p:cNvSpPr/>
            <p:nvPr/>
          </p:nvSpPr>
          <p:spPr>
            <a:xfrm flipH="false" flipV="false" rot="0">
              <a:off x="0" y="0"/>
              <a:ext cx="20970239" cy="1219200"/>
            </a:xfrm>
            <a:custGeom>
              <a:avLst/>
              <a:gdLst/>
              <a:ahLst/>
              <a:cxnLst/>
              <a:rect r="r" b="b" t="t" l="l"/>
              <a:pathLst>
                <a:path h="1219200" w="20970239">
                  <a:moveTo>
                    <a:pt x="0" y="0"/>
                  </a:moveTo>
                  <a:lnTo>
                    <a:pt x="20970239" y="0"/>
                  </a:lnTo>
                  <a:lnTo>
                    <a:pt x="20970239" y="1219200"/>
                  </a:lnTo>
                  <a:lnTo>
                    <a:pt x="0" y="1219200"/>
                  </a:lnTo>
                  <a:close/>
                </a:path>
              </a:pathLst>
            </a:custGeom>
            <a:blipFill>
              <a:blip r:embed="rId4">
                <a:alphaModFix amt="0"/>
              </a:blip>
              <a:stretch>
                <a:fillRect l="0" t="-285142" r="0" b="-285142"/>
              </a:stretch>
            </a:blipFill>
          </p:spPr>
        </p:sp>
        <p:sp>
          <p:nvSpPr>
            <p:cNvPr name="TextBox 49" id="49"/>
            <p:cNvSpPr txBox="true"/>
            <p:nvPr/>
          </p:nvSpPr>
          <p:spPr>
            <a:xfrm>
              <a:off x="0" y="-47625"/>
              <a:ext cx="20970240" cy="1266825"/>
            </a:xfrm>
            <a:prstGeom prst="rect">
              <a:avLst/>
            </a:prstGeom>
          </p:spPr>
          <p:txBody>
            <a:bodyPr anchor="ctr" rtlCol="false" tIns="0" lIns="0" bIns="0" rIns="0"/>
            <a:lstStyle/>
            <a:p>
              <a:pPr algn="l">
                <a:lnSpc>
                  <a:spcPts val="2520"/>
                </a:lnSpc>
              </a:pPr>
              <a:r>
                <a:rPr lang="en-US" sz="2100" b="true">
                  <a:solidFill>
                    <a:srgbClr val="0B1D3A"/>
                  </a:solidFill>
                  <a:latin typeface="Calibri (MS) Bold"/>
                  <a:ea typeface="Calibri (MS) Bold"/>
                  <a:cs typeface="Calibri (MS) Bold"/>
                  <a:sym typeface="Calibri (MS) Bold"/>
                </a:rPr>
                <a:t>Dikumpulkan lewat formulir/kanal yang diinformasikan saat Technical Meeting. Batas akhir: 15 Oktober 2026, 15.30 WIB. Karya yang melewati batas akhir tanpa konfirmasi tidak dinilai (diskualifikasi).</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30"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13</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Benefit &amp; Hadiah</a:t>
              </a:r>
            </a:p>
          </p:txBody>
        </p:sp>
      </p:grpSp>
      <p:sp>
        <p:nvSpPr>
          <p:cNvPr name="TextBox 11" id="11"/>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2" id="12"/>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pSp>
        <p:nvGrpSpPr>
          <p:cNvPr name="Group 13" id="13"/>
          <p:cNvGrpSpPr/>
          <p:nvPr/>
        </p:nvGrpSpPr>
        <p:grpSpPr>
          <a:xfrm rot="0">
            <a:off x="904875" y="2185035"/>
            <a:ext cx="7700010" cy="7059930"/>
            <a:chOff x="0" y="0"/>
            <a:chExt cx="10266680" cy="9413240"/>
          </a:xfrm>
        </p:grpSpPr>
        <p:sp>
          <p:nvSpPr>
            <p:cNvPr name="Freeform 14" id="14"/>
            <p:cNvSpPr/>
            <p:nvPr/>
          </p:nvSpPr>
          <p:spPr>
            <a:xfrm flipH="false" flipV="false" rot="0">
              <a:off x="0" y="0"/>
              <a:ext cx="10266680" cy="9413240"/>
            </a:xfrm>
            <a:custGeom>
              <a:avLst/>
              <a:gdLst/>
              <a:ahLst/>
              <a:cxnLst/>
              <a:rect r="r" b="b" t="t" l="l"/>
              <a:pathLst>
                <a:path h="9413240" w="10266680">
                  <a:moveTo>
                    <a:pt x="0" y="244475"/>
                  </a:moveTo>
                  <a:cubicBezTo>
                    <a:pt x="0" y="109474"/>
                    <a:pt x="109474" y="0"/>
                    <a:pt x="244475" y="0"/>
                  </a:cubicBezTo>
                  <a:lnTo>
                    <a:pt x="10022205" y="0"/>
                  </a:lnTo>
                  <a:cubicBezTo>
                    <a:pt x="10157206" y="0"/>
                    <a:pt x="10266680" y="109474"/>
                    <a:pt x="10266680" y="244475"/>
                  </a:cubicBezTo>
                  <a:lnTo>
                    <a:pt x="10266680" y="9168765"/>
                  </a:lnTo>
                  <a:cubicBezTo>
                    <a:pt x="10266680" y="9303766"/>
                    <a:pt x="10157206" y="9413240"/>
                    <a:pt x="10022205" y="9413240"/>
                  </a:cubicBezTo>
                  <a:lnTo>
                    <a:pt x="244475" y="9413240"/>
                  </a:lnTo>
                  <a:cubicBezTo>
                    <a:pt x="109474" y="9413240"/>
                    <a:pt x="0" y="9303766"/>
                    <a:pt x="0" y="9168765"/>
                  </a:cubicBezTo>
                  <a:close/>
                </a:path>
              </a:pathLst>
            </a:custGeom>
            <a:solidFill>
              <a:srgbClr val="FFFFFF">
                <a:alpha val="50000"/>
              </a:srgbClr>
            </a:solidFill>
            <a:ln w="19050" cap="sq">
              <a:solidFill>
                <a:srgbClr val="D6E0F2"/>
              </a:solidFill>
              <a:prstDash val="solid"/>
              <a:miter/>
            </a:ln>
          </p:spPr>
        </p:sp>
      </p:grpSp>
      <p:sp>
        <p:nvSpPr>
          <p:cNvPr name="TextBox 15" id="15"/>
          <p:cNvSpPr txBox="true"/>
          <p:nvPr/>
        </p:nvSpPr>
        <p:spPr>
          <a:xfrm rot="0">
            <a:off x="1371600" y="2512695"/>
            <a:ext cx="6766560" cy="596265"/>
          </a:xfrm>
          <a:prstGeom prst="rect">
            <a:avLst/>
          </a:prstGeom>
        </p:spPr>
        <p:txBody>
          <a:bodyPr anchor="t" rtlCol="false" tIns="0" lIns="0" bIns="0" rIns="0">
            <a:spAutoFit/>
          </a:bodyPr>
          <a:lstStyle/>
          <a:p>
            <a:pPr algn="l">
              <a:lnSpc>
                <a:spcPts val="2639"/>
              </a:lnSpc>
            </a:pPr>
            <a:r>
              <a:rPr lang="en-US" sz="2199" b="true">
                <a:solidFill>
                  <a:srgbClr val="1448C8"/>
                </a:solidFill>
                <a:latin typeface="Consolas Bold"/>
                <a:ea typeface="Consolas Bold"/>
                <a:cs typeface="Consolas Bold"/>
                <a:sym typeface="Consolas Bold"/>
              </a:rPr>
              <a:t>BENEFIT SEMUA PESERTA</a:t>
            </a:r>
          </a:p>
        </p:txBody>
      </p:sp>
      <p:sp>
        <p:nvSpPr>
          <p:cNvPr name="TextBox 16" id="16"/>
          <p:cNvSpPr txBox="true"/>
          <p:nvPr/>
        </p:nvSpPr>
        <p:spPr>
          <a:xfrm rot="0">
            <a:off x="1371600" y="3326130"/>
            <a:ext cx="6766560" cy="5177790"/>
          </a:xfrm>
          <a:prstGeom prst="rect">
            <a:avLst/>
          </a:prstGeom>
        </p:spPr>
        <p:txBody>
          <a:bodyPr anchor="t" rtlCol="false" tIns="0" lIns="0" bIns="0" rIns="0">
            <a:spAutoFit/>
          </a:bodyPr>
          <a:lstStyle/>
          <a:p>
            <a:pPr algn="l" marL="627381" indent="-313690" lvl="1">
              <a:lnSpc>
                <a:spcPts val="3120"/>
              </a:lnSpc>
              <a:buFont typeface="Arial"/>
              <a:buChar char="•"/>
            </a:pPr>
            <a:r>
              <a:rPr lang="en-US" sz="2600">
                <a:solidFill>
                  <a:srgbClr val="0B1D3A"/>
                </a:solidFill>
                <a:latin typeface="Calibri (MS)"/>
                <a:ea typeface="Calibri (MS)"/>
                <a:cs typeface="Calibri (MS)"/>
                <a:sym typeface="Calibri (MS)"/>
              </a:rPr>
              <a:t>E-Sertifikat Peserta</a:t>
            </a:r>
          </a:p>
          <a:p>
            <a:pPr algn="l" marL="627381" indent="-313690" lvl="1">
              <a:lnSpc>
                <a:spcPts val="3120"/>
              </a:lnSpc>
              <a:buFont typeface="Arial"/>
              <a:buChar char="•"/>
            </a:pPr>
            <a:r>
              <a:rPr lang="en-US" sz="2600">
                <a:solidFill>
                  <a:srgbClr val="0B1D3A"/>
                </a:solidFill>
                <a:latin typeface="Calibri (MS)"/>
                <a:ea typeface="Calibri (MS)"/>
                <a:cs typeface="Calibri (MS)"/>
                <a:sym typeface="Calibri (MS)"/>
              </a:rPr>
              <a:t>Free Domain 1 Tahun</a:t>
            </a:r>
          </a:p>
          <a:p>
            <a:pPr algn="l" marL="627381" indent="-313690" lvl="1">
              <a:lnSpc>
                <a:spcPts val="3120"/>
              </a:lnSpc>
              <a:buFont typeface="Arial"/>
              <a:buChar char="•"/>
            </a:pPr>
            <a:r>
              <a:rPr lang="en-US" sz="2600">
                <a:solidFill>
                  <a:srgbClr val="0B1D3A"/>
                </a:solidFill>
                <a:latin typeface="Calibri (MS)"/>
                <a:ea typeface="Calibri (MS)"/>
                <a:cs typeface="Calibri (MS)"/>
                <a:sym typeface="Calibri (MS)"/>
              </a:rPr>
              <a:t>Free Hosting 1 Tahun</a:t>
            </a:r>
          </a:p>
          <a:p>
            <a:pPr algn="l" marL="627381" indent="-313690" lvl="1">
              <a:lnSpc>
                <a:spcPts val="3120"/>
              </a:lnSpc>
              <a:buFont typeface="Arial"/>
              <a:buChar char="•"/>
            </a:pPr>
            <a:r>
              <a:rPr lang="en-US" sz="2600">
                <a:solidFill>
                  <a:srgbClr val="0B1D3A"/>
                </a:solidFill>
                <a:latin typeface="Calibri (MS)"/>
                <a:ea typeface="Calibri (MS)"/>
                <a:cs typeface="Calibri (MS)"/>
                <a:sym typeface="Calibri (MS)"/>
              </a:rPr>
              <a:t>Free Akun Google AI Pro untuk 5 pendaftar pertama</a:t>
            </a:r>
          </a:p>
        </p:txBody>
      </p:sp>
      <p:sp>
        <p:nvSpPr>
          <p:cNvPr name="TextBox 17" id="17"/>
          <p:cNvSpPr txBox="true"/>
          <p:nvPr/>
        </p:nvSpPr>
        <p:spPr>
          <a:xfrm rot="0">
            <a:off x="9144000" y="2146935"/>
            <a:ext cx="7315200" cy="596265"/>
          </a:xfrm>
          <a:prstGeom prst="rect">
            <a:avLst/>
          </a:prstGeom>
        </p:spPr>
        <p:txBody>
          <a:bodyPr anchor="t" rtlCol="false" tIns="0" lIns="0" bIns="0" rIns="0">
            <a:spAutoFit/>
          </a:bodyPr>
          <a:lstStyle/>
          <a:p>
            <a:pPr algn="l">
              <a:lnSpc>
                <a:spcPts val="2639"/>
              </a:lnSpc>
            </a:pPr>
            <a:r>
              <a:rPr lang="en-US" sz="2199" b="true">
                <a:solidFill>
                  <a:srgbClr val="1448C8"/>
                </a:solidFill>
                <a:latin typeface="Consolas Bold"/>
                <a:ea typeface="Consolas Bold"/>
                <a:cs typeface="Consolas Bold"/>
                <a:sym typeface="Consolas Bold"/>
              </a:rPr>
              <a:t>HADIAH KATEGORI UMUM</a:t>
            </a:r>
          </a:p>
        </p:txBody>
      </p:sp>
      <p:grpSp>
        <p:nvGrpSpPr>
          <p:cNvPr name="Group 18" id="18"/>
          <p:cNvGrpSpPr/>
          <p:nvPr/>
        </p:nvGrpSpPr>
        <p:grpSpPr>
          <a:xfrm rot="0">
            <a:off x="9131303" y="2821943"/>
            <a:ext cx="8255003" cy="2000507"/>
            <a:chOff x="0" y="0"/>
            <a:chExt cx="11006671" cy="2667343"/>
          </a:xfrm>
        </p:grpSpPr>
        <p:sp>
          <p:nvSpPr>
            <p:cNvPr name="Freeform 19" id="19"/>
            <p:cNvSpPr/>
            <p:nvPr/>
          </p:nvSpPr>
          <p:spPr>
            <a:xfrm flipH="false" flipV="false" rot="0">
              <a:off x="0" y="0"/>
              <a:ext cx="11006709" cy="2667381"/>
            </a:xfrm>
            <a:custGeom>
              <a:avLst/>
              <a:gdLst/>
              <a:ahLst/>
              <a:cxnLst/>
              <a:rect r="r" b="b" t="t" l="l"/>
              <a:pathLst>
                <a:path h="2667381" w="11006709">
                  <a:moveTo>
                    <a:pt x="0" y="247015"/>
                  </a:moveTo>
                  <a:cubicBezTo>
                    <a:pt x="0" y="110617"/>
                    <a:pt x="110617" y="0"/>
                    <a:pt x="247015" y="0"/>
                  </a:cubicBezTo>
                  <a:lnTo>
                    <a:pt x="10759694" y="0"/>
                  </a:lnTo>
                  <a:cubicBezTo>
                    <a:pt x="10896092" y="0"/>
                    <a:pt x="11006709" y="110617"/>
                    <a:pt x="11006709" y="247015"/>
                  </a:cubicBezTo>
                  <a:lnTo>
                    <a:pt x="11006709" y="2420366"/>
                  </a:lnTo>
                  <a:cubicBezTo>
                    <a:pt x="11006709" y="2556764"/>
                    <a:pt x="10896092" y="2667381"/>
                    <a:pt x="10759694" y="2667381"/>
                  </a:cubicBezTo>
                  <a:lnTo>
                    <a:pt x="247015" y="2667381"/>
                  </a:lnTo>
                  <a:cubicBezTo>
                    <a:pt x="110617" y="2667381"/>
                    <a:pt x="0" y="2556764"/>
                    <a:pt x="0" y="2420366"/>
                  </a:cubicBezTo>
                  <a:close/>
                </a:path>
              </a:pathLst>
            </a:custGeom>
            <a:solidFill>
              <a:srgbClr val="FFC81E">
                <a:alpha val="85000"/>
              </a:srgbClr>
            </a:solidFill>
            <a:ln w="25400" cap="sq">
              <a:solidFill>
                <a:srgbClr val="FFC81E"/>
              </a:solidFill>
              <a:prstDash val="solid"/>
              <a:miter/>
            </a:ln>
          </p:spPr>
        </p:sp>
      </p:grpSp>
      <p:sp>
        <p:nvSpPr>
          <p:cNvPr name="TextBox 20" id="20"/>
          <p:cNvSpPr txBox="true"/>
          <p:nvPr/>
        </p:nvSpPr>
        <p:spPr>
          <a:xfrm rot="0">
            <a:off x="9601200" y="3089910"/>
            <a:ext cx="7315200" cy="659130"/>
          </a:xfrm>
          <a:prstGeom prst="rect">
            <a:avLst/>
          </a:prstGeom>
        </p:spPr>
        <p:txBody>
          <a:bodyPr anchor="t" rtlCol="false" tIns="0" lIns="0" bIns="0" rIns="0">
            <a:spAutoFit/>
          </a:bodyPr>
          <a:lstStyle/>
          <a:p>
            <a:pPr algn="l">
              <a:lnSpc>
                <a:spcPts val="4079"/>
              </a:lnSpc>
            </a:pPr>
            <a:r>
              <a:rPr lang="en-US" sz="3399" b="true">
                <a:solidFill>
                  <a:srgbClr val="0A1F44"/>
                </a:solidFill>
                <a:latin typeface="Arial Bold"/>
                <a:ea typeface="Arial Bold"/>
                <a:cs typeface="Arial Bold"/>
                <a:sym typeface="Arial Bold"/>
              </a:rPr>
              <a:t>Juara 1</a:t>
            </a:r>
          </a:p>
        </p:txBody>
      </p:sp>
      <p:sp>
        <p:nvSpPr>
          <p:cNvPr name="TextBox 21" id="21"/>
          <p:cNvSpPr txBox="true"/>
          <p:nvPr/>
        </p:nvSpPr>
        <p:spPr>
          <a:xfrm rot="0">
            <a:off x="9601200" y="3857244"/>
            <a:ext cx="7498080" cy="678180"/>
          </a:xfrm>
          <a:prstGeom prst="rect">
            <a:avLst/>
          </a:prstGeom>
        </p:spPr>
        <p:txBody>
          <a:bodyPr anchor="t" rtlCol="false" tIns="0" lIns="0" bIns="0" rIns="0">
            <a:spAutoFit/>
          </a:bodyPr>
          <a:lstStyle/>
          <a:p>
            <a:pPr algn="l">
              <a:lnSpc>
                <a:spcPts val="2879"/>
              </a:lnSpc>
            </a:pPr>
            <a:r>
              <a:rPr lang="en-US" sz="2400">
                <a:solidFill>
                  <a:srgbClr val="0A1F44"/>
                </a:solidFill>
                <a:latin typeface="Calibri (MS)"/>
                <a:ea typeface="Calibri (MS)"/>
                <a:cs typeface="Calibri (MS)"/>
                <a:sym typeface="Calibri (MS)"/>
              </a:rPr>
              <a:t>E-Sertifikat + Google AI Pro + Rp1.000.000</a:t>
            </a:r>
          </a:p>
        </p:txBody>
      </p:sp>
      <p:grpSp>
        <p:nvGrpSpPr>
          <p:cNvPr name="Group 22" id="22"/>
          <p:cNvGrpSpPr/>
          <p:nvPr/>
        </p:nvGrpSpPr>
        <p:grpSpPr>
          <a:xfrm rot="0">
            <a:off x="9131303" y="5016503"/>
            <a:ext cx="8255003" cy="2000507"/>
            <a:chOff x="0" y="0"/>
            <a:chExt cx="11006671" cy="2667343"/>
          </a:xfrm>
        </p:grpSpPr>
        <p:sp>
          <p:nvSpPr>
            <p:cNvPr name="Freeform 23" id="23"/>
            <p:cNvSpPr/>
            <p:nvPr/>
          </p:nvSpPr>
          <p:spPr>
            <a:xfrm flipH="false" flipV="false" rot="0">
              <a:off x="0" y="0"/>
              <a:ext cx="11006709" cy="2667381"/>
            </a:xfrm>
            <a:custGeom>
              <a:avLst/>
              <a:gdLst/>
              <a:ahLst/>
              <a:cxnLst/>
              <a:rect r="r" b="b" t="t" l="l"/>
              <a:pathLst>
                <a:path h="2667381" w="11006709">
                  <a:moveTo>
                    <a:pt x="0" y="247015"/>
                  </a:moveTo>
                  <a:cubicBezTo>
                    <a:pt x="0" y="110617"/>
                    <a:pt x="110617" y="0"/>
                    <a:pt x="247015" y="0"/>
                  </a:cubicBezTo>
                  <a:lnTo>
                    <a:pt x="10759694" y="0"/>
                  </a:lnTo>
                  <a:cubicBezTo>
                    <a:pt x="10896092" y="0"/>
                    <a:pt x="11006709" y="110617"/>
                    <a:pt x="11006709" y="247015"/>
                  </a:cubicBezTo>
                  <a:lnTo>
                    <a:pt x="11006709" y="2420366"/>
                  </a:lnTo>
                  <a:cubicBezTo>
                    <a:pt x="11006709" y="2556764"/>
                    <a:pt x="10896092" y="2667381"/>
                    <a:pt x="10759694" y="2667381"/>
                  </a:cubicBezTo>
                  <a:lnTo>
                    <a:pt x="247015" y="2667381"/>
                  </a:lnTo>
                  <a:cubicBezTo>
                    <a:pt x="110617" y="2667381"/>
                    <a:pt x="0" y="2556764"/>
                    <a:pt x="0" y="2420366"/>
                  </a:cubicBezTo>
                  <a:close/>
                </a:path>
              </a:pathLst>
            </a:custGeom>
            <a:solidFill>
              <a:srgbClr val="0A1F44">
                <a:alpha val="85000"/>
              </a:srgbClr>
            </a:solidFill>
            <a:ln w="25400" cap="sq">
              <a:solidFill>
                <a:srgbClr val="0A1F44"/>
              </a:solidFill>
              <a:prstDash val="solid"/>
              <a:miter/>
            </a:ln>
          </p:spPr>
        </p:sp>
      </p:grpSp>
      <p:sp>
        <p:nvSpPr>
          <p:cNvPr name="TextBox 24" id="24"/>
          <p:cNvSpPr txBox="true"/>
          <p:nvPr/>
        </p:nvSpPr>
        <p:spPr>
          <a:xfrm rot="0">
            <a:off x="9601200" y="5284470"/>
            <a:ext cx="7315200" cy="659130"/>
          </a:xfrm>
          <a:prstGeom prst="rect">
            <a:avLst/>
          </a:prstGeom>
        </p:spPr>
        <p:txBody>
          <a:bodyPr anchor="t" rtlCol="false" tIns="0" lIns="0" bIns="0" rIns="0">
            <a:spAutoFit/>
          </a:bodyPr>
          <a:lstStyle/>
          <a:p>
            <a:pPr algn="l">
              <a:lnSpc>
                <a:spcPts val="4079"/>
              </a:lnSpc>
            </a:pPr>
            <a:r>
              <a:rPr lang="en-US" sz="3399" b="true">
                <a:solidFill>
                  <a:srgbClr val="FFFFFF"/>
                </a:solidFill>
                <a:latin typeface="Arial Bold"/>
                <a:ea typeface="Arial Bold"/>
                <a:cs typeface="Arial Bold"/>
                <a:sym typeface="Arial Bold"/>
              </a:rPr>
              <a:t>Juara 2</a:t>
            </a:r>
          </a:p>
        </p:txBody>
      </p:sp>
      <p:sp>
        <p:nvSpPr>
          <p:cNvPr name="TextBox 25" id="25"/>
          <p:cNvSpPr txBox="true"/>
          <p:nvPr/>
        </p:nvSpPr>
        <p:spPr>
          <a:xfrm rot="0">
            <a:off x="9601200" y="6051804"/>
            <a:ext cx="7498080" cy="678180"/>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E-Sertifikat + Google AI Pro + Rp700.000</a:t>
            </a:r>
          </a:p>
        </p:txBody>
      </p:sp>
      <p:grpSp>
        <p:nvGrpSpPr>
          <p:cNvPr name="Group 26" id="26"/>
          <p:cNvGrpSpPr/>
          <p:nvPr/>
        </p:nvGrpSpPr>
        <p:grpSpPr>
          <a:xfrm rot="0">
            <a:off x="9131303" y="7211063"/>
            <a:ext cx="8255003" cy="2000507"/>
            <a:chOff x="0" y="0"/>
            <a:chExt cx="11006671" cy="2667343"/>
          </a:xfrm>
        </p:grpSpPr>
        <p:sp>
          <p:nvSpPr>
            <p:cNvPr name="Freeform 27" id="27"/>
            <p:cNvSpPr/>
            <p:nvPr/>
          </p:nvSpPr>
          <p:spPr>
            <a:xfrm flipH="false" flipV="false" rot="0">
              <a:off x="0" y="0"/>
              <a:ext cx="11006709" cy="2667381"/>
            </a:xfrm>
            <a:custGeom>
              <a:avLst/>
              <a:gdLst/>
              <a:ahLst/>
              <a:cxnLst/>
              <a:rect r="r" b="b" t="t" l="l"/>
              <a:pathLst>
                <a:path h="2667381" w="11006709">
                  <a:moveTo>
                    <a:pt x="0" y="247015"/>
                  </a:moveTo>
                  <a:cubicBezTo>
                    <a:pt x="0" y="110617"/>
                    <a:pt x="110617" y="0"/>
                    <a:pt x="247015" y="0"/>
                  </a:cubicBezTo>
                  <a:lnTo>
                    <a:pt x="10759694" y="0"/>
                  </a:lnTo>
                  <a:cubicBezTo>
                    <a:pt x="10896092" y="0"/>
                    <a:pt x="11006709" y="110617"/>
                    <a:pt x="11006709" y="247015"/>
                  </a:cubicBezTo>
                  <a:lnTo>
                    <a:pt x="11006709" y="2420366"/>
                  </a:lnTo>
                  <a:cubicBezTo>
                    <a:pt x="11006709" y="2556764"/>
                    <a:pt x="10896092" y="2667381"/>
                    <a:pt x="10759694" y="2667381"/>
                  </a:cubicBezTo>
                  <a:lnTo>
                    <a:pt x="247015" y="2667381"/>
                  </a:lnTo>
                  <a:cubicBezTo>
                    <a:pt x="110617" y="2667381"/>
                    <a:pt x="0" y="2556764"/>
                    <a:pt x="0" y="2420366"/>
                  </a:cubicBezTo>
                  <a:close/>
                </a:path>
              </a:pathLst>
            </a:custGeom>
            <a:solidFill>
              <a:srgbClr val="1448C8"/>
            </a:solidFill>
            <a:ln w="25400" cap="sq">
              <a:solidFill>
                <a:srgbClr val="1448C8"/>
              </a:solidFill>
              <a:prstDash val="solid"/>
              <a:miter/>
            </a:ln>
          </p:spPr>
        </p:sp>
      </p:grpSp>
      <p:sp>
        <p:nvSpPr>
          <p:cNvPr name="TextBox 28" id="28"/>
          <p:cNvSpPr txBox="true"/>
          <p:nvPr/>
        </p:nvSpPr>
        <p:spPr>
          <a:xfrm rot="0">
            <a:off x="9601200" y="7479030"/>
            <a:ext cx="7315200" cy="659130"/>
          </a:xfrm>
          <a:prstGeom prst="rect">
            <a:avLst/>
          </a:prstGeom>
        </p:spPr>
        <p:txBody>
          <a:bodyPr anchor="t" rtlCol="false" tIns="0" lIns="0" bIns="0" rIns="0">
            <a:spAutoFit/>
          </a:bodyPr>
          <a:lstStyle/>
          <a:p>
            <a:pPr algn="l">
              <a:lnSpc>
                <a:spcPts val="4079"/>
              </a:lnSpc>
            </a:pPr>
            <a:r>
              <a:rPr lang="en-US" sz="3399" b="true">
                <a:solidFill>
                  <a:srgbClr val="FFFFFF"/>
                </a:solidFill>
                <a:latin typeface="Arial Bold"/>
                <a:ea typeface="Arial Bold"/>
                <a:cs typeface="Arial Bold"/>
                <a:sym typeface="Arial Bold"/>
              </a:rPr>
              <a:t>Juara 3</a:t>
            </a:r>
          </a:p>
        </p:txBody>
      </p:sp>
      <p:sp>
        <p:nvSpPr>
          <p:cNvPr name="TextBox 29" id="29"/>
          <p:cNvSpPr txBox="true"/>
          <p:nvPr/>
        </p:nvSpPr>
        <p:spPr>
          <a:xfrm rot="0">
            <a:off x="9601200" y="8246364"/>
            <a:ext cx="7498080" cy="678180"/>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E-Sertifikat + Google AI Pro + Rp500.000</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25"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14</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Biaya Tiket Lomba</a:t>
              </a:r>
            </a:p>
          </p:txBody>
        </p:sp>
      </p:grpSp>
      <p:sp>
        <p:nvSpPr>
          <p:cNvPr name="TextBox 11" id="11"/>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2" id="12"/>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pSp>
        <p:nvGrpSpPr>
          <p:cNvPr name="Group 13" id="13"/>
          <p:cNvGrpSpPr/>
          <p:nvPr/>
        </p:nvGrpSpPr>
        <p:grpSpPr>
          <a:xfrm rot="0">
            <a:off x="901703" y="2364743"/>
            <a:ext cx="8072123" cy="3134363"/>
            <a:chOff x="0" y="0"/>
            <a:chExt cx="10762831" cy="4179151"/>
          </a:xfrm>
        </p:grpSpPr>
        <p:sp>
          <p:nvSpPr>
            <p:cNvPr name="Freeform 14" id="14"/>
            <p:cNvSpPr/>
            <p:nvPr/>
          </p:nvSpPr>
          <p:spPr>
            <a:xfrm flipH="false" flipV="false" rot="0">
              <a:off x="0" y="0"/>
              <a:ext cx="10762869" cy="4179189"/>
            </a:xfrm>
            <a:custGeom>
              <a:avLst/>
              <a:gdLst/>
              <a:ahLst/>
              <a:cxnLst/>
              <a:rect r="r" b="b" t="t" l="l"/>
              <a:pathLst>
                <a:path h="4179189" w="10762869">
                  <a:moveTo>
                    <a:pt x="0" y="295021"/>
                  </a:moveTo>
                  <a:cubicBezTo>
                    <a:pt x="0" y="132080"/>
                    <a:pt x="132080" y="0"/>
                    <a:pt x="295021" y="0"/>
                  </a:cubicBezTo>
                  <a:lnTo>
                    <a:pt x="10467848" y="0"/>
                  </a:lnTo>
                  <a:cubicBezTo>
                    <a:pt x="10630789" y="0"/>
                    <a:pt x="10762869" y="132080"/>
                    <a:pt x="10762869" y="295021"/>
                  </a:cubicBezTo>
                  <a:lnTo>
                    <a:pt x="10762869" y="3884168"/>
                  </a:lnTo>
                  <a:cubicBezTo>
                    <a:pt x="10762869" y="4047109"/>
                    <a:pt x="10630789" y="4179189"/>
                    <a:pt x="10467848" y="4179189"/>
                  </a:cubicBezTo>
                  <a:lnTo>
                    <a:pt x="295021" y="4179189"/>
                  </a:lnTo>
                  <a:cubicBezTo>
                    <a:pt x="132080" y="4179189"/>
                    <a:pt x="0" y="4047109"/>
                    <a:pt x="0" y="3884168"/>
                  </a:cubicBezTo>
                  <a:close/>
                </a:path>
              </a:pathLst>
            </a:custGeom>
            <a:solidFill>
              <a:srgbClr val="1448C8">
                <a:alpha val="85000"/>
              </a:srgbClr>
            </a:solidFill>
            <a:ln w="25400" cap="sq">
              <a:solidFill>
                <a:srgbClr val="1448C8"/>
              </a:solidFill>
              <a:prstDash val="solid"/>
              <a:miter/>
            </a:ln>
          </p:spPr>
        </p:sp>
      </p:grpSp>
      <p:sp>
        <p:nvSpPr>
          <p:cNvPr name="TextBox 15" id="15"/>
          <p:cNvSpPr txBox="true"/>
          <p:nvPr/>
        </p:nvSpPr>
        <p:spPr>
          <a:xfrm rot="0">
            <a:off x="1463040" y="2676525"/>
            <a:ext cx="6949440" cy="706755"/>
          </a:xfrm>
          <a:prstGeom prst="rect">
            <a:avLst/>
          </a:prstGeom>
        </p:spPr>
        <p:txBody>
          <a:bodyPr anchor="t" rtlCol="false" tIns="0" lIns="0" bIns="0" rIns="0">
            <a:spAutoFit/>
          </a:bodyPr>
          <a:lstStyle/>
          <a:p>
            <a:pPr algn="l">
              <a:lnSpc>
                <a:spcPts val="3359"/>
              </a:lnSpc>
            </a:pPr>
            <a:r>
              <a:rPr lang="en-US" sz="2799">
                <a:solidFill>
                  <a:srgbClr val="DCE8FF"/>
                </a:solidFill>
                <a:latin typeface="Calibri (MS)"/>
                <a:ea typeface="Calibri (MS)"/>
                <a:cs typeface="Calibri (MS)"/>
                <a:sym typeface="Calibri (MS)"/>
              </a:rPr>
              <a:t>Tiket Lomba Batch 1</a:t>
            </a:r>
          </a:p>
        </p:txBody>
      </p:sp>
      <p:sp>
        <p:nvSpPr>
          <p:cNvPr name="TextBox 16" id="16"/>
          <p:cNvSpPr txBox="true"/>
          <p:nvPr/>
        </p:nvSpPr>
        <p:spPr>
          <a:xfrm rot="0">
            <a:off x="1463040" y="3619500"/>
            <a:ext cx="6949440" cy="1501140"/>
          </a:xfrm>
          <a:prstGeom prst="rect">
            <a:avLst/>
          </a:prstGeom>
        </p:spPr>
        <p:txBody>
          <a:bodyPr anchor="t" rtlCol="false" tIns="0" lIns="0" bIns="0" rIns="0">
            <a:spAutoFit/>
          </a:bodyPr>
          <a:lstStyle/>
          <a:p>
            <a:pPr algn="l">
              <a:lnSpc>
                <a:spcPts val="9119"/>
              </a:lnSpc>
            </a:pPr>
            <a:r>
              <a:rPr lang="en-US" sz="7599" b="true">
                <a:solidFill>
                  <a:srgbClr val="FFC81E"/>
                </a:solidFill>
                <a:latin typeface="Arial Bold"/>
                <a:ea typeface="Arial Bold"/>
                <a:cs typeface="Arial Bold"/>
                <a:sym typeface="Arial Bold"/>
              </a:rPr>
              <a:t>Rp50.000</a:t>
            </a:r>
          </a:p>
        </p:txBody>
      </p:sp>
      <p:grpSp>
        <p:nvGrpSpPr>
          <p:cNvPr name="Group 17" id="17"/>
          <p:cNvGrpSpPr/>
          <p:nvPr/>
        </p:nvGrpSpPr>
        <p:grpSpPr>
          <a:xfrm rot="0">
            <a:off x="9314183" y="2364743"/>
            <a:ext cx="8072123" cy="3134363"/>
            <a:chOff x="0" y="0"/>
            <a:chExt cx="10762831" cy="4179151"/>
          </a:xfrm>
        </p:grpSpPr>
        <p:sp>
          <p:nvSpPr>
            <p:cNvPr name="Freeform 18" id="18"/>
            <p:cNvSpPr/>
            <p:nvPr/>
          </p:nvSpPr>
          <p:spPr>
            <a:xfrm flipH="false" flipV="false" rot="0">
              <a:off x="0" y="0"/>
              <a:ext cx="10762869" cy="4179189"/>
            </a:xfrm>
            <a:custGeom>
              <a:avLst/>
              <a:gdLst/>
              <a:ahLst/>
              <a:cxnLst/>
              <a:rect r="r" b="b" t="t" l="l"/>
              <a:pathLst>
                <a:path h="4179189" w="10762869">
                  <a:moveTo>
                    <a:pt x="0" y="295021"/>
                  </a:moveTo>
                  <a:cubicBezTo>
                    <a:pt x="0" y="132080"/>
                    <a:pt x="132080" y="0"/>
                    <a:pt x="295021" y="0"/>
                  </a:cubicBezTo>
                  <a:lnTo>
                    <a:pt x="10467848" y="0"/>
                  </a:lnTo>
                  <a:cubicBezTo>
                    <a:pt x="10630789" y="0"/>
                    <a:pt x="10762869" y="132080"/>
                    <a:pt x="10762869" y="295021"/>
                  </a:cubicBezTo>
                  <a:lnTo>
                    <a:pt x="10762869" y="3884168"/>
                  </a:lnTo>
                  <a:cubicBezTo>
                    <a:pt x="10762869" y="4047109"/>
                    <a:pt x="10630789" y="4179189"/>
                    <a:pt x="10467848" y="4179189"/>
                  </a:cubicBezTo>
                  <a:lnTo>
                    <a:pt x="295021" y="4179189"/>
                  </a:lnTo>
                  <a:cubicBezTo>
                    <a:pt x="132080" y="4179189"/>
                    <a:pt x="0" y="4047109"/>
                    <a:pt x="0" y="3884168"/>
                  </a:cubicBezTo>
                  <a:close/>
                </a:path>
              </a:pathLst>
            </a:custGeom>
            <a:solidFill>
              <a:srgbClr val="0A1F44">
                <a:alpha val="85000"/>
              </a:srgbClr>
            </a:solidFill>
            <a:ln w="25400" cap="sq">
              <a:solidFill>
                <a:srgbClr val="0A1F44"/>
              </a:solidFill>
              <a:prstDash val="solid"/>
              <a:miter/>
            </a:ln>
          </p:spPr>
        </p:sp>
      </p:grpSp>
      <p:sp>
        <p:nvSpPr>
          <p:cNvPr name="TextBox 19" id="19"/>
          <p:cNvSpPr txBox="true"/>
          <p:nvPr/>
        </p:nvSpPr>
        <p:spPr>
          <a:xfrm rot="0">
            <a:off x="9875520" y="2676525"/>
            <a:ext cx="6949440" cy="706755"/>
          </a:xfrm>
          <a:prstGeom prst="rect">
            <a:avLst/>
          </a:prstGeom>
        </p:spPr>
        <p:txBody>
          <a:bodyPr anchor="t" rtlCol="false" tIns="0" lIns="0" bIns="0" rIns="0">
            <a:spAutoFit/>
          </a:bodyPr>
          <a:lstStyle/>
          <a:p>
            <a:pPr algn="l">
              <a:lnSpc>
                <a:spcPts val="3359"/>
              </a:lnSpc>
            </a:pPr>
            <a:r>
              <a:rPr lang="en-US" sz="2799">
                <a:solidFill>
                  <a:srgbClr val="DCE8FF"/>
                </a:solidFill>
                <a:latin typeface="Calibri (MS)"/>
                <a:ea typeface="Calibri (MS)"/>
                <a:cs typeface="Calibri (MS)"/>
                <a:sym typeface="Calibri (MS)"/>
              </a:rPr>
              <a:t>Tiket Lomba Batch 2</a:t>
            </a:r>
          </a:p>
        </p:txBody>
      </p:sp>
      <p:sp>
        <p:nvSpPr>
          <p:cNvPr name="TextBox 20" id="20"/>
          <p:cNvSpPr txBox="true"/>
          <p:nvPr/>
        </p:nvSpPr>
        <p:spPr>
          <a:xfrm rot="0">
            <a:off x="9875520" y="3619500"/>
            <a:ext cx="6949440" cy="1501140"/>
          </a:xfrm>
          <a:prstGeom prst="rect">
            <a:avLst/>
          </a:prstGeom>
        </p:spPr>
        <p:txBody>
          <a:bodyPr anchor="t" rtlCol="false" tIns="0" lIns="0" bIns="0" rIns="0">
            <a:spAutoFit/>
          </a:bodyPr>
          <a:lstStyle/>
          <a:p>
            <a:pPr algn="l">
              <a:lnSpc>
                <a:spcPts val="9119"/>
              </a:lnSpc>
            </a:pPr>
            <a:r>
              <a:rPr lang="en-US" sz="7599" b="true">
                <a:solidFill>
                  <a:srgbClr val="FFFFFF"/>
                </a:solidFill>
                <a:latin typeface="Arial Bold"/>
                <a:ea typeface="Arial Bold"/>
                <a:cs typeface="Arial Bold"/>
                <a:sym typeface="Arial Bold"/>
              </a:rPr>
              <a:t>Rp60.000</a:t>
            </a:r>
          </a:p>
        </p:txBody>
      </p:sp>
      <p:grpSp>
        <p:nvGrpSpPr>
          <p:cNvPr name="Group 21" id="21"/>
          <p:cNvGrpSpPr/>
          <p:nvPr/>
        </p:nvGrpSpPr>
        <p:grpSpPr>
          <a:xfrm rot="0">
            <a:off x="904875" y="6025515"/>
            <a:ext cx="16478250" cy="2396490"/>
            <a:chOff x="0" y="0"/>
            <a:chExt cx="21971000" cy="3195320"/>
          </a:xfrm>
        </p:grpSpPr>
        <p:sp>
          <p:nvSpPr>
            <p:cNvPr name="Freeform 22" id="22"/>
            <p:cNvSpPr/>
            <p:nvPr/>
          </p:nvSpPr>
          <p:spPr>
            <a:xfrm flipH="false" flipV="false" rot="0">
              <a:off x="0" y="0"/>
              <a:ext cx="21971000" cy="3195320"/>
            </a:xfrm>
            <a:custGeom>
              <a:avLst/>
              <a:gdLst/>
              <a:ahLst/>
              <a:cxnLst/>
              <a:rect r="r" b="b" t="t" l="l"/>
              <a:pathLst>
                <a:path h="3195320" w="21971000">
                  <a:moveTo>
                    <a:pt x="0" y="245745"/>
                  </a:moveTo>
                  <a:cubicBezTo>
                    <a:pt x="0" y="109982"/>
                    <a:pt x="109982" y="0"/>
                    <a:pt x="245745" y="0"/>
                  </a:cubicBezTo>
                  <a:lnTo>
                    <a:pt x="21725255" y="0"/>
                  </a:lnTo>
                  <a:cubicBezTo>
                    <a:pt x="21861018" y="0"/>
                    <a:pt x="21971000" y="109982"/>
                    <a:pt x="21971000" y="245745"/>
                  </a:cubicBezTo>
                  <a:lnTo>
                    <a:pt x="21971000" y="2949575"/>
                  </a:lnTo>
                  <a:cubicBezTo>
                    <a:pt x="21971000" y="3085338"/>
                    <a:pt x="21861018" y="3195320"/>
                    <a:pt x="21725255" y="3195320"/>
                  </a:cubicBezTo>
                  <a:lnTo>
                    <a:pt x="245745" y="3195320"/>
                  </a:lnTo>
                  <a:cubicBezTo>
                    <a:pt x="109982" y="3195320"/>
                    <a:pt x="0" y="3085338"/>
                    <a:pt x="0" y="2949575"/>
                  </a:cubicBezTo>
                  <a:close/>
                </a:path>
              </a:pathLst>
            </a:custGeom>
            <a:solidFill>
              <a:srgbClr val="FFFFFF">
                <a:alpha val="50000"/>
              </a:srgbClr>
            </a:solidFill>
            <a:ln w="19050" cap="sq">
              <a:solidFill>
                <a:srgbClr val="D6E0F2"/>
              </a:solidFill>
              <a:prstDash val="solid"/>
              <a:miter/>
            </a:ln>
          </p:spPr>
        </p:sp>
      </p:grpSp>
      <p:sp>
        <p:nvSpPr>
          <p:cNvPr name="TextBox 23" id="23"/>
          <p:cNvSpPr txBox="true"/>
          <p:nvPr/>
        </p:nvSpPr>
        <p:spPr>
          <a:xfrm rot="0">
            <a:off x="1463040" y="6362700"/>
            <a:ext cx="15361920" cy="586740"/>
          </a:xfrm>
          <a:prstGeom prst="rect">
            <a:avLst/>
          </a:prstGeom>
        </p:spPr>
        <p:txBody>
          <a:bodyPr anchor="t" rtlCol="false" tIns="0" lIns="0" bIns="0" rIns="0">
            <a:spAutoFit/>
          </a:bodyPr>
          <a:lstStyle/>
          <a:p>
            <a:pPr algn="l">
              <a:lnSpc>
                <a:spcPts val="2879"/>
              </a:lnSpc>
            </a:pPr>
            <a:r>
              <a:rPr lang="en-US" sz="2400">
                <a:solidFill>
                  <a:srgbClr val="5B6B85"/>
                </a:solidFill>
                <a:latin typeface="Calibri (MS)"/>
                <a:ea typeface="Calibri (MS)"/>
                <a:cs typeface="Calibri (MS)"/>
                <a:sym typeface="Calibri (MS)"/>
              </a:rPr>
              <a:t>Pembayaran via transfer ke rekening:</a:t>
            </a:r>
          </a:p>
        </p:txBody>
      </p:sp>
      <p:sp>
        <p:nvSpPr>
          <p:cNvPr name="TextBox 24" id="24"/>
          <p:cNvSpPr txBox="true"/>
          <p:nvPr/>
        </p:nvSpPr>
        <p:spPr>
          <a:xfrm rot="0">
            <a:off x="1463040" y="7103745"/>
            <a:ext cx="15361920" cy="942975"/>
          </a:xfrm>
          <a:prstGeom prst="rect">
            <a:avLst/>
          </a:prstGeom>
        </p:spPr>
        <p:txBody>
          <a:bodyPr anchor="t" rtlCol="false" tIns="0" lIns="0" bIns="0" rIns="0">
            <a:spAutoFit/>
          </a:bodyPr>
          <a:lstStyle/>
          <a:p>
            <a:pPr algn="l">
              <a:lnSpc>
                <a:spcPts val="3840"/>
              </a:lnSpc>
            </a:pPr>
            <a:r>
              <a:rPr lang="en-US" sz="3200" b="true">
                <a:solidFill>
                  <a:srgbClr val="0A1F44"/>
                </a:solidFill>
                <a:latin typeface="Arial Bold"/>
                <a:ea typeface="Arial Bold"/>
                <a:cs typeface="Arial Bold"/>
                <a:sym typeface="Arial Bold"/>
              </a:rPr>
              <a:t>Bank Jago Syariah — 501668155466 — a.n. Alfarez Syahputra Kuri</a:t>
            </a:r>
          </a:p>
        </p:txBody>
      </p:sp>
      <p:sp>
        <p:nvSpPr>
          <p:cNvPr name="Periode 500" id="500"/>
          <p:cNvSpPr txBox="true"/>
          <p:nvPr/>
        </p:nvSpPr>
        <p:spPr>
          <a:xfrm rot="0">
            <a:off x="1463040" y="3310128"/>
            <a:ext cx="6949440" cy="384048"/>
          </a:xfrm>
          <a:prstGeom prst="rect">
            <a:avLst/>
          </a:prstGeom>
        </p:spPr>
        <p:txBody>
          <a:bodyPr anchor="t" rtlCol="false" tIns="0" lIns="0" bIns="0" rIns="0">
            <a:spAutoFit/>
          </a:bodyPr>
          <a:lstStyle/>
          <a:p>
            <a:pPr algn="l">
              <a:lnSpc>
                <a:spcPts val="3359"/>
              </a:lnSpc>
            </a:pPr>
            <a:r>
              <a:rPr lang="en-US" sz="1800">
                <a:solidFill>
                  <a:srgbClr val="DCE8FF"/>
                </a:solidFill>
                <a:latin typeface="Calibri (MS)"/>
                <a:ea typeface="Calibri (MS)"/>
                <a:cs typeface="Calibri (MS)"/>
                <a:sym typeface="Calibri (MS)"/>
              </a:rPr>
              <a:t>10–17 Sep 2026 · Ditutup</a:t>
            </a:r>
          </a:p>
        </p:txBody>
      </p:sp>
      <p:sp>
        <p:nvSpPr>
          <p:cNvPr name="Periode 510" id="510"/>
          <p:cNvSpPr txBox="true"/>
          <p:nvPr/>
        </p:nvSpPr>
        <p:spPr>
          <a:xfrm rot="0">
            <a:off x="9875520" y="3310128"/>
            <a:ext cx="6949440" cy="384048"/>
          </a:xfrm>
          <a:prstGeom prst="rect">
            <a:avLst/>
          </a:prstGeom>
        </p:spPr>
        <p:txBody>
          <a:bodyPr anchor="t" rtlCol="false" tIns="0" lIns="0" bIns="0" rIns="0">
            <a:spAutoFit/>
          </a:bodyPr>
          <a:lstStyle/>
          <a:p>
            <a:pPr algn="l">
              <a:lnSpc>
                <a:spcPts val="3359"/>
              </a:lnSpc>
            </a:pPr>
            <a:r>
              <a:rPr lang="en-US" sz="1800">
                <a:solidFill>
                  <a:srgbClr val="DCE8FF"/>
                </a:solidFill>
                <a:latin typeface="Calibri (MS)"/>
                <a:ea typeface="Calibri (MS)"/>
                <a:cs typeface="Calibri (MS)"/>
                <a:sym typeface="Calibri (MS)"/>
              </a:rPr>
              <a:t>18–30 Sep 2026 · Ditutup</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62"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grpSp>
        <p:nvGrpSpPr>
          <p:cNvPr name="Group 3" id="3"/>
          <p:cNvGrpSpPr/>
          <p:nvPr/>
        </p:nvGrpSpPr>
        <p:grpSpPr>
          <a:xfrm rot="0">
            <a:off x="901703" y="682247"/>
            <a:ext cx="976379" cy="976379"/>
            <a:chOff x="0" y="0"/>
            <a:chExt cx="1301839" cy="1301839"/>
          </a:xfrm>
        </p:grpSpPr>
        <p:sp>
          <p:nvSpPr>
            <p:cNvPr name="Freeform 4" id="4"/>
            <p:cNvSpPr/>
            <p:nvPr/>
          </p:nvSpPr>
          <p:spPr>
            <a:xfrm flipH="false" flipV="false" rot="0">
              <a:off x="0" y="0"/>
              <a:ext cx="1301750" cy="1301750"/>
            </a:xfrm>
            <a:custGeom>
              <a:avLst/>
              <a:gdLst/>
              <a:ahLst/>
              <a:cxnLst/>
              <a:rect r="r" b="b" t="t" l="l"/>
              <a:pathLst>
                <a:path h="1301750" w="1301750">
                  <a:moveTo>
                    <a:pt x="0" y="250317"/>
                  </a:moveTo>
                  <a:cubicBezTo>
                    <a:pt x="0" y="112141"/>
                    <a:pt x="112141" y="0"/>
                    <a:pt x="250317" y="0"/>
                  </a:cubicBezTo>
                  <a:lnTo>
                    <a:pt x="1051433" y="0"/>
                  </a:lnTo>
                  <a:cubicBezTo>
                    <a:pt x="1189736" y="0"/>
                    <a:pt x="1301750" y="112141"/>
                    <a:pt x="1301750" y="250317"/>
                  </a:cubicBezTo>
                  <a:lnTo>
                    <a:pt x="1301750" y="1051433"/>
                  </a:lnTo>
                  <a:cubicBezTo>
                    <a:pt x="1301750" y="1189736"/>
                    <a:pt x="1189609" y="1301750"/>
                    <a:pt x="1051433" y="1301750"/>
                  </a:cubicBezTo>
                  <a:lnTo>
                    <a:pt x="250317" y="1301750"/>
                  </a:lnTo>
                  <a:cubicBezTo>
                    <a:pt x="112141" y="1301877"/>
                    <a:pt x="0" y="1189736"/>
                    <a:pt x="0" y="1051433"/>
                  </a:cubicBezTo>
                  <a:close/>
                </a:path>
              </a:pathLst>
            </a:custGeom>
            <a:solidFill>
              <a:srgbClr val="1448C8"/>
            </a:solidFill>
            <a:ln w="25400" cap="sq">
              <a:solidFill>
                <a:srgbClr val="1448C8"/>
              </a:solidFill>
              <a:prstDash val="solid"/>
              <a:miter/>
            </a:ln>
          </p:spPr>
        </p:sp>
      </p:grpSp>
      <p:grpSp>
        <p:nvGrpSpPr>
          <p:cNvPr name="Group 5" id="5"/>
          <p:cNvGrpSpPr/>
          <p:nvPr/>
        </p:nvGrpSpPr>
        <p:grpSpPr>
          <a:xfrm rot="0">
            <a:off x="914400" y="694944"/>
            <a:ext cx="950976" cy="950976"/>
            <a:chOff x="0" y="0"/>
            <a:chExt cx="1267968" cy="1267968"/>
          </a:xfrm>
        </p:grpSpPr>
        <p:sp>
          <p:nvSpPr>
            <p:cNvPr name="Freeform 6" id="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4">
                <a:alphaModFix amt="0"/>
              </a:blip>
              <a:stretch>
                <a:fillRect l="-78303" t="0" r="-78303" b="0"/>
              </a:stretch>
            </a:blipFill>
          </p:spPr>
        </p:sp>
        <p:sp>
          <p:nvSpPr>
            <p:cNvPr name="TextBox 7" id="7"/>
            <p:cNvSpPr txBox="true"/>
            <p:nvPr/>
          </p:nvSpPr>
          <p:spPr>
            <a:xfrm>
              <a:off x="0" y="-57150"/>
              <a:ext cx="1267968" cy="1325118"/>
            </a:xfrm>
            <a:prstGeom prst="rect">
              <a:avLst/>
            </a:prstGeom>
          </p:spPr>
          <p:txBody>
            <a:bodyPr anchor="ctr" rtlCol="false" tIns="0" lIns="0" bIns="0" rIns="0"/>
            <a:lstStyle/>
            <a:p>
              <a:pPr algn="ctr">
                <a:lnSpc>
                  <a:spcPts val="3120"/>
                </a:lnSpc>
              </a:pPr>
              <a:r>
                <a:rPr lang="en-US" sz="2600" b="true">
                  <a:solidFill>
                    <a:srgbClr val="FFC81E"/>
                  </a:solidFill>
                  <a:latin typeface="Consolas Bold"/>
                  <a:ea typeface="Consolas Bold"/>
                  <a:cs typeface="Consolas Bold"/>
                  <a:sym typeface="Consolas Bold"/>
                </a:rPr>
                <a:t>15</a:t>
              </a:r>
            </a:p>
          </p:txBody>
        </p:sp>
      </p:grpSp>
      <p:grpSp>
        <p:nvGrpSpPr>
          <p:cNvPr name="Group 8" id="8"/>
          <p:cNvGrpSpPr/>
          <p:nvPr/>
        </p:nvGrpSpPr>
        <p:grpSpPr>
          <a:xfrm rot="0">
            <a:off x="2194560" y="621792"/>
            <a:ext cx="15179040" cy="731520"/>
            <a:chOff x="0" y="0"/>
            <a:chExt cx="20238720" cy="975360"/>
          </a:xfrm>
        </p:grpSpPr>
        <p:sp>
          <p:nvSpPr>
            <p:cNvPr name="Freeform 9" id="9"/>
            <p:cNvSpPr/>
            <p:nvPr/>
          </p:nvSpPr>
          <p:spPr>
            <a:xfrm flipH="false" flipV="false" rot="0">
              <a:off x="0" y="0"/>
              <a:ext cx="20238720" cy="975360"/>
            </a:xfrm>
            <a:custGeom>
              <a:avLst/>
              <a:gdLst/>
              <a:ahLst/>
              <a:cxnLst/>
              <a:rect r="r" b="b" t="t" l="l"/>
              <a:pathLst>
                <a:path h="975360" w="20238720">
                  <a:moveTo>
                    <a:pt x="0" y="0"/>
                  </a:moveTo>
                  <a:lnTo>
                    <a:pt x="20238720" y="0"/>
                  </a:lnTo>
                  <a:lnTo>
                    <a:pt x="20238720" y="975360"/>
                  </a:lnTo>
                  <a:lnTo>
                    <a:pt x="0" y="975360"/>
                  </a:lnTo>
                  <a:close/>
                </a:path>
              </a:pathLst>
            </a:custGeom>
            <a:blipFill>
              <a:blip r:embed="rId4">
                <a:alphaModFix amt="0"/>
              </a:blip>
              <a:stretch>
                <a:fillRect l="0" t="-354314" r="0" b="-354314"/>
              </a:stretch>
            </a:blipFill>
          </p:spPr>
        </p:sp>
        <p:sp>
          <p:nvSpPr>
            <p:cNvPr name="TextBox 10" id="10"/>
            <p:cNvSpPr txBox="true"/>
            <p:nvPr/>
          </p:nvSpPr>
          <p:spPr>
            <a:xfrm>
              <a:off x="0" y="-19050"/>
              <a:ext cx="20238720" cy="994410"/>
            </a:xfrm>
            <a:prstGeom prst="rect">
              <a:avLst/>
            </a:prstGeom>
          </p:spPr>
          <p:txBody>
            <a:bodyPr anchor="ctr" rtlCol="false" tIns="0" lIns="0" bIns="0" rIns="0"/>
            <a:lstStyle/>
            <a:p>
              <a:pPr algn="l">
                <a:lnSpc>
                  <a:spcPts val="5759"/>
                </a:lnSpc>
              </a:pPr>
              <a:r>
                <a:rPr lang="en-US" sz="4800" b="true">
                  <a:solidFill>
                    <a:srgbClr val="0A1F44"/>
                  </a:solidFill>
                  <a:latin typeface="Arial Bold"/>
                  <a:ea typeface="Arial Bold"/>
                  <a:cs typeface="Arial Bold"/>
                  <a:sym typeface="Arial Bold"/>
                </a:rPr>
                <a:t>Cara Pendaftaran</a:t>
              </a:r>
            </a:p>
          </p:txBody>
        </p:sp>
      </p:grpSp>
      <p:sp>
        <p:nvSpPr>
          <p:cNvPr name="TextBox 11" id="11"/>
          <p:cNvSpPr txBox="true"/>
          <p:nvPr/>
        </p:nvSpPr>
        <p:spPr>
          <a:xfrm rot="0">
            <a:off x="914400" y="9617964"/>
            <a:ext cx="10972800" cy="403860"/>
          </a:xfrm>
          <a:prstGeom prst="rect">
            <a:avLst/>
          </a:prstGeom>
        </p:spPr>
        <p:txBody>
          <a:bodyPr anchor="t" rtlCol="false" tIns="0" lIns="0" bIns="0" rIns="0">
            <a:spAutoFit/>
          </a:bodyPr>
          <a:lstStyle/>
          <a:p>
            <a:pPr algn="l">
              <a:lnSpc>
                <a:spcPts val="1919"/>
              </a:lnSpc>
            </a:pPr>
            <a:r>
              <a:rPr lang="en-US" sz="1599">
                <a:solidFill>
                  <a:srgbClr val="5B6B85"/>
                </a:solidFill>
                <a:latin typeface="Consolas"/>
                <a:ea typeface="Consolas"/>
                <a:cs typeface="Consolas"/>
                <a:sym typeface="Consolas"/>
              </a:rPr>
              <a:t>M-ONE TELKOMSEL CODING COMPETITION · Kategori Umum</a:t>
            </a:r>
          </a:p>
        </p:txBody>
      </p:sp>
      <p:sp>
        <p:nvSpPr>
          <p:cNvPr name="TextBox 12" id="12"/>
          <p:cNvSpPr txBox="true"/>
          <p:nvPr/>
        </p:nvSpPr>
        <p:spPr>
          <a:xfrm rot="0">
            <a:off x="16276320" y="9617964"/>
            <a:ext cx="1097280" cy="403860"/>
          </a:xfrm>
          <a:prstGeom prst="rect">
            <a:avLst/>
          </a:prstGeom>
        </p:spPr>
        <p:txBody>
          <a:bodyPr anchor="t" rtlCol="false" tIns="0" lIns="0" bIns="0" rIns="0">
            <a:spAutoFit/>
          </a:bodyPr>
          <a:lstStyle/>
          <a:p>
            <a:pPr algn="r">
              <a:lnSpc>
                <a:spcPts val="1919"/>
              </a:lnSpc>
            </a:pPr>
            <a:r>
              <a:rPr lang="en-US" sz="1599" b="true">
                <a:solidFill>
                  <a:srgbClr val="1448C8"/>
                </a:solidFill>
                <a:latin typeface="Consolas Bold"/>
                <a:ea typeface="Consolas Bold"/>
                <a:cs typeface="Consolas Bold"/>
                <a:sym typeface="Consolas Bold"/>
              </a:rPr>
              <a:t>&lt;/&gt;</a:t>
            </a:r>
          </a:p>
        </p:txBody>
      </p:sp>
      <p:grpSp>
        <p:nvGrpSpPr>
          <p:cNvPr name="Group 13" id="13"/>
          <p:cNvGrpSpPr/>
          <p:nvPr/>
        </p:nvGrpSpPr>
        <p:grpSpPr>
          <a:xfrm rot="0">
            <a:off x="904875" y="2276475"/>
            <a:ext cx="9894570" cy="1518666"/>
            <a:chOff x="0" y="0"/>
            <a:chExt cx="13192760" cy="2024888"/>
          </a:xfrm>
        </p:grpSpPr>
        <p:sp>
          <p:nvSpPr>
            <p:cNvPr name="Freeform 14" id="14"/>
            <p:cNvSpPr/>
            <p:nvPr/>
          </p:nvSpPr>
          <p:spPr>
            <a:xfrm flipH="false" flipV="false" rot="0">
              <a:off x="0" y="0"/>
              <a:ext cx="13192761" cy="2024888"/>
            </a:xfrm>
            <a:custGeom>
              <a:avLst/>
              <a:gdLst/>
              <a:ahLst/>
              <a:cxnLst/>
              <a:rect r="r" b="b" t="t" l="l"/>
              <a:pathLst>
                <a:path h="2024888" w="13192761">
                  <a:moveTo>
                    <a:pt x="0" y="197485"/>
                  </a:moveTo>
                  <a:cubicBezTo>
                    <a:pt x="0" y="88392"/>
                    <a:pt x="88392" y="0"/>
                    <a:pt x="197485" y="0"/>
                  </a:cubicBezTo>
                  <a:lnTo>
                    <a:pt x="12995275" y="0"/>
                  </a:lnTo>
                  <a:cubicBezTo>
                    <a:pt x="13104368" y="0"/>
                    <a:pt x="13192761" y="88392"/>
                    <a:pt x="13192761" y="197485"/>
                  </a:cubicBezTo>
                  <a:lnTo>
                    <a:pt x="13192761" y="1827403"/>
                  </a:lnTo>
                  <a:cubicBezTo>
                    <a:pt x="13192761" y="1936496"/>
                    <a:pt x="13104368" y="2024888"/>
                    <a:pt x="12995275" y="2024888"/>
                  </a:cubicBezTo>
                  <a:lnTo>
                    <a:pt x="197485" y="2024888"/>
                  </a:lnTo>
                  <a:cubicBezTo>
                    <a:pt x="88392" y="2024888"/>
                    <a:pt x="0" y="1936496"/>
                    <a:pt x="0" y="1827403"/>
                  </a:cubicBezTo>
                  <a:close/>
                </a:path>
              </a:pathLst>
            </a:custGeom>
            <a:solidFill>
              <a:srgbClr val="FFFFFF">
                <a:alpha val="50000"/>
              </a:srgbClr>
            </a:solidFill>
            <a:ln w="19050" cap="sq">
              <a:solidFill>
                <a:srgbClr val="D6E0F2"/>
              </a:solidFill>
              <a:prstDash val="solid"/>
              <a:miter/>
            </a:ln>
          </p:spPr>
        </p:sp>
      </p:grpSp>
      <p:grpSp>
        <p:nvGrpSpPr>
          <p:cNvPr name="Group 15" id="15"/>
          <p:cNvGrpSpPr/>
          <p:nvPr/>
        </p:nvGrpSpPr>
        <p:grpSpPr>
          <a:xfrm rot="0">
            <a:off x="1176023" y="2584199"/>
            <a:ext cx="903227" cy="903227"/>
            <a:chOff x="0" y="0"/>
            <a:chExt cx="1204303" cy="1204303"/>
          </a:xfrm>
        </p:grpSpPr>
        <p:sp>
          <p:nvSpPr>
            <p:cNvPr name="Freeform 16" id="16"/>
            <p:cNvSpPr/>
            <p:nvPr/>
          </p:nvSpPr>
          <p:spPr>
            <a:xfrm flipH="false" flipV="false" rot="0">
              <a:off x="0" y="0"/>
              <a:ext cx="1204341" cy="1204341"/>
            </a:xfrm>
            <a:custGeom>
              <a:avLst/>
              <a:gdLst/>
              <a:ahLst/>
              <a:cxnLst/>
              <a:rect r="r" b="b" t="t" l="l"/>
              <a:pathLst>
                <a:path h="1204341" w="1204341">
                  <a:moveTo>
                    <a:pt x="0" y="250952"/>
                  </a:moveTo>
                  <a:cubicBezTo>
                    <a:pt x="0" y="112268"/>
                    <a:pt x="112268" y="0"/>
                    <a:pt x="250952" y="0"/>
                  </a:cubicBezTo>
                  <a:lnTo>
                    <a:pt x="953389" y="0"/>
                  </a:lnTo>
                  <a:cubicBezTo>
                    <a:pt x="1091946" y="0"/>
                    <a:pt x="1204341" y="112268"/>
                    <a:pt x="1204341" y="250952"/>
                  </a:cubicBezTo>
                  <a:lnTo>
                    <a:pt x="1204341" y="953389"/>
                  </a:lnTo>
                  <a:cubicBezTo>
                    <a:pt x="1204341" y="1091946"/>
                    <a:pt x="1092073" y="1204341"/>
                    <a:pt x="953389" y="1204341"/>
                  </a:cubicBezTo>
                  <a:lnTo>
                    <a:pt x="250952" y="1204341"/>
                  </a:lnTo>
                  <a:cubicBezTo>
                    <a:pt x="112268" y="1204341"/>
                    <a:pt x="0" y="1091946"/>
                    <a:pt x="0" y="953389"/>
                  </a:cubicBezTo>
                  <a:close/>
                </a:path>
              </a:pathLst>
            </a:custGeom>
            <a:solidFill>
              <a:srgbClr val="1448C8"/>
            </a:solidFill>
            <a:ln w="25400" cap="sq">
              <a:solidFill>
                <a:srgbClr val="1448C8"/>
              </a:solidFill>
              <a:prstDash val="solid"/>
              <a:miter/>
            </a:ln>
          </p:spPr>
        </p:sp>
      </p:grpSp>
      <p:grpSp>
        <p:nvGrpSpPr>
          <p:cNvPr name="Group 17" id="17"/>
          <p:cNvGrpSpPr/>
          <p:nvPr/>
        </p:nvGrpSpPr>
        <p:grpSpPr>
          <a:xfrm rot="0">
            <a:off x="1188720" y="2596896"/>
            <a:ext cx="877824" cy="877824"/>
            <a:chOff x="0" y="0"/>
            <a:chExt cx="1170432" cy="1170432"/>
          </a:xfrm>
        </p:grpSpPr>
        <p:sp>
          <p:nvSpPr>
            <p:cNvPr name="Freeform 18" id="18"/>
            <p:cNvSpPr/>
            <p:nvPr/>
          </p:nvSpPr>
          <p:spPr>
            <a:xfrm flipH="false" flipV="false" rot="0">
              <a:off x="0" y="0"/>
              <a:ext cx="1170432" cy="1170432"/>
            </a:xfrm>
            <a:custGeom>
              <a:avLst/>
              <a:gdLst/>
              <a:ahLst/>
              <a:cxnLst/>
              <a:rect r="r" b="b" t="t" l="l"/>
              <a:pathLst>
                <a:path h="1170432" w="1170432">
                  <a:moveTo>
                    <a:pt x="0" y="0"/>
                  </a:moveTo>
                  <a:lnTo>
                    <a:pt x="1170432" y="0"/>
                  </a:lnTo>
                  <a:lnTo>
                    <a:pt x="1170432" y="1170432"/>
                  </a:lnTo>
                  <a:lnTo>
                    <a:pt x="0" y="1170432"/>
                  </a:lnTo>
                  <a:close/>
                </a:path>
              </a:pathLst>
            </a:custGeom>
            <a:blipFill>
              <a:blip r:embed="rId4">
                <a:alphaModFix amt="0"/>
              </a:blip>
              <a:stretch>
                <a:fillRect l="-78303" t="0" r="-78303" b="0"/>
              </a:stretch>
            </a:blipFill>
          </p:spPr>
        </p:sp>
        <p:sp>
          <p:nvSpPr>
            <p:cNvPr name="TextBox 19" id="19"/>
            <p:cNvSpPr txBox="true"/>
            <p:nvPr/>
          </p:nvSpPr>
          <p:spPr>
            <a:xfrm>
              <a:off x="0" y="-19050"/>
              <a:ext cx="1170432" cy="1189482"/>
            </a:xfrm>
            <a:prstGeom prst="rect">
              <a:avLst/>
            </a:prstGeom>
          </p:spPr>
          <p:txBody>
            <a:bodyPr anchor="ctr" rtlCol="false" tIns="0" lIns="0" bIns="0" rIns="0"/>
            <a:lstStyle/>
            <a:p>
              <a:pPr algn="ctr">
                <a:lnSpc>
                  <a:spcPts val="3600"/>
                </a:lnSpc>
              </a:pPr>
              <a:r>
                <a:rPr lang="en-US" sz="3000" b="true">
                  <a:solidFill>
                    <a:srgbClr val="FFC81E"/>
                  </a:solidFill>
                  <a:latin typeface="Arial Bold"/>
                  <a:ea typeface="Arial Bold"/>
                  <a:cs typeface="Arial Bold"/>
                  <a:sym typeface="Arial Bold"/>
                </a:rPr>
                <a:t>1</a:t>
              </a:r>
            </a:p>
          </p:txBody>
        </p:sp>
      </p:grpSp>
      <p:grpSp>
        <p:nvGrpSpPr>
          <p:cNvPr name="Group 20" id="20"/>
          <p:cNvGrpSpPr/>
          <p:nvPr/>
        </p:nvGrpSpPr>
        <p:grpSpPr>
          <a:xfrm rot="0">
            <a:off x="2468880" y="2359152"/>
            <a:ext cx="8046720" cy="1353312"/>
            <a:chOff x="0" y="0"/>
            <a:chExt cx="10728960" cy="1804416"/>
          </a:xfrm>
        </p:grpSpPr>
        <p:sp>
          <p:nvSpPr>
            <p:cNvPr name="Freeform 21" id="21"/>
            <p:cNvSpPr/>
            <p:nvPr/>
          </p:nvSpPr>
          <p:spPr>
            <a:xfrm flipH="false" flipV="false" rot="0">
              <a:off x="0" y="0"/>
              <a:ext cx="10728960" cy="1804416"/>
            </a:xfrm>
            <a:custGeom>
              <a:avLst/>
              <a:gdLst/>
              <a:ahLst/>
              <a:cxnLst/>
              <a:rect r="r" b="b" t="t" l="l"/>
              <a:pathLst>
                <a:path h="1804416" w="10728960">
                  <a:moveTo>
                    <a:pt x="0" y="0"/>
                  </a:moveTo>
                  <a:lnTo>
                    <a:pt x="10728960" y="0"/>
                  </a:lnTo>
                  <a:lnTo>
                    <a:pt x="10728960" y="1804416"/>
                  </a:lnTo>
                  <a:lnTo>
                    <a:pt x="0" y="1804416"/>
                  </a:lnTo>
                  <a:close/>
                </a:path>
              </a:pathLst>
            </a:custGeom>
            <a:blipFill>
              <a:blip r:embed="rId4">
                <a:alphaModFix amt="0"/>
              </a:blip>
              <a:stretch>
                <a:fillRect l="0" t="-65856" r="0" b="-65856"/>
              </a:stretch>
            </a:blipFill>
          </p:spPr>
        </p:sp>
        <p:sp>
          <p:nvSpPr>
            <p:cNvPr name="TextBox 22" id="22"/>
            <p:cNvSpPr txBox="true"/>
            <p:nvPr/>
          </p:nvSpPr>
          <p:spPr>
            <a:xfrm>
              <a:off x="0" y="-47625"/>
              <a:ext cx="10728960" cy="1852041"/>
            </a:xfrm>
            <a:prstGeom prst="rect">
              <a:avLst/>
            </a:prstGeom>
          </p:spPr>
          <p:txBody>
            <a:bodyPr anchor="ctr" rtlCol="false" tIns="0" lIns="0" bIns="0" rIns="0"/>
            <a:lstStyle/>
            <a:p>
              <a:pPr algn="l">
                <a:lnSpc>
                  <a:spcPts val="2760"/>
                </a:lnSpc>
              </a:pPr>
              <a:r>
                <a:rPr lang="en-US" sz="2300">
                  <a:solidFill>
                    <a:srgbClr val="0B1D3A"/>
                  </a:solidFill>
                  <a:latin typeface="Calibri (MS)"/>
                  <a:ea typeface="Calibri (MS)"/>
                  <a:cs typeface="Calibri (MS)"/>
                  <a:sym typeface="Calibri (MS)"/>
                </a:rPr>
                <a:t>Informasikan minat mengikuti lomba melalui kontak narahubung.</a:t>
              </a:r>
            </a:p>
          </p:txBody>
        </p:sp>
      </p:grpSp>
      <p:grpSp>
        <p:nvGrpSpPr>
          <p:cNvPr name="Group 23" id="23"/>
          <p:cNvGrpSpPr/>
          <p:nvPr/>
        </p:nvGrpSpPr>
        <p:grpSpPr>
          <a:xfrm rot="0">
            <a:off x="904875" y="4013835"/>
            <a:ext cx="9894570" cy="1518666"/>
            <a:chOff x="0" y="0"/>
            <a:chExt cx="13192760" cy="2024888"/>
          </a:xfrm>
        </p:grpSpPr>
        <p:sp>
          <p:nvSpPr>
            <p:cNvPr name="Freeform 24" id="24"/>
            <p:cNvSpPr/>
            <p:nvPr/>
          </p:nvSpPr>
          <p:spPr>
            <a:xfrm flipH="false" flipV="false" rot="0">
              <a:off x="0" y="0"/>
              <a:ext cx="13192761" cy="2024888"/>
            </a:xfrm>
            <a:custGeom>
              <a:avLst/>
              <a:gdLst/>
              <a:ahLst/>
              <a:cxnLst/>
              <a:rect r="r" b="b" t="t" l="l"/>
              <a:pathLst>
                <a:path h="2024888" w="13192761">
                  <a:moveTo>
                    <a:pt x="0" y="197485"/>
                  </a:moveTo>
                  <a:cubicBezTo>
                    <a:pt x="0" y="88392"/>
                    <a:pt x="88392" y="0"/>
                    <a:pt x="197485" y="0"/>
                  </a:cubicBezTo>
                  <a:lnTo>
                    <a:pt x="12995275" y="0"/>
                  </a:lnTo>
                  <a:cubicBezTo>
                    <a:pt x="13104368" y="0"/>
                    <a:pt x="13192761" y="88392"/>
                    <a:pt x="13192761" y="197485"/>
                  </a:cubicBezTo>
                  <a:lnTo>
                    <a:pt x="13192761" y="1827403"/>
                  </a:lnTo>
                  <a:cubicBezTo>
                    <a:pt x="13192761" y="1936496"/>
                    <a:pt x="13104368" y="2024888"/>
                    <a:pt x="12995275" y="2024888"/>
                  </a:cubicBezTo>
                  <a:lnTo>
                    <a:pt x="197485" y="2024888"/>
                  </a:lnTo>
                  <a:cubicBezTo>
                    <a:pt x="88392" y="2024888"/>
                    <a:pt x="0" y="1936496"/>
                    <a:pt x="0" y="1827403"/>
                  </a:cubicBezTo>
                  <a:close/>
                </a:path>
              </a:pathLst>
            </a:custGeom>
            <a:solidFill>
              <a:srgbClr val="FFFFFF">
                <a:alpha val="50000"/>
              </a:srgbClr>
            </a:solidFill>
            <a:ln w="19050" cap="sq">
              <a:solidFill>
                <a:srgbClr val="D6E0F2"/>
              </a:solidFill>
              <a:prstDash val="solid"/>
              <a:miter/>
            </a:ln>
          </p:spPr>
        </p:sp>
      </p:grpSp>
      <p:grpSp>
        <p:nvGrpSpPr>
          <p:cNvPr name="Group 25" id="25"/>
          <p:cNvGrpSpPr/>
          <p:nvPr/>
        </p:nvGrpSpPr>
        <p:grpSpPr>
          <a:xfrm rot="0">
            <a:off x="1176023" y="4321559"/>
            <a:ext cx="903227" cy="903227"/>
            <a:chOff x="0" y="0"/>
            <a:chExt cx="1204303" cy="1204303"/>
          </a:xfrm>
        </p:grpSpPr>
        <p:sp>
          <p:nvSpPr>
            <p:cNvPr name="Freeform 26" id="26"/>
            <p:cNvSpPr/>
            <p:nvPr/>
          </p:nvSpPr>
          <p:spPr>
            <a:xfrm flipH="false" flipV="false" rot="0">
              <a:off x="0" y="0"/>
              <a:ext cx="1204341" cy="1204341"/>
            </a:xfrm>
            <a:custGeom>
              <a:avLst/>
              <a:gdLst/>
              <a:ahLst/>
              <a:cxnLst/>
              <a:rect r="r" b="b" t="t" l="l"/>
              <a:pathLst>
                <a:path h="1204341" w="1204341">
                  <a:moveTo>
                    <a:pt x="0" y="250952"/>
                  </a:moveTo>
                  <a:cubicBezTo>
                    <a:pt x="0" y="112268"/>
                    <a:pt x="112268" y="0"/>
                    <a:pt x="250952" y="0"/>
                  </a:cubicBezTo>
                  <a:lnTo>
                    <a:pt x="953389" y="0"/>
                  </a:lnTo>
                  <a:cubicBezTo>
                    <a:pt x="1091946" y="0"/>
                    <a:pt x="1204341" y="112268"/>
                    <a:pt x="1204341" y="250952"/>
                  </a:cubicBezTo>
                  <a:lnTo>
                    <a:pt x="1204341" y="953389"/>
                  </a:lnTo>
                  <a:cubicBezTo>
                    <a:pt x="1204341" y="1091946"/>
                    <a:pt x="1092073" y="1204341"/>
                    <a:pt x="953389" y="1204341"/>
                  </a:cubicBezTo>
                  <a:lnTo>
                    <a:pt x="250952" y="1204341"/>
                  </a:lnTo>
                  <a:cubicBezTo>
                    <a:pt x="112268" y="1204341"/>
                    <a:pt x="0" y="1091946"/>
                    <a:pt x="0" y="953389"/>
                  </a:cubicBezTo>
                  <a:close/>
                </a:path>
              </a:pathLst>
            </a:custGeom>
            <a:solidFill>
              <a:srgbClr val="1448C8"/>
            </a:solidFill>
            <a:ln w="25400" cap="sq">
              <a:solidFill>
                <a:srgbClr val="1448C8"/>
              </a:solidFill>
              <a:prstDash val="solid"/>
              <a:miter/>
            </a:ln>
          </p:spPr>
        </p:sp>
      </p:grpSp>
      <p:grpSp>
        <p:nvGrpSpPr>
          <p:cNvPr name="Group 27" id="27"/>
          <p:cNvGrpSpPr/>
          <p:nvPr/>
        </p:nvGrpSpPr>
        <p:grpSpPr>
          <a:xfrm rot="0">
            <a:off x="1188720" y="4334256"/>
            <a:ext cx="877824" cy="877824"/>
            <a:chOff x="0" y="0"/>
            <a:chExt cx="1170432" cy="1170432"/>
          </a:xfrm>
        </p:grpSpPr>
        <p:sp>
          <p:nvSpPr>
            <p:cNvPr name="Freeform 28" id="28"/>
            <p:cNvSpPr/>
            <p:nvPr/>
          </p:nvSpPr>
          <p:spPr>
            <a:xfrm flipH="false" flipV="false" rot="0">
              <a:off x="0" y="0"/>
              <a:ext cx="1170432" cy="1170432"/>
            </a:xfrm>
            <a:custGeom>
              <a:avLst/>
              <a:gdLst/>
              <a:ahLst/>
              <a:cxnLst/>
              <a:rect r="r" b="b" t="t" l="l"/>
              <a:pathLst>
                <a:path h="1170432" w="1170432">
                  <a:moveTo>
                    <a:pt x="0" y="0"/>
                  </a:moveTo>
                  <a:lnTo>
                    <a:pt x="1170432" y="0"/>
                  </a:lnTo>
                  <a:lnTo>
                    <a:pt x="1170432" y="1170432"/>
                  </a:lnTo>
                  <a:lnTo>
                    <a:pt x="0" y="1170432"/>
                  </a:lnTo>
                  <a:close/>
                </a:path>
              </a:pathLst>
            </a:custGeom>
            <a:blipFill>
              <a:blip r:embed="rId4">
                <a:alphaModFix amt="0"/>
              </a:blip>
              <a:stretch>
                <a:fillRect l="-78303" t="0" r="-78303" b="0"/>
              </a:stretch>
            </a:blipFill>
          </p:spPr>
        </p:sp>
        <p:sp>
          <p:nvSpPr>
            <p:cNvPr name="TextBox 29" id="29"/>
            <p:cNvSpPr txBox="true"/>
            <p:nvPr/>
          </p:nvSpPr>
          <p:spPr>
            <a:xfrm>
              <a:off x="0" y="-19050"/>
              <a:ext cx="1170432" cy="1189482"/>
            </a:xfrm>
            <a:prstGeom prst="rect">
              <a:avLst/>
            </a:prstGeom>
          </p:spPr>
          <p:txBody>
            <a:bodyPr anchor="ctr" rtlCol="false" tIns="0" lIns="0" bIns="0" rIns="0"/>
            <a:lstStyle/>
            <a:p>
              <a:pPr algn="ctr">
                <a:lnSpc>
                  <a:spcPts val="3600"/>
                </a:lnSpc>
              </a:pPr>
              <a:r>
                <a:rPr lang="en-US" sz="3000" b="true">
                  <a:solidFill>
                    <a:srgbClr val="FFC81E"/>
                  </a:solidFill>
                  <a:latin typeface="Arial Bold"/>
                  <a:ea typeface="Arial Bold"/>
                  <a:cs typeface="Arial Bold"/>
                  <a:sym typeface="Arial Bold"/>
                </a:rPr>
                <a:t>2</a:t>
              </a:r>
            </a:p>
          </p:txBody>
        </p:sp>
      </p:grpSp>
      <p:grpSp>
        <p:nvGrpSpPr>
          <p:cNvPr name="Group 30" id="30"/>
          <p:cNvGrpSpPr/>
          <p:nvPr/>
        </p:nvGrpSpPr>
        <p:grpSpPr>
          <a:xfrm rot="0">
            <a:off x="2468880" y="4096512"/>
            <a:ext cx="8046720" cy="1353312"/>
            <a:chOff x="0" y="0"/>
            <a:chExt cx="10728960" cy="1804416"/>
          </a:xfrm>
        </p:grpSpPr>
        <p:sp>
          <p:nvSpPr>
            <p:cNvPr name="Freeform 31" id="31"/>
            <p:cNvSpPr/>
            <p:nvPr/>
          </p:nvSpPr>
          <p:spPr>
            <a:xfrm flipH="false" flipV="false" rot="0">
              <a:off x="0" y="0"/>
              <a:ext cx="10728960" cy="1804416"/>
            </a:xfrm>
            <a:custGeom>
              <a:avLst/>
              <a:gdLst/>
              <a:ahLst/>
              <a:cxnLst/>
              <a:rect r="r" b="b" t="t" l="l"/>
              <a:pathLst>
                <a:path h="1804416" w="10728960">
                  <a:moveTo>
                    <a:pt x="0" y="0"/>
                  </a:moveTo>
                  <a:lnTo>
                    <a:pt x="10728960" y="0"/>
                  </a:lnTo>
                  <a:lnTo>
                    <a:pt x="10728960" y="1804416"/>
                  </a:lnTo>
                  <a:lnTo>
                    <a:pt x="0" y="1804416"/>
                  </a:lnTo>
                  <a:close/>
                </a:path>
              </a:pathLst>
            </a:custGeom>
            <a:blipFill>
              <a:blip r:embed="rId4">
                <a:alphaModFix amt="0"/>
              </a:blip>
              <a:stretch>
                <a:fillRect l="0" t="-65856" r="0" b="-65856"/>
              </a:stretch>
            </a:blipFill>
          </p:spPr>
        </p:sp>
        <p:sp>
          <p:nvSpPr>
            <p:cNvPr name="TextBox 32" id="32"/>
            <p:cNvSpPr txBox="true"/>
            <p:nvPr/>
          </p:nvSpPr>
          <p:spPr>
            <a:xfrm>
              <a:off x="0" y="-47625"/>
              <a:ext cx="10728960" cy="1852041"/>
            </a:xfrm>
            <a:prstGeom prst="rect">
              <a:avLst/>
            </a:prstGeom>
          </p:spPr>
          <p:txBody>
            <a:bodyPr anchor="ctr" rtlCol="false" tIns="0" lIns="0" bIns="0" rIns="0"/>
            <a:lstStyle/>
            <a:p>
              <a:pPr algn="l">
                <a:lnSpc>
                  <a:spcPts val="2760"/>
                </a:lnSpc>
              </a:pPr>
              <a:r>
                <a:rPr lang="en-US" sz="2300">
                  <a:solidFill>
                    <a:srgbClr val="0B1D3A"/>
                  </a:solidFill>
                  <a:latin typeface="Calibri (MS)"/>
                  <a:ea typeface="Calibri (MS)"/>
                  <a:cs typeface="Calibri (MS)"/>
                  <a:sym typeface="Calibri (MS)"/>
                </a:rPr>
                <a:t>Isi formulir pendaftaran sesuai kategori (Umum).</a:t>
              </a:r>
            </a:p>
          </p:txBody>
        </p:sp>
      </p:grpSp>
      <p:grpSp>
        <p:nvGrpSpPr>
          <p:cNvPr name="Group 33" id="33"/>
          <p:cNvGrpSpPr/>
          <p:nvPr/>
        </p:nvGrpSpPr>
        <p:grpSpPr>
          <a:xfrm rot="0">
            <a:off x="904875" y="5751195"/>
            <a:ext cx="9894570" cy="1518666"/>
            <a:chOff x="0" y="0"/>
            <a:chExt cx="13192760" cy="2024888"/>
          </a:xfrm>
        </p:grpSpPr>
        <p:sp>
          <p:nvSpPr>
            <p:cNvPr name="Freeform 34" id="34"/>
            <p:cNvSpPr/>
            <p:nvPr/>
          </p:nvSpPr>
          <p:spPr>
            <a:xfrm flipH="false" flipV="false" rot="0">
              <a:off x="0" y="0"/>
              <a:ext cx="13192761" cy="2024888"/>
            </a:xfrm>
            <a:custGeom>
              <a:avLst/>
              <a:gdLst/>
              <a:ahLst/>
              <a:cxnLst/>
              <a:rect r="r" b="b" t="t" l="l"/>
              <a:pathLst>
                <a:path h="2024888" w="13192761">
                  <a:moveTo>
                    <a:pt x="0" y="197485"/>
                  </a:moveTo>
                  <a:cubicBezTo>
                    <a:pt x="0" y="88392"/>
                    <a:pt x="88392" y="0"/>
                    <a:pt x="197485" y="0"/>
                  </a:cubicBezTo>
                  <a:lnTo>
                    <a:pt x="12995275" y="0"/>
                  </a:lnTo>
                  <a:cubicBezTo>
                    <a:pt x="13104368" y="0"/>
                    <a:pt x="13192761" y="88392"/>
                    <a:pt x="13192761" y="197485"/>
                  </a:cubicBezTo>
                  <a:lnTo>
                    <a:pt x="13192761" y="1827403"/>
                  </a:lnTo>
                  <a:cubicBezTo>
                    <a:pt x="13192761" y="1936496"/>
                    <a:pt x="13104368" y="2024888"/>
                    <a:pt x="12995275" y="2024888"/>
                  </a:cubicBezTo>
                  <a:lnTo>
                    <a:pt x="197485" y="2024888"/>
                  </a:lnTo>
                  <a:cubicBezTo>
                    <a:pt x="88392" y="2024888"/>
                    <a:pt x="0" y="1936496"/>
                    <a:pt x="0" y="1827403"/>
                  </a:cubicBezTo>
                  <a:close/>
                </a:path>
              </a:pathLst>
            </a:custGeom>
            <a:solidFill>
              <a:srgbClr val="FFFFFF">
                <a:alpha val="50000"/>
              </a:srgbClr>
            </a:solidFill>
            <a:ln w="19050" cap="sq">
              <a:solidFill>
                <a:srgbClr val="D6E0F2"/>
              </a:solidFill>
              <a:prstDash val="solid"/>
              <a:miter/>
            </a:ln>
          </p:spPr>
        </p:sp>
      </p:grpSp>
      <p:grpSp>
        <p:nvGrpSpPr>
          <p:cNvPr name="Group 35" id="35"/>
          <p:cNvGrpSpPr/>
          <p:nvPr/>
        </p:nvGrpSpPr>
        <p:grpSpPr>
          <a:xfrm rot="0">
            <a:off x="1176023" y="6058919"/>
            <a:ext cx="903227" cy="903227"/>
            <a:chOff x="0" y="0"/>
            <a:chExt cx="1204303" cy="1204303"/>
          </a:xfrm>
        </p:grpSpPr>
        <p:sp>
          <p:nvSpPr>
            <p:cNvPr name="Freeform 36" id="36"/>
            <p:cNvSpPr/>
            <p:nvPr/>
          </p:nvSpPr>
          <p:spPr>
            <a:xfrm flipH="false" flipV="false" rot="0">
              <a:off x="0" y="0"/>
              <a:ext cx="1204341" cy="1204341"/>
            </a:xfrm>
            <a:custGeom>
              <a:avLst/>
              <a:gdLst/>
              <a:ahLst/>
              <a:cxnLst/>
              <a:rect r="r" b="b" t="t" l="l"/>
              <a:pathLst>
                <a:path h="1204341" w="1204341">
                  <a:moveTo>
                    <a:pt x="0" y="250952"/>
                  </a:moveTo>
                  <a:cubicBezTo>
                    <a:pt x="0" y="112268"/>
                    <a:pt x="112268" y="0"/>
                    <a:pt x="250952" y="0"/>
                  </a:cubicBezTo>
                  <a:lnTo>
                    <a:pt x="953389" y="0"/>
                  </a:lnTo>
                  <a:cubicBezTo>
                    <a:pt x="1091946" y="0"/>
                    <a:pt x="1204341" y="112268"/>
                    <a:pt x="1204341" y="250952"/>
                  </a:cubicBezTo>
                  <a:lnTo>
                    <a:pt x="1204341" y="953389"/>
                  </a:lnTo>
                  <a:cubicBezTo>
                    <a:pt x="1204341" y="1091946"/>
                    <a:pt x="1092073" y="1204341"/>
                    <a:pt x="953389" y="1204341"/>
                  </a:cubicBezTo>
                  <a:lnTo>
                    <a:pt x="250952" y="1204341"/>
                  </a:lnTo>
                  <a:cubicBezTo>
                    <a:pt x="112268" y="1204341"/>
                    <a:pt x="0" y="1091946"/>
                    <a:pt x="0" y="953389"/>
                  </a:cubicBezTo>
                  <a:close/>
                </a:path>
              </a:pathLst>
            </a:custGeom>
            <a:solidFill>
              <a:srgbClr val="1448C8"/>
            </a:solidFill>
            <a:ln w="25400" cap="sq">
              <a:solidFill>
                <a:srgbClr val="1448C8"/>
              </a:solidFill>
              <a:prstDash val="solid"/>
              <a:miter/>
            </a:ln>
          </p:spPr>
        </p:sp>
      </p:grpSp>
      <p:grpSp>
        <p:nvGrpSpPr>
          <p:cNvPr name="Group 37" id="37"/>
          <p:cNvGrpSpPr/>
          <p:nvPr/>
        </p:nvGrpSpPr>
        <p:grpSpPr>
          <a:xfrm rot="0">
            <a:off x="1188720" y="6071616"/>
            <a:ext cx="877824" cy="877824"/>
            <a:chOff x="0" y="0"/>
            <a:chExt cx="1170432" cy="1170432"/>
          </a:xfrm>
        </p:grpSpPr>
        <p:sp>
          <p:nvSpPr>
            <p:cNvPr name="Freeform 38" id="38"/>
            <p:cNvSpPr/>
            <p:nvPr/>
          </p:nvSpPr>
          <p:spPr>
            <a:xfrm flipH="false" flipV="false" rot="0">
              <a:off x="0" y="0"/>
              <a:ext cx="1170432" cy="1170432"/>
            </a:xfrm>
            <a:custGeom>
              <a:avLst/>
              <a:gdLst/>
              <a:ahLst/>
              <a:cxnLst/>
              <a:rect r="r" b="b" t="t" l="l"/>
              <a:pathLst>
                <a:path h="1170432" w="1170432">
                  <a:moveTo>
                    <a:pt x="0" y="0"/>
                  </a:moveTo>
                  <a:lnTo>
                    <a:pt x="1170432" y="0"/>
                  </a:lnTo>
                  <a:lnTo>
                    <a:pt x="1170432" y="1170432"/>
                  </a:lnTo>
                  <a:lnTo>
                    <a:pt x="0" y="1170432"/>
                  </a:lnTo>
                  <a:close/>
                </a:path>
              </a:pathLst>
            </a:custGeom>
            <a:blipFill>
              <a:blip r:embed="rId4">
                <a:alphaModFix amt="0"/>
              </a:blip>
              <a:stretch>
                <a:fillRect l="-78303" t="0" r="-78303" b="0"/>
              </a:stretch>
            </a:blipFill>
          </p:spPr>
        </p:sp>
        <p:sp>
          <p:nvSpPr>
            <p:cNvPr name="TextBox 39" id="39"/>
            <p:cNvSpPr txBox="true"/>
            <p:nvPr/>
          </p:nvSpPr>
          <p:spPr>
            <a:xfrm>
              <a:off x="0" y="-19050"/>
              <a:ext cx="1170432" cy="1189482"/>
            </a:xfrm>
            <a:prstGeom prst="rect">
              <a:avLst/>
            </a:prstGeom>
          </p:spPr>
          <p:txBody>
            <a:bodyPr anchor="ctr" rtlCol="false" tIns="0" lIns="0" bIns="0" rIns="0"/>
            <a:lstStyle/>
            <a:p>
              <a:pPr algn="ctr">
                <a:lnSpc>
                  <a:spcPts val="3600"/>
                </a:lnSpc>
              </a:pPr>
              <a:r>
                <a:rPr lang="en-US" sz="3000" b="true">
                  <a:solidFill>
                    <a:srgbClr val="FFC81E"/>
                  </a:solidFill>
                  <a:latin typeface="Arial Bold"/>
                  <a:ea typeface="Arial Bold"/>
                  <a:cs typeface="Arial Bold"/>
                  <a:sym typeface="Arial Bold"/>
                </a:rPr>
                <a:t>3</a:t>
              </a:r>
            </a:p>
          </p:txBody>
        </p:sp>
      </p:grpSp>
      <p:grpSp>
        <p:nvGrpSpPr>
          <p:cNvPr name="Group 40" id="40"/>
          <p:cNvGrpSpPr/>
          <p:nvPr/>
        </p:nvGrpSpPr>
        <p:grpSpPr>
          <a:xfrm rot="0">
            <a:off x="2468880" y="5833872"/>
            <a:ext cx="8046720" cy="1353312"/>
            <a:chOff x="0" y="0"/>
            <a:chExt cx="10728960" cy="1804416"/>
          </a:xfrm>
        </p:grpSpPr>
        <p:sp>
          <p:nvSpPr>
            <p:cNvPr name="Freeform 41" id="41"/>
            <p:cNvSpPr/>
            <p:nvPr/>
          </p:nvSpPr>
          <p:spPr>
            <a:xfrm flipH="false" flipV="false" rot="0">
              <a:off x="0" y="0"/>
              <a:ext cx="10728960" cy="1804416"/>
            </a:xfrm>
            <a:custGeom>
              <a:avLst/>
              <a:gdLst/>
              <a:ahLst/>
              <a:cxnLst/>
              <a:rect r="r" b="b" t="t" l="l"/>
              <a:pathLst>
                <a:path h="1804416" w="10728960">
                  <a:moveTo>
                    <a:pt x="0" y="0"/>
                  </a:moveTo>
                  <a:lnTo>
                    <a:pt x="10728960" y="0"/>
                  </a:lnTo>
                  <a:lnTo>
                    <a:pt x="10728960" y="1804416"/>
                  </a:lnTo>
                  <a:lnTo>
                    <a:pt x="0" y="1804416"/>
                  </a:lnTo>
                  <a:close/>
                </a:path>
              </a:pathLst>
            </a:custGeom>
            <a:blipFill>
              <a:blip r:embed="rId4">
                <a:alphaModFix amt="0"/>
              </a:blip>
              <a:stretch>
                <a:fillRect l="0" t="-65856" r="0" b="-65856"/>
              </a:stretch>
            </a:blipFill>
          </p:spPr>
        </p:sp>
        <p:sp>
          <p:nvSpPr>
            <p:cNvPr name="TextBox 42" id="42"/>
            <p:cNvSpPr txBox="true"/>
            <p:nvPr/>
          </p:nvSpPr>
          <p:spPr>
            <a:xfrm>
              <a:off x="0" y="-47625"/>
              <a:ext cx="10728960" cy="1852041"/>
            </a:xfrm>
            <a:prstGeom prst="rect">
              <a:avLst/>
            </a:prstGeom>
          </p:spPr>
          <p:txBody>
            <a:bodyPr anchor="ctr" rtlCol="false" tIns="0" lIns="0" bIns="0" rIns="0"/>
            <a:lstStyle/>
            <a:p>
              <a:pPr algn="l">
                <a:lnSpc>
                  <a:spcPts val="2760"/>
                </a:lnSpc>
              </a:pPr>
              <a:r>
                <a:rPr lang="en-US" sz="2300">
                  <a:solidFill>
                    <a:srgbClr val="0B1D3A"/>
                  </a:solidFill>
                  <a:latin typeface="Calibri (MS)"/>
                  <a:ea typeface="Calibri (MS)"/>
                  <a:cs typeface="Calibri (MS)"/>
                  <a:sym typeface="Calibri (MS)"/>
                </a:rPr>
                <a:t>Lengkapi persyaratan (KTM/KTP/identitas lain) &amp; bayar tiket sesuai batch berlaku (lihat rincian biaya tiket).</a:t>
              </a:r>
            </a:p>
          </p:txBody>
        </p:sp>
      </p:grpSp>
      <p:grpSp>
        <p:nvGrpSpPr>
          <p:cNvPr name="Group 43" id="43"/>
          <p:cNvGrpSpPr/>
          <p:nvPr/>
        </p:nvGrpSpPr>
        <p:grpSpPr>
          <a:xfrm rot="0">
            <a:off x="904875" y="7488555"/>
            <a:ext cx="9894570" cy="1518666"/>
            <a:chOff x="0" y="0"/>
            <a:chExt cx="13192760" cy="2024888"/>
          </a:xfrm>
        </p:grpSpPr>
        <p:sp>
          <p:nvSpPr>
            <p:cNvPr name="Freeform 44" id="44"/>
            <p:cNvSpPr/>
            <p:nvPr/>
          </p:nvSpPr>
          <p:spPr>
            <a:xfrm flipH="false" flipV="false" rot="0">
              <a:off x="0" y="0"/>
              <a:ext cx="13192761" cy="2024888"/>
            </a:xfrm>
            <a:custGeom>
              <a:avLst/>
              <a:gdLst/>
              <a:ahLst/>
              <a:cxnLst/>
              <a:rect r="r" b="b" t="t" l="l"/>
              <a:pathLst>
                <a:path h="2024888" w="13192761">
                  <a:moveTo>
                    <a:pt x="0" y="197485"/>
                  </a:moveTo>
                  <a:cubicBezTo>
                    <a:pt x="0" y="88392"/>
                    <a:pt x="88392" y="0"/>
                    <a:pt x="197485" y="0"/>
                  </a:cubicBezTo>
                  <a:lnTo>
                    <a:pt x="12995275" y="0"/>
                  </a:lnTo>
                  <a:cubicBezTo>
                    <a:pt x="13104368" y="0"/>
                    <a:pt x="13192761" y="88392"/>
                    <a:pt x="13192761" y="197485"/>
                  </a:cubicBezTo>
                  <a:lnTo>
                    <a:pt x="13192761" y="1827403"/>
                  </a:lnTo>
                  <a:cubicBezTo>
                    <a:pt x="13192761" y="1936496"/>
                    <a:pt x="13104368" y="2024888"/>
                    <a:pt x="12995275" y="2024888"/>
                  </a:cubicBezTo>
                  <a:lnTo>
                    <a:pt x="197485" y="2024888"/>
                  </a:lnTo>
                  <a:cubicBezTo>
                    <a:pt x="88392" y="2024888"/>
                    <a:pt x="0" y="1936496"/>
                    <a:pt x="0" y="1827403"/>
                  </a:cubicBezTo>
                  <a:close/>
                </a:path>
              </a:pathLst>
            </a:custGeom>
            <a:solidFill>
              <a:srgbClr val="FFFFFF"/>
            </a:solidFill>
            <a:ln w="19050" cap="sq">
              <a:solidFill>
                <a:srgbClr val="D6E0F2"/>
              </a:solidFill>
              <a:prstDash val="solid"/>
              <a:miter/>
            </a:ln>
          </p:spPr>
        </p:sp>
      </p:grpSp>
      <p:grpSp>
        <p:nvGrpSpPr>
          <p:cNvPr name="Group 45" id="45"/>
          <p:cNvGrpSpPr/>
          <p:nvPr/>
        </p:nvGrpSpPr>
        <p:grpSpPr>
          <a:xfrm rot="0">
            <a:off x="1176023" y="7796279"/>
            <a:ext cx="903227" cy="903227"/>
            <a:chOff x="0" y="0"/>
            <a:chExt cx="1204303" cy="1204303"/>
          </a:xfrm>
        </p:grpSpPr>
        <p:sp>
          <p:nvSpPr>
            <p:cNvPr name="Freeform 46" id="46"/>
            <p:cNvSpPr/>
            <p:nvPr/>
          </p:nvSpPr>
          <p:spPr>
            <a:xfrm flipH="false" flipV="false" rot="0">
              <a:off x="0" y="0"/>
              <a:ext cx="1204341" cy="1204341"/>
            </a:xfrm>
            <a:custGeom>
              <a:avLst/>
              <a:gdLst/>
              <a:ahLst/>
              <a:cxnLst/>
              <a:rect r="r" b="b" t="t" l="l"/>
              <a:pathLst>
                <a:path h="1204341" w="1204341">
                  <a:moveTo>
                    <a:pt x="0" y="250952"/>
                  </a:moveTo>
                  <a:cubicBezTo>
                    <a:pt x="0" y="112268"/>
                    <a:pt x="112268" y="0"/>
                    <a:pt x="250952" y="0"/>
                  </a:cubicBezTo>
                  <a:lnTo>
                    <a:pt x="953389" y="0"/>
                  </a:lnTo>
                  <a:cubicBezTo>
                    <a:pt x="1091946" y="0"/>
                    <a:pt x="1204341" y="112268"/>
                    <a:pt x="1204341" y="250952"/>
                  </a:cubicBezTo>
                  <a:lnTo>
                    <a:pt x="1204341" y="953389"/>
                  </a:lnTo>
                  <a:cubicBezTo>
                    <a:pt x="1204341" y="1091946"/>
                    <a:pt x="1092073" y="1204341"/>
                    <a:pt x="953389" y="1204341"/>
                  </a:cubicBezTo>
                  <a:lnTo>
                    <a:pt x="250952" y="1204341"/>
                  </a:lnTo>
                  <a:cubicBezTo>
                    <a:pt x="112268" y="1204341"/>
                    <a:pt x="0" y="1091946"/>
                    <a:pt x="0" y="953389"/>
                  </a:cubicBezTo>
                  <a:close/>
                </a:path>
              </a:pathLst>
            </a:custGeom>
            <a:solidFill>
              <a:srgbClr val="1448C8"/>
            </a:solidFill>
            <a:ln w="25400" cap="sq">
              <a:solidFill>
                <a:srgbClr val="1448C8"/>
              </a:solidFill>
              <a:prstDash val="solid"/>
              <a:miter/>
            </a:ln>
          </p:spPr>
        </p:sp>
      </p:grpSp>
      <p:grpSp>
        <p:nvGrpSpPr>
          <p:cNvPr name="Group 47" id="47"/>
          <p:cNvGrpSpPr/>
          <p:nvPr/>
        </p:nvGrpSpPr>
        <p:grpSpPr>
          <a:xfrm rot="0">
            <a:off x="1188720" y="7808976"/>
            <a:ext cx="877824" cy="877824"/>
            <a:chOff x="0" y="0"/>
            <a:chExt cx="1170432" cy="1170432"/>
          </a:xfrm>
        </p:grpSpPr>
        <p:sp>
          <p:nvSpPr>
            <p:cNvPr name="Freeform 48" id="48"/>
            <p:cNvSpPr/>
            <p:nvPr/>
          </p:nvSpPr>
          <p:spPr>
            <a:xfrm flipH="false" flipV="false" rot="0">
              <a:off x="0" y="0"/>
              <a:ext cx="1170432" cy="1170432"/>
            </a:xfrm>
            <a:custGeom>
              <a:avLst/>
              <a:gdLst/>
              <a:ahLst/>
              <a:cxnLst/>
              <a:rect r="r" b="b" t="t" l="l"/>
              <a:pathLst>
                <a:path h="1170432" w="1170432">
                  <a:moveTo>
                    <a:pt x="0" y="0"/>
                  </a:moveTo>
                  <a:lnTo>
                    <a:pt x="1170432" y="0"/>
                  </a:lnTo>
                  <a:lnTo>
                    <a:pt x="1170432" y="1170432"/>
                  </a:lnTo>
                  <a:lnTo>
                    <a:pt x="0" y="1170432"/>
                  </a:lnTo>
                  <a:close/>
                </a:path>
              </a:pathLst>
            </a:custGeom>
            <a:blipFill>
              <a:blip r:embed="rId4">
                <a:alphaModFix amt="0"/>
              </a:blip>
              <a:stretch>
                <a:fillRect l="-78303" t="0" r="-78303" b="0"/>
              </a:stretch>
            </a:blipFill>
          </p:spPr>
        </p:sp>
        <p:sp>
          <p:nvSpPr>
            <p:cNvPr name="TextBox 49" id="49"/>
            <p:cNvSpPr txBox="true"/>
            <p:nvPr/>
          </p:nvSpPr>
          <p:spPr>
            <a:xfrm>
              <a:off x="0" y="-19050"/>
              <a:ext cx="1170432" cy="1189482"/>
            </a:xfrm>
            <a:prstGeom prst="rect">
              <a:avLst/>
            </a:prstGeom>
          </p:spPr>
          <p:txBody>
            <a:bodyPr anchor="ctr" rtlCol="false" tIns="0" lIns="0" bIns="0" rIns="0"/>
            <a:lstStyle/>
            <a:p>
              <a:pPr algn="ctr">
                <a:lnSpc>
                  <a:spcPts val="3600"/>
                </a:lnSpc>
              </a:pPr>
              <a:r>
                <a:rPr lang="en-US" sz="3000" b="true">
                  <a:solidFill>
                    <a:srgbClr val="FFC81E"/>
                  </a:solidFill>
                  <a:latin typeface="Arial Bold"/>
                  <a:ea typeface="Arial Bold"/>
                  <a:cs typeface="Arial Bold"/>
                  <a:sym typeface="Arial Bold"/>
                </a:rPr>
                <a:t>4</a:t>
              </a:r>
            </a:p>
          </p:txBody>
        </p:sp>
      </p:grpSp>
      <p:grpSp>
        <p:nvGrpSpPr>
          <p:cNvPr name="Group 50" id="50"/>
          <p:cNvGrpSpPr/>
          <p:nvPr/>
        </p:nvGrpSpPr>
        <p:grpSpPr>
          <a:xfrm rot="0">
            <a:off x="2468880" y="7571232"/>
            <a:ext cx="8046720" cy="1353312"/>
            <a:chOff x="0" y="0"/>
            <a:chExt cx="10728960" cy="1804416"/>
          </a:xfrm>
        </p:grpSpPr>
        <p:sp>
          <p:nvSpPr>
            <p:cNvPr name="Freeform 51" id="51"/>
            <p:cNvSpPr/>
            <p:nvPr/>
          </p:nvSpPr>
          <p:spPr>
            <a:xfrm flipH="false" flipV="false" rot="0">
              <a:off x="0" y="0"/>
              <a:ext cx="10728960" cy="1804416"/>
            </a:xfrm>
            <a:custGeom>
              <a:avLst/>
              <a:gdLst/>
              <a:ahLst/>
              <a:cxnLst/>
              <a:rect r="r" b="b" t="t" l="l"/>
              <a:pathLst>
                <a:path h="1804416" w="10728960">
                  <a:moveTo>
                    <a:pt x="0" y="0"/>
                  </a:moveTo>
                  <a:lnTo>
                    <a:pt x="10728960" y="0"/>
                  </a:lnTo>
                  <a:lnTo>
                    <a:pt x="10728960" y="1804416"/>
                  </a:lnTo>
                  <a:lnTo>
                    <a:pt x="0" y="1804416"/>
                  </a:lnTo>
                  <a:close/>
                </a:path>
              </a:pathLst>
            </a:custGeom>
            <a:blipFill>
              <a:blip r:embed="rId4">
                <a:alphaModFix amt="0"/>
              </a:blip>
              <a:stretch>
                <a:fillRect l="0" t="-65856" r="0" b="-65856"/>
              </a:stretch>
            </a:blipFill>
          </p:spPr>
        </p:sp>
        <p:sp>
          <p:nvSpPr>
            <p:cNvPr name="TextBox 52" id="52"/>
            <p:cNvSpPr txBox="true"/>
            <p:nvPr/>
          </p:nvSpPr>
          <p:spPr>
            <a:xfrm>
              <a:off x="0" y="-47625"/>
              <a:ext cx="10728960" cy="1852041"/>
            </a:xfrm>
            <a:prstGeom prst="rect">
              <a:avLst/>
            </a:prstGeom>
          </p:spPr>
          <p:txBody>
            <a:bodyPr anchor="ctr" rtlCol="false" tIns="0" lIns="0" bIns="0" rIns="0"/>
            <a:lstStyle/>
            <a:p>
              <a:pPr algn="l">
                <a:lnSpc>
                  <a:spcPts val="2760"/>
                </a:lnSpc>
              </a:pPr>
              <a:r>
                <a:rPr lang="en-US" sz="2300">
                  <a:solidFill>
                    <a:srgbClr val="0B1D3A"/>
                  </a:solidFill>
                  <a:latin typeface="Calibri (MS)"/>
                  <a:ea typeface="Calibri (MS)"/>
                  <a:cs typeface="Calibri (MS)"/>
                  <a:sym typeface="Calibri (MS)"/>
                </a:rPr>
                <a:t>Ikuti Technical Meeting dan Babak Penyisihan sesuai jadwal panitia.</a:t>
              </a:r>
            </a:p>
          </p:txBody>
        </p:sp>
      </p:grpSp>
      <p:grpSp>
        <p:nvGrpSpPr>
          <p:cNvPr name="Group 53" id="53"/>
          <p:cNvGrpSpPr/>
          <p:nvPr/>
        </p:nvGrpSpPr>
        <p:grpSpPr>
          <a:xfrm rot="0">
            <a:off x="11325863" y="2273303"/>
            <a:ext cx="6060443" cy="6737099"/>
            <a:chOff x="0" y="0"/>
            <a:chExt cx="8080591" cy="8982799"/>
          </a:xfrm>
        </p:grpSpPr>
        <p:sp>
          <p:nvSpPr>
            <p:cNvPr name="Freeform 54" id="54"/>
            <p:cNvSpPr/>
            <p:nvPr/>
          </p:nvSpPr>
          <p:spPr>
            <a:xfrm flipH="false" flipV="false" rot="0">
              <a:off x="0" y="0"/>
              <a:ext cx="8080629" cy="8982838"/>
            </a:xfrm>
            <a:custGeom>
              <a:avLst/>
              <a:gdLst/>
              <a:ahLst/>
              <a:cxnLst/>
              <a:rect r="r" b="b" t="t" l="l"/>
              <a:pathLst>
                <a:path h="8982838" w="8080629">
                  <a:moveTo>
                    <a:pt x="0" y="244856"/>
                  </a:moveTo>
                  <a:cubicBezTo>
                    <a:pt x="0" y="109601"/>
                    <a:pt x="109601" y="0"/>
                    <a:pt x="244856" y="0"/>
                  </a:cubicBezTo>
                  <a:lnTo>
                    <a:pt x="7835773" y="0"/>
                  </a:lnTo>
                  <a:cubicBezTo>
                    <a:pt x="7971028" y="0"/>
                    <a:pt x="8080629" y="109601"/>
                    <a:pt x="8080629" y="244856"/>
                  </a:cubicBezTo>
                  <a:lnTo>
                    <a:pt x="8080629" y="8737981"/>
                  </a:lnTo>
                  <a:cubicBezTo>
                    <a:pt x="8080629" y="8873237"/>
                    <a:pt x="7971028" y="8982838"/>
                    <a:pt x="7835773" y="8982838"/>
                  </a:cubicBezTo>
                  <a:lnTo>
                    <a:pt x="244856" y="8982838"/>
                  </a:lnTo>
                  <a:cubicBezTo>
                    <a:pt x="109601" y="8982837"/>
                    <a:pt x="0" y="8873236"/>
                    <a:pt x="0" y="8737981"/>
                  </a:cubicBezTo>
                  <a:close/>
                </a:path>
              </a:pathLst>
            </a:custGeom>
            <a:solidFill>
              <a:srgbClr val="0A1F44">
                <a:alpha val="85000"/>
              </a:srgbClr>
            </a:solidFill>
            <a:ln w="25400" cap="sq">
              <a:solidFill>
                <a:srgbClr val="0A1F44"/>
              </a:solidFill>
              <a:prstDash val="solid"/>
              <a:miter/>
            </a:ln>
          </p:spPr>
        </p:sp>
      </p:grpSp>
      <p:sp>
        <p:nvSpPr>
          <p:cNvPr name="TextBox 55" id="55"/>
          <p:cNvSpPr txBox="true"/>
          <p:nvPr/>
        </p:nvSpPr>
        <p:spPr>
          <a:xfrm rot="0">
            <a:off x="11795760" y="2604135"/>
            <a:ext cx="5303520" cy="596265"/>
          </a:xfrm>
          <a:prstGeom prst="rect">
            <a:avLst/>
          </a:prstGeom>
        </p:spPr>
        <p:txBody>
          <a:bodyPr anchor="t" rtlCol="false" tIns="0" lIns="0" bIns="0" rIns="0">
            <a:spAutoFit/>
          </a:bodyPr>
          <a:lstStyle/>
          <a:p>
            <a:pPr algn="l">
              <a:lnSpc>
                <a:spcPts val="2639"/>
              </a:lnSpc>
            </a:pPr>
            <a:r>
              <a:rPr lang="en-US" sz="2199" b="true">
                <a:solidFill>
                  <a:srgbClr val="FFC81E"/>
                </a:solidFill>
                <a:latin typeface="Consolas Bold"/>
                <a:ea typeface="Consolas Bold"/>
                <a:cs typeface="Consolas Bold"/>
                <a:sym typeface="Consolas Bold"/>
              </a:rPr>
              <a:t>ADMIN PENDAFTARAN</a:t>
            </a:r>
          </a:p>
        </p:txBody>
      </p:sp>
      <p:sp>
        <p:nvSpPr>
          <p:cNvPr name="TextBox 56" id="56"/>
          <p:cNvSpPr txBox="true"/>
          <p:nvPr/>
        </p:nvSpPr>
        <p:spPr>
          <a:xfrm rot="0">
            <a:off x="11795760" y="3609975"/>
            <a:ext cx="5303520" cy="596265"/>
          </a:xfrm>
          <a:prstGeom prst="rect">
            <a:avLst/>
          </a:prstGeom>
        </p:spPr>
        <p:txBody>
          <a:bodyPr anchor="t" rtlCol="false" tIns="0" lIns="0" bIns="0" rIns="0">
            <a:spAutoFit/>
          </a:bodyPr>
          <a:lstStyle/>
          <a:p>
            <a:pPr algn="l">
              <a:lnSpc>
                <a:spcPts val="2999"/>
              </a:lnSpc>
            </a:pPr>
            <a:r>
              <a:rPr lang="en-US" sz="2499">
                <a:solidFill>
                  <a:srgbClr val="FFFFFF"/>
                </a:solidFill>
                <a:latin typeface="Calibri (MS)"/>
                <a:ea typeface="Calibri (MS)"/>
                <a:cs typeface="Calibri (MS)"/>
                <a:sym typeface="Calibri (MS)"/>
              </a:rPr>
              <a:t>Abdullah Faqih Khoirudin</a:t>
            </a:r>
          </a:p>
        </p:txBody>
      </p:sp>
      <p:sp>
        <p:nvSpPr>
          <p:cNvPr name="TextBox 57" id="57"/>
          <p:cNvSpPr txBox="true"/>
          <p:nvPr/>
        </p:nvSpPr>
        <p:spPr>
          <a:xfrm rot="0">
            <a:off x="11795760" y="4232529"/>
            <a:ext cx="5303520" cy="668655"/>
          </a:xfrm>
          <a:prstGeom prst="rect">
            <a:avLst/>
          </a:prstGeom>
        </p:spPr>
        <p:txBody>
          <a:bodyPr anchor="t" rtlCol="false" tIns="0" lIns="0" bIns="0" rIns="0">
            <a:spAutoFit/>
          </a:bodyPr>
          <a:lstStyle/>
          <a:p>
            <a:pPr algn="l">
              <a:lnSpc>
                <a:spcPts val="3840"/>
              </a:lnSpc>
            </a:pPr>
            <a:r>
              <a:rPr lang="en-US" sz="3200" b="true">
                <a:solidFill>
                  <a:srgbClr val="FFD966"/>
                </a:solidFill>
                <a:latin typeface="Arial Bold"/>
                <a:ea typeface="Arial Bold"/>
                <a:cs typeface="Arial Bold"/>
                <a:sym typeface="Arial Bold"/>
              </a:rPr>
              <a:t>083169480244</a:t>
            </a:r>
          </a:p>
        </p:txBody>
      </p:sp>
      <p:sp>
        <p:nvSpPr>
          <p:cNvPr name="TextBox 58" id="58"/>
          <p:cNvSpPr txBox="true"/>
          <p:nvPr/>
        </p:nvSpPr>
        <p:spPr>
          <a:xfrm rot="0">
            <a:off x="11795760" y="5347335"/>
            <a:ext cx="5303520" cy="596265"/>
          </a:xfrm>
          <a:prstGeom prst="rect">
            <a:avLst/>
          </a:prstGeom>
        </p:spPr>
        <p:txBody>
          <a:bodyPr anchor="t" rtlCol="false" tIns="0" lIns="0" bIns="0" rIns="0">
            <a:spAutoFit/>
          </a:bodyPr>
          <a:lstStyle/>
          <a:p>
            <a:pPr algn="l">
              <a:lnSpc>
                <a:spcPts val="2999"/>
              </a:lnSpc>
            </a:pPr>
            <a:r>
              <a:rPr lang="en-US" sz="2499">
                <a:solidFill>
                  <a:srgbClr val="FFFFFF"/>
                </a:solidFill>
                <a:latin typeface="Calibri (MS)"/>
                <a:ea typeface="Calibri (MS)"/>
                <a:cs typeface="Calibri (MS)"/>
                <a:sym typeface="Calibri (MS)"/>
              </a:rPr>
              <a:t>Geysar Ahmad Fadhil</a:t>
            </a:r>
          </a:p>
        </p:txBody>
      </p:sp>
      <p:sp>
        <p:nvSpPr>
          <p:cNvPr name="TextBox 59" id="59"/>
          <p:cNvSpPr txBox="true"/>
          <p:nvPr/>
        </p:nvSpPr>
        <p:spPr>
          <a:xfrm rot="0">
            <a:off x="11795760" y="5969889"/>
            <a:ext cx="5303520" cy="668655"/>
          </a:xfrm>
          <a:prstGeom prst="rect">
            <a:avLst/>
          </a:prstGeom>
        </p:spPr>
        <p:txBody>
          <a:bodyPr anchor="t" rtlCol="false" tIns="0" lIns="0" bIns="0" rIns="0">
            <a:spAutoFit/>
          </a:bodyPr>
          <a:lstStyle/>
          <a:p>
            <a:pPr algn="l">
              <a:lnSpc>
                <a:spcPts val="3840"/>
              </a:lnSpc>
            </a:pPr>
            <a:r>
              <a:rPr lang="en-US" sz="3200" b="true">
                <a:solidFill>
                  <a:srgbClr val="FFD966"/>
                </a:solidFill>
                <a:latin typeface="Arial Bold"/>
                <a:ea typeface="Arial Bold"/>
                <a:cs typeface="Arial Bold"/>
                <a:sym typeface="Arial Bold"/>
              </a:rPr>
              <a:t>085725881340</a:t>
            </a:r>
          </a:p>
        </p:txBody>
      </p:sp>
      <p:sp>
        <p:nvSpPr>
          <p:cNvPr name="TextBox 60" id="60"/>
          <p:cNvSpPr txBox="true"/>
          <p:nvPr/>
        </p:nvSpPr>
        <p:spPr>
          <a:xfrm rot="0">
            <a:off x="11795760" y="7084695"/>
            <a:ext cx="5303520" cy="596265"/>
          </a:xfrm>
          <a:prstGeom prst="rect">
            <a:avLst/>
          </a:prstGeom>
        </p:spPr>
        <p:txBody>
          <a:bodyPr anchor="t" rtlCol="false" tIns="0" lIns="0" bIns="0" rIns="0">
            <a:spAutoFit/>
          </a:bodyPr>
          <a:lstStyle/>
          <a:p>
            <a:pPr algn="l">
              <a:lnSpc>
                <a:spcPts val="2999"/>
              </a:lnSpc>
            </a:pPr>
            <a:r>
              <a:rPr lang="en-US" sz="2499">
                <a:solidFill>
                  <a:srgbClr val="FFFFFF"/>
                </a:solidFill>
                <a:latin typeface="Calibri (MS)"/>
                <a:ea typeface="Calibri (MS)"/>
                <a:cs typeface="Calibri (MS)"/>
                <a:sym typeface="Calibri (MS)"/>
              </a:rPr>
              <a:t>Daffa Raditya Ramadhan</a:t>
            </a:r>
          </a:p>
        </p:txBody>
      </p:sp>
      <p:sp>
        <p:nvSpPr>
          <p:cNvPr name="TextBox 61" id="61"/>
          <p:cNvSpPr txBox="true"/>
          <p:nvPr/>
        </p:nvSpPr>
        <p:spPr>
          <a:xfrm rot="0">
            <a:off x="11795760" y="7707249"/>
            <a:ext cx="5303520" cy="668655"/>
          </a:xfrm>
          <a:prstGeom prst="rect">
            <a:avLst/>
          </a:prstGeom>
        </p:spPr>
        <p:txBody>
          <a:bodyPr anchor="t" rtlCol="false" tIns="0" lIns="0" bIns="0" rIns="0">
            <a:spAutoFit/>
          </a:bodyPr>
          <a:lstStyle/>
          <a:p>
            <a:pPr algn="l">
              <a:lnSpc>
                <a:spcPts val="3840"/>
              </a:lnSpc>
            </a:pPr>
            <a:r>
              <a:rPr lang="en-US" sz="3200" b="true">
                <a:solidFill>
                  <a:srgbClr val="FFD966"/>
                </a:solidFill>
                <a:latin typeface="Arial Bold"/>
                <a:ea typeface="Arial Bold"/>
                <a:cs typeface="Arial Bold"/>
                <a:sym typeface="Arial Bold"/>
              </a:rPr>
              <a:t>087850877256</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pic>
        <p:nvPicPr>
          <p:cNvPr id="7" name="Logo Watermark" descr="Logo M-ONE Coding Competition"/>
          <p:cNvPicPr>
            <a:picLocks noChangeAspect="1"/>
          </p:cNvPicPr>
          <p:nvPr userDrawn="1"/>
        </p:nvPicPr>
        <p:blipFill>
          <a:blip r:embed="rIdLogo1">
            <a:alphaModFix amt="40000"/>
          </a:blip>
          <a:stretch>
            <a:fillRect/>
          </a:stretch>
        </p:blipFill>
        <p:spPr>
          <a:xfrm>
            <a:off x="4644000" y="3511572"/>
            <a:ext cx="9000000" cy="3263855"/>
          </a:xfrm>
          <a:prstGeom prst="rect">
            <a:avLst/>
          </a:prstGeom>
        </p:spPr>
      </p:pic>
      <p:sp>
        <p:nvSpPr>
          <p:cNvPr name="TextBox 3" id="3"/>
          <p:cNvSpPr txBox="true"/>
          <p:nvPr/>
        </p:nvSpPr>
        <p:spPr>
          <a:xfrm rot="0">
            <a:off x="1280160" y="2051685"/>
            <a:ext cx="5486400" cy="1605915"/>
          </a:xfrm>
          <a:prstGeom prst="rect">
            <a:avLst/>
          </a:prstGeom>
        </p:spPr>
        <p:txBody>
          <a:bodyPr anchor="t" rtlCol="false" tIns="0" lIns="0" bIns="0" rIns="0">
            <a:spAutoFit/>
          </a:bodyPr>
          <a:lstStyle/>
          <a:p>
            <a:pPr algn="l">
              <a:lnSpc>
                <a:spcPts val="9600"/>
              </a:lnSpc>
            </a:pPr>
            <a:r>
              <a:rPr lang="en-US" sz="8000" b="true">
                <a:solidFill>
                  <a:srgbClr val="FFC81E"/>
                </a:solidFill>
                <a:latin typeface="Consolas Bold"/>
                <a:ea typeface="Consolas Bold"/>
                <a:cs typeface="Consolas Bold"/>
                <a:sym typeface="Consolas Bold"/>
              </a:rPr>
              <a:t>&lt;/&gt;</a:t>
            </a:r>
          </a:p>
        </p:txBody>
      </p:sp>
      <p:sp>
        <p:nvSpPr>
          <p:cNvPr name="TextBox 4" id="4"/>
          <p:cNvSpPr txBox="true"/>
          <p:nvPr/>
        </p:nvSpPr>
        <p:spPr>
          <a:xfrm rot="0">
            <a:off x="1280160" y="3802380"/>
            <a:ext cx="14630400" cy="1501140"/>
          </a:xfrm>
          <a:prstGeom prst="rect">
            <a:avLst/>
          </a:prstGeom>
        </p:spPr>
        <p:txBody>
          <a:bodyPr anchor="t" rtlCol="false" tIns="0" lIns="0" bIns="0" rIns="0">
            <a:spAutoFit/>
          </a:bodyPr>
          <a:lstStyle/>
          <a:p>
            <a:pPr algn="l">
              <a:lnSpc>
                <a:spcPts val="9119"/>
              </a:lnSpc>
            </a:pPr>
            <a:r>
              <a:rPr lang="en-US" sz="7599" b="true">
                <a:solidFill>
                  <a:srgbClr val="FFFFFF"/>
                </a:solidFill>
                <a:latin typeface="Arial Bold"/>
                <a:ea typeface="Arial Bold"/>
                <a:cs typeface="Arial Bold"/>
                <a:sym typeface="Arial Bold"/>
              </a:rPr>
              <a:t>Selamat berkarya!</a:t>
            </a:r>
          </a:p>
        </p:txBody>
      </p:sp>
      <p:sp>
        <p:nvSpPr>
          <p:cNvPr name="TextBox 5" id="5"/>
          <p:cNvSpPr txBox="true"/>
          <p:nvPr/>
        </p:nvSpPr>
        <p:spPr>
          <a:xfrm rot="0">
            <a:off x="1280160" y="5511165"/>
            <a:ext cx="14630400" cy="706755"/>
          </a:xfrm>
          <a:prstGeom prst="rect">
            <a:avLst/>
          </a:prstGeom>
        </p:spPr>
        <p:txBody>
          <a:bodyPr anchor="t" rtlCol="false" tIns="0" lIns="0" bIns="0" rIns="0">
            <a:spAutoFit/>
          </a:bodyPr>
          <a:lstStyle/>
          <a:p>
            <a:pPr algn="l">
              <a:lnSpc>
                <a:spcPts val="3359"/>
              </a:lnSpc>
            </a:pPr>
            <a:r>
              <a:rPr lang="en-US" sz="2799">
                <a:solidFill>
                  <a:srgbClr val="FFD966"/>
                </a:solidFill>
                <a:latin typeface="Calibri (MS)"/>
                <a:ea typeface="Calibri (MS)"/>
                <a:cs typeface="Calibri (MS)"/>
                <a:sym typeface="Calibri (MS)"/>
              </a:rPr>
              <a:t>M-ONE TELKOMSEL CODING COMPETITION — Kategori Umum</a:t>
            </a:r>
          </a:p>
        </p:txBody>
      </p:sp>
      <p:sp>
        <p:nvSpPr>
          <p:cNvPr name="TextBox 6" id="6"/>
          <p:cNvSpPr txBox="true"/>
          <p:nvPr/>
        </p:nvSpPr>
        <p:spPr>
          <a:xfrm rot="0">
            <a:off x="1280160" y="8923020"/>
            <a:ext cx="15544800" cy="586740"/>
          </a:xfrm>
          <a:prstGeom prst="rect">
            <a:avLst/>
          </a:prstGeom>
        </p:spPr>
        <p:txBody>
          <a:bodyPr anchor="t" rtlCol="false" tIns="0" lIns="0" bIns="0" rIns="0">
            <a:spAutoFit/>
          </a:bodyPr>
          <a:lstStyle/>
          <a:p>
            <a:pPr algn="l">
              <a:lnSpc>
                <a:spcPts val="2400"/>
              </a:lnSpc>
            </a:pPr>
            <a:r>
              <a:rPr lang="en-US" sz="2000">
                <a:solidFill>
                  <a:srgbClr val="BFD3FA"/>
                </a:solidFill>
                <a:latin typeface="Calibri (MS)"/>
                <a:ea typeface="Calibri (MS)"/>
                <a:cs typeface="Calibri (MS)"/>
                <a:sym typeface="Calibri (MS)"/>
              </a:rPr>
              <a:t>Disusun dari Proposal Kemitraan &amp; Juknis Babak Penyisihan — SMK Muhammadiyah 1 Sukoharjo, 2026.</a:t>
            </a:r>
          </a:p>
        </p:txBody>
      </p:sp>
      <p:sp>
        <p:nvSpPr>
          <p:cNvPr name="TextBox Kontak" id="900"/>
          <p:cNvSpPr txBox="true"/>
          <p:nvPr/>
        </p:nvSpPr>
        <p:spPr>
          <a:xfrm rot="0">
            <a:off x="1280160" y="7818120"/>
            <a:ext cx="15544800" cy="822960"/>
          </a:xfrm>
          <a:prstGeom prst="rect">
            <a:avLst/>
          </a:prstGeom>
        </p:spPr>
        <p:txBody>
          <a:bodyPr anchor="t" rtlCol="false" tIns="0" lIns="0" bIns="0" rIns="0">
            <a:spAutoFit/>
          </a:bodyPr>
          <a:lstStyle/>
          <a:p>
            <a:pPr algn="l">
              <a:lnSpc>
                <a:spcPts val="2400"/>
              </a:lnSpc>
            </a:pPr>
            <a:r>
              <a:rPr lang="en-US" sz="2000">
                <a:solidFill>
                  <a:srgbClr val="BFD3FA"/>
                </a:solidFill>
                <a:latin typeface="Calibri (MS)"/>
                <a:ea typeface="Calibri (MS)"/>
                <a:cs typeface="Calibri (MS)"/>
                <a:sym typeface="Calibri (MS)"/>
              </a:rPr>
              <a:t>Narahubung pendaftaran: Abdullah Faqih Khoirudin (083169480244) · Geysar Ahmad Fadhil (085725881340) · Daffa Raditya Ramadhan (087850877256)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DAHW16_h09o</dc:identifier>
  <dcterms:modified xsi:type="dcterms:W3CDTF">2011-08-01T06:04:30Z</dcterms:modified>
  <cp:revision>1</cp:revision>
  <dc:title>Guidebook_MONE_Coding_Competition_Redesign_Tech.pptx</dc:title>
</cp:coreProperties>
</file>