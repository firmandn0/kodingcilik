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56" r:id="rId3"/>
    <p:sldId id="272" r:id="rId5"/>
    <p:sldId id="273" r:id="rId6"/>
    <p:sldId id="274" r:id="rId7"/>
    <p:sldId id="283" r:id="rId8"/>
    <p:sldId id="276" r:id="rId9"/>
    <p:sldId id="277" r:id="rId10"/>
    <p:sldId id="278" r:id="rId11"/>
    <p:sldId id="279" r:id="rId12"/>
    <p:sldId id="280" r:id="rId13"/>
    <p:sldId id="281" r:id="rId14"/>
    <p:sldId id="282" r:id="rId15"/>
    <p:sldId id="284" r:id="rId31"/>
    <p:sldId id="271" r:id="rId16"/>
  </p:sldIdLst>
  <p:sldSz cx="18288000" cy="10287000"/>
  <p:notesSz cx="6858000" cy="9144000"/>
  <p:embeddedFontLst>
    <p:embeddedFont>
      <p:font typeface="Consolas Bold" panose="020B0709020204030204"/>
      <p:bold r:id="rId20"/>
    </p:embeddedFont>
    <p:embeddedFont>
      <p:font typeface="Arial Bold" panose="020B0704020202020204"/>
      <p:bold r:id="rId21"/>
    </p:embeddedFont>
    <p:embeddedFont>
      <p:font typeface="Calibri (MS) Italics" panose="020F05020202040A0204"/>
      <p:italic r:id="rId22"/>
    </p:embeddedFont>
    <p:embeddedFont>
      <p:font typeface="Consolas" panose="020B0609020204030204"/>
      <p:regular r:id="rId23"/>
      <p:bold r:id="rId24"/>
      <p:italic r:id="rId25"/>
      <p:boldItalic r:id="rId26"/>
    </p:embeddedFont>
    <p:embeddedFont>
      <p:font typeface="Calibri" panose="020F0502020204030204" charset="0"/>
      <p:regular r:id="rId27"/>
      <p:bold r:id="rId28"/>
      <p:italic r:id="rId29"/>
      <p:boldItalic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5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5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font" Target="fonts/font11.fntdata"/><Relationship Id="rId3" Type="http://schemas.openxmlformats.org/officeDocument/2006/relationships/slide" Target="slides/slide1.xml"/><Relationship Id="rId29" Type="http://schemas.openxmlformats.org/officeDocument/2006/relationships/font" Target="fonts/font10.fntdata"/><Relationship Id="rId28" Type="http://schemas.openxmlformats.org/officeDocument/2006/relationships/font" Target="fonts/font9.fntdata"/><Relationship Id="rId27" Type="http://schemas.openxmlformats.org/officeDocument/2006/relationships/font" Target="fonts/font8.fntdata"/><Relationship Id="rId26" Type="http://schemas.openxmlformats.org/officeDocument/2006/relationships/font" Target="fonts/font7.fntdata"/><Relationship Id="rId25" Type="http://schemas.openxmlformats.org/officeDocument/2006/relationships/font" Target="fonts/font6.fntdata"/><Relationship Id="rId24" Type="http://schemas.openxmlformats.org/officeDocument/2006/relationships/font" Target="fonts/font5.fntdata"/><Relationship Id="rId23" Type="http://schemas.openxmlformats.org/officeDocument/2006/relationships/font" Target="fonts/font4.fntdata"/><Relationship Id="rId22" Type="http://schemas.openxmlformats.org/officeDocument/2006/relationships/font" Target="fonts/font3.fntdata"/><Relationship Id="rId21" Type="http://schemas.openxmlformats.org/officeDocument/2006/relationships/font" Target="fonts/font2.fntdata"/><Relationship Id="rId20" Type="http://schemas.openxmlformats.org/officeDocument/2006/relationships/font" Target="fonts/font1.fntdata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  <Relationship Id="rId31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14.xml.rels><?xml version="1.0" encoding="UTF-8" standalone="yes"?>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Relationship Id="rId3" Type="http://schemas.openxmlformats.org/officeDocument/2006/relationships/image" Target="../media/qr_tanya_jawab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 rot="0">
            <a:off x="12060555" y="2185035"/>
            <a:ext cx="5322570" cy="5322570"/>
            <a:chOff x="0" y="0"/>
            <a:chExt cx="7096760" cy="70967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096760" cy="7096760"/>
            </a:xfrm>
            <a:custGeom>
              <a:avLst/>
              <a:gdLst/>
              <a:ahLst/>
              <a:cxnLst/>
              <a:rect l="l" t="t" r="r" b="b"/>
              <a:pathLst>
                <a:path w="7096760" h="7096760">
                  <a:moveTo>
                    <a:pt x="0" y="367030"/>
                  </a:moveTo>
                  <a:cubicBezTo>
                    <a:pt x="0" y="164338"/>
                    <a:pt x="164338" y="0"/>
                    <a:pt x="367030" y="0"/>
                  </a:cubicBezTo>
                  <a:lnTo>
                    <a:pt x="6729730" y="0"/>
                  </a:lnTo>
                  <a:cubicBezTo>
                    <a:pt x="6932422" y="0"/>
                    <a:pt x="7096760" y="164338"/>
                    <a:pt x="7096760" y="367030"/>
                  </a:cubicBezTo>
                  <a:lnTo>
                    <a:pt x="7096760" y="6729730"/>
                  </a:lnTo>
                  <a:cubicBezTo>
                    <a:pt x="7096760" y="6932422"/>
                    <a:pt x="6932422" y="7096760"/>
                    <a:pt x="6729730" y="7096760"/>
                  </a:cubicBezTo>
                  <a:lnTo>
                    <a:pt x="367030" y="7096760"/>
                  </a:lnTo>
                  <a:cubicBezTo>
                    <a:pt x="164338" y="7096760"/>
                    <a:pt x="0" y="6932422"/>
                    <a:pt x="0" y="6729730"/>
                  </a:cubicBezTo>
                  <a:close/>
                </a:path>
              </a:pathLst>
            </a:custGeom>
            <a:solidFill>
              <a:srgbClr val="0F2A5E"/>
            </a:solidFill>
            <a:ln w="19050" cap="sq">
              <a:solidFill>
                <a:srgbClr val="3A66D8"/>
              </a:solidFill>
              <a:prstDash val="solid"/>
              <a:miter/>
            </a:ln>
          </p:spPr>
        </p:sp>
      </p:grpSp>
      <p:grpSp>
        <p:nvGrpSpPr>
          <p:cNvPr id="10" name="Group 10"/>
          <p:cNvGrpSpPr/>
          <p:nvPr/>
        </p:nvGrpSpPr>
        <p:grpSpPr>
          <a:xfrm rot="0">
            <a:off x="12423143" y="2474471"/>
            <a:ext cx="263147" cy="263147"/>
            <a:chOff x="0" y="0"/>
            <a:chExt cx="350863" cy="35086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50901" cy="350901"/>
            </a:xfrm>
            <a:custGeom>
              <a:avLst/>
              <a:gdLst/>
              <a:ahLst/>
              <a:cxnLst/>
              <a:rect l="l" t="t" r="r" b="b"/>
              <a:pathLst>
                <a:path w="350901" h="350901">
                  <a:moveTo>
                    <a:pt x="0" y="175387"/>
                  </a:moveTo>
                  <a:cubicBezTo>
                    <a:pt x="0" y="78486"/>
                    <a:pt x="78486" y="0"/>
                    <a:pt x="175387" y="0"/>
                  </a:cubicBezTo>
                  <a:cubicBezTo>
                    <a:pt x="272288" y="0"/>
                    <a:pt x="350901" y="78486"/>
                    <a:pt x="350901" y="175387"/>
                  </a:cubicBezTo>
                  <a:cubicBezTo>
                    <a:pt x="350901" y="272288"/>
                    <a:pt x="272288" y="350901"/>
                    <a:pt x="175387" y="350901"/>
                  </a:cubicBezTo>
                  <a:cubicBezTo>
                    <a:pt x="78486" y="350901"/>
                    <a:pt x="0" y="272288"/>
                    <a:pt x="0" y="175387"/>
                  </a:cubicBezTo>
                  <a:close/>
                </a:path>
              </a:pathLst>
            </a:custGeom>
            <a:solidFill>
              <a:srgbClr val="FFC81E"/>
            </a:solidFill>
            <a:ln w="25400" cap="sq">
              <a:solidFill>
                <a:srgbClr val="FFC81E"/>
              </a:solidFill>
              <a:prstDash val="solid"/>
              <a:miter/>
            </a:ln>
          </p:spPr>
        </p:sp>
      </p:grpSp>
      <p:grpSp>
        <p:nvGrpSpPr>
          <p:cNvPr id="12" name="Group 12"/>
          <p:cNvGrpSpPr/>
          <p:nvPr/>
        </p:nvGrpSpPr>
        <p:grpSpPr>
          <a:xfrm rot="0">
            <a:off x="12825479" y="2474471"/>
            <a:ext cx="263147" cy="263147"/>
            <a:chOff x="0" y="0"/>
            <a:chExt cx="350863" cy="35086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50901" cy="350901"/>
            </a:xfrm>
            <a:custGeom>
              <a:avLst/>
              <a:gdLst/>
              <a:ahLst/>
              <a:cxnLst/>
              <a:rect l="l" t="t" r="r" b="b"/>
              <a:pathLst>
                <a:path w="350901" h="350901">
                  <a:moveTo>
                    <a:pt x="0" y="175387"/>
                  </a:moveTo>
                  <a:cubicBezTo>
                    <a:pt x="0" y="78486"/>
                    <a:pt x="78486" y="0"/>
                    <a:pt x="175387" y="0"/>
                  </a:cubicBezTo>
                  <a:cubicBezTo>
                    <a:pt x="272288" y="0"/>
                    <a:pt x="350901" y="78486"/>
                    <a:pt x="350901" y="175387"/>
                  </a:cubicBezTo>
                  <a:cubicBezTo>
                    <a:pt x="350901" y="272288"/>
                    <a:pt x="272288" y="350901"/>
                    <a:pt x="175387" y="350901"/>
                  </a:cubicBezTo>
                  <a:cubicBezTo>
                    <a:pt x="78486" y="350901"/>
                    <a:pt x="0" y="272288"/>
                    <a:pt x="0" y="175387"/>
                  </a:cubicBezTo>
                  <a:close/>
                </a:path>
              </a:pathLst>
            </a:custGeom>
            <a:solidFill>
              <a:srgbClr val="FF6B6B"/>
            </a:solidFill>
            <a:ln w="25400" cap="sq">
              <a:solidFill>
                <a:srgbClr val="FF6B6B"/>
              </a:solidFill>
              <a:prstDash val="solid"/>
              <a:miter/>
            </a:ln>
          </p:spPr>
        </p:sp>
      </p:grpSp>
      <p:grpSp>
        <p:nvGrpSpPr>
          <p:cNvPr id="14" name="Group 14"/>
          <p:cNvGrpSpPr/>
          <p:nvPr/>
        </p:nvGrpSpPr>
        <p:grpSpPr>
          <a:xfrm rot="0">
            <a:off x="13227815" y="2474471"/>
            <a:ext cx="263147" cy="263147"/>
            <a:chOff x="0" y="0"/>
            <a:chExt cx="350863" cy="350863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350901" cy="350901"/>
            </a:xfrm>
            <a:custGeom>
              <a:avLst/>
              <a:gdLst/>
              <a:ahLst/>
              <a:cxnLst/>
              <a:rect l="l" t="t" r="r" b="b"/>
              <a:pathLst>
                <a:path w="350901" h="350901">
                  <a:moveTo>
                    <a:pt x="0" y="175387"/>
                  </a:moveTo>
                  <a:cubicBezTo>
                    <a:pt x="0" y="78486"/>
                    <a:pt x="78486" y="0"/>
                    <a:pt x="175387" y="0"/>
                  </a:cubicBezTo>
                  <a:cubicBezTo>
                    <a:pt x="272288" y="0"/>
                    <a:pt x="350901" y="78486"/>
                    <a:pt x="350901" y="175387"/>
                  </a:cubicBezTo>
                  <a:cubicBezTo>
                    <a:pt x="350901" y="272288"/>
                    <a:pt x="272288" y="350901"/>
                    <a:pt x="175387" y="350901"/>
                  </a:cubicBezTo>
                  <a:cubicBezTo>
                    <a:pt x="78486" y="350901"/>
                    <a:pt x="0" y="272288"/>
                    <a:pt x="0" y="175387"/>
                  </a:cubicBezTo>
                  <a:close/>
                </a:path>
              </a:pathLst>
            </a:custGeom>
            <a:solidFill>
              <a:srgbClr val="5BD18B"/>
            </a:solidFill>
            <a:ln w="25400" cap="sq">
              <a:solidFill>
                <a:srgbClr val="5BD18B"/>
              </a:solidFill>
              <a:prstDash val="solid"/>
              <a:miter/>
            </a:ln>
          </p:spPr>
        </p:sp>
      </p:grpSp>
      <p:grpSp>
        <p:nvGrpSpPr>
          <p:cNvPr id="16" name="Group 16"/>
          <p:cNvGrpSpPr/>
          <p:nvPr/>
        </p:nvGrpSpPr>
        <p:grpSpPr>
          <a:xfrm rot="0">
            <a:off x="12514583" y="3279143"/>
            <a:ext cx="2402843" cy="208283"/>
            <a:chOff x="0" y="0"/>
            <a:chExt cx="3203791" cy="27771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3203702" cy="277622"/>
            </a:xfrm>
            <a:custGeom>
              <a:avLst/>
              <a:gdLst/>
              <a:ahLst/>
              <a:cxnLst/>
              <a:rect l="l" t="t" r="r" b="b"/>
              <a:pathLst>
                <a:path w="320370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3064891" y="0"/>
                  </a:lnTo>
                  <a:cubicBezTo>
                    <a:pt x="3141599" y="0"/>
                    <a:pt x="3203702" y="62230"/>
                    <a:pt x="3203702" y="138811"/>
                  </a:cubicBezTo>
                  <a:cubicBezTo>
                    <a:pt x="3203702" y="215392"/>
                    <a:pt x="3141472" y="277622"/>
                    <a:pt x="3064891" y="277622"/>
                  </a:cubicBez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5B8DEF"/>
            </a:solidFill>
            <a:ln w="25400" cap="sq">
              <a:solidFill>
                <a:srgbClr val="5B8DEF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 rot="0">
            <a:off x="13063223" y="3791207"/>
            <a:ext cx="3317243" cy="208283"/>
            <a:chOff x="0" y="0"/>
            <a:chExt cx="4422991" cy="277711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4422902" cy="277622"/>
            </a:xfrm>
            <a:custGeom>
              <a:avLst/>
              <a:gdLst/>
              <a:ahLst/>
              <a:cxnLst/>
              <a:rect l="l" t="t" r="r" b="b"/>
              <a:pathLst>
                <a:path w="442290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4284091" y="0"/>
                  </a:lnTo>
                  <a:cubicBezTo>
                    <a:pt x="4360799" y="0"/>
                    <a:pt x="4422902" y="62230"/>
                    <a:pt x="4422902" y="138811"/>
                  </a:cubicBezTo>
                  <a:cubicBezTo>
                    <a:pt x="4422902" y="215392"/>
                    <a:pt x="4360672" y="277622"/>
                    <a:pt x="4284091" y="277622"/>
                  </a:cubicBez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FFC81E"/>
            </a:solidFill>
            <a:ln w="25400" cap="sq">
              <a:solidFill>
                <a:srgbClr val="FFC81E"/>
              </a:solidFill>
              <a:prstDash val="solid"/>
              <a:miter/>
            </a:ln>
          </p:spPr>
        </p:sp>
      </p:grpSp>
      <p:grpSp>
        <p:nvGrpSpPr>
          <p:cNvPr id="20" name="Group 20"/>
          <p:cNvGrpSpPr/>
          <p:nvPr/>
        </p:nvGrpSpPr>
        <p:grpSpPr>
          <a:xfrm rot="0">
            <a:off x="13063223" y="4303271"/>
            <a:ext cx="2037083" cy="208283"/>
            <a:chOff x="0" y="0"/>
            <a:chExt cx="2716111" cy="277711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716022" cy="277622"/>
            </a:xfrm>
            <a:custGeom>
              <a:avLst/>
              <a:gdLst/>
              <a:ahLst/>
              <a:cxnLst/>
              <a:rect l="l" t="t" r="r" b="b"/>
              <a:pathLst>
                <a:path w="271602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2577211" y="0"/>
                  </a:lnTo>
                  <a:cubicBezTo>
                    <a:pt x="2653919" y="0"/>
                    <a:pt x="2716022" y="62230"/>
                    <a:pt x="2716022" y="138811"/>
                  </a:cubicBezTo>
                  <a:cubicBezTo>
                    <a:pt x="2716022" y="215392"/>
                    <a:pt x="2653792" y="277622"/>
                    <a:pt x="2577211" y="277622"/>
                  </a:cubicBez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2" name="Group 22"/>
          <p:cNvGrpSpPr/>
          <p:nvPr/>
        </p:nvGrpSpPr>
        <p:grpSpPr>
          <a:xfrm rot="0">
            <a:off x="13611863" y="4815335"/>
            <a:ext cx="3683003" cy="208283"/>
            <a:chOff x="0" y="0"/>
            <a:chExt cx="4910671" cy="277711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4910582" cy="277622"/>
            </a:xfrm>
            <a:custGeom>
              <a:avLst/>
              <a:gdLst/>
              <a:ahLst/>
              <a:cxnLst/>
              <a:rect l="l" t="t" r="r" b="b"/>
              <a:pathLst>
                <a:path w="491058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4771771" y="0"/>
                  </a:lnTo>
                  <a:cubicBezTo>
                    <a:pt x="4848479" y="0"/>
                    <a:pt x="4910582" y="62230"/>
                    <a:pt x="4910582" y="138811"/>
                  </a:cubicBezTo>
                  <a:cubicBezTo>
                    <a:pt x="4910582" y="215392"/>
                    <a:pt x="4848352" y="277622"/>
                    <a:pt x="4771771" y="277622"/>
                  </a:cubicBez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5B8DEF"/>
            </a:solidFill>
            <a:ln w="25400" cap="sq">
              <a:solidFill>
                <a:srgbClr val="5B8DEF"/>
              </a:solidFill>
              <a:prstDash val="solid"/>
              <a:miter/>
            </a:ln>
          </p:spPr>
        </p:sp>
      </p:grpSp>
      <p:grpSp>
        <p:nvGrpSpPr>
          <p:cNvPr id="24" name="Group 24"/>
          <p:cNvGrpSpPr/>
          <p:nvPr/>
        </p:nvGrpSpPr>
        <p:grpSpPr>
          <a:xfrm rot="0">
            <a:off x="13611863" y="5327399"/>
            <a:ext cx="1305563" cy="208283"/>
            <a:chOff x="0" y="0"/>
            <a:chExt cx="1740751" cy="277711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740662" cy="277622"/>
            </a:xfrm>
            <a:custGeom>
              <a:avLst/>
              <a:gdLst/>
              <a:ahLst/>
              <a:cxnLst/>
              <a:rect l="l" t="t" r="r" b="b"/>
              <a:pathLst>
                <a:path w="174066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1601851" y="0"/>
                  </a:lnTo>
                  <a:cubicBezTo>
                    <a:pt x="1678559" y="0"/>
                    <a:pt x="1740662" y="62230"/>
                    <a:pt x="1740662" y="138811"/>
                  </a:cubicBezTo>
                  <a:cubicBezTo>
                    <a:pt x="1740662" y="215392"/>
                    <a:pt x="1678432" y="277622"/>
                    <a:pt x="1601851" y="277622"/>
                  </a:cubicBez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FFC81E"/>
            </a:solidFill>
            <a:ln w="25400" cap="sq">
              <a:solidFill>
                <a:srgbClr val="FFC81E"/>
              </a:solidFill>
              <a:prstDash val="solid"/>
              <a:miter/>
            </a:ln>
          </p:spPr>
        </p:sp>
      </p:grpSp>
      <p:grpSp>
        <p:nvGrpSpPr>
          <p:cNvPr id="26" name="Group 26"/>
          <p:cNvGrpSpPr/>
          <p:nvPr/>
        </p:nvGrpSpPr>
        <p:grpSpPr>
          <a:xfrm rot="0">
            <a:off x="13063223" y="5839463"/>
            <a:ext cx="2768603" cy="208283"/>
            <a:chOff x="0" y="0"/>
            <a:chExt cx="3691471" cy="277711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3691382" cy="277622"/>
            </a:xfrm>
            <a:custGeom>
              <a:avLst/>
              <a:gdLst/>
              <a:ahLst/>
              <a:cxnLst/>
              <a:rect l="l" t="t" r="r" b="b"/>
              <a:pathLst>
                <a:path w="369138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3552571" y="0"/>
                  </a:lnTo>
                  <a:cubicBezTo>
                    <a:pt x="3629279" y="0"/>
                    <a:pt x="3691382" y="62230"/>
                    <a:pt x="3691382" y="138811"/>
                  </a:cubicBezTo>
                  <a:cubicBezTo>
                    <a:pt x="3691382" y="215392"/>
                    <a:pt x="3629152" y="277622"/>
                    <a:pt x="3552571" y="277622"/>
                  </a:cubicBez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id="28" name="Group 28"/>
          <p:cNvGrpSpPr/>
          <p:nvPr/>
        </p:nvGrpSpPr>
        <p:grpSpPr>
          <a:xfrm rot="0">
            <a:off x="12514583" y="6351527"/>
            <a:ext cx="1671323" cy="208283"/>
            <a:chOff x="0" y="0"/>
            <a:chExt cx="2228431" cy="277711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2228342" cy="277622"/>
            </a:xfrm>
            <a:custGeom>
              <a:avLst/>
              <a:gdLst/>
              <a:ahLst/>
              <a:cxnLst/>
              <a:rect l="l" t="t" r="r" b="b"/>
              <a:pathLst>
                <a:path w="222834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2089531" y="0"/>
                  </a:lnTo>
                  <a:cubicBezTo>
                    <a:pt x="2166239" y="0"/>
                    <a:pt x="2228342" y="62230"/>
                    <a:pt x="2228342" y="138811"/>
                  </a:cubicBezTo>
                  <a:cubicBezTo>
                    <a:pt x="2228342" y="215392"/>
                    <a:pt x="2166112" y="277622"/>
                    <a:pt x="2089531" y="277622"/>
                  </a:cubicBez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5B8DEF"/>
            </a:solidFill>
            <a:ln w="25400" cap="sq">
              <a:solidFill>
                <a:srgbClr val="5B8DEF"/>
              </a:solidFill>
              <a:prstDash val="solid"/>
              <a:miter/>
            </a:ln>
          </p:spPr>
        </p:sp>
      </p:grpSp>
      <p:grpSp>
        <p:nvGrpSpPr>
          <p:cNvPr id="30" name="Group 30"/>
          <p:cNvGrpSpPr/>
          <p:nvPr/>
        </p:nvGrpSpPr>
        <p:grpSpPr>
          <a:xfrm rot="0">
            <a:off x="12514583" y="6863591"/>
            <a:ext cx="3500123" cy="208283"/>
            <a:chOff x="0" y="0"/>
            <a:chExt cx="4666831" cy="277711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4666742" cy="277622"/>
            </a:xfrm>
            <a:custGeom>
              <a:avLst/>
              <a:gdLst/>
              <a:ahLst/>
              <a:cxnLst/>
              <a:rect l="l" t="t" r="r" b="b"/>
              <a:pathLst>
                <a:path w="4666742" h="277622">
                  <a:moveTo>
                    <a:pt x="0" y="138811"/>
                  </a:moveTo>
                  <a:cubicBezTo>
                    <a:pt x="0" y="62230"/>
                    <a:pt x="62230" y="0"/>
                    <a:pt x="138811" y="0"/>
                  </a:cubicBezTo>
                  <a:lnTo>
                    <a:pt x="4527931" y="0"/>
                  </a:lnTo>
                  <a:cubicBezTo>
                    <a:pt x="4604639" y="0"/>
                    <a:pt x="4666742" y="62230"/>
                    <a:pt x="4666742" y="138811"/>
                  </a:cubicBezTo>
                  <a:cubicBezTo>
                    <a:pt x="4666742" y="215392"/>
                    <a:pt x="4604512" y="277622"/>
                    <a:pt x="4527931" y="277622"/>
                  </a:cubicBezTo>
                  <a:lnTo>
                    <a:pt x="138811" y="277622"/>
                  </a:lnTo>
                  <a:cubicBezTo>
                    <a:pt x="62230" y="277749"/>
                    <a:pt x="0" y="215519"/>
                    <a:pt x="0" y="138811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id="32" name="Freeform 32"/>
          <p:cNvSpPr/>
          <p:nvPr/>
        </p:nvSpPr>
        <p:spPr>
          <a:xfrm>
            <a:off x="688506" y="205740"/>
            <a:ext cx="7761228" cy="1746276"/>
          </a:xfrm>
          <a:custGeom>
            <a:avLst/>
            <a:gdLst/>
            <a:ahLst/>
            <a:cxnLst/>
            <a:rect l="l" t="t" r="r" b="b"/>
            <a:pathLst>
              <a:path w="7761228" h="1746276">
                <a:moveTo>
                  <a:pt x="0" y="0"/>
                </a:moveTo>
                <a:lnTo>
                  <a:pt x="7761228" y="0"/>
                </a:lnTo>
                <a:lnTo>
                  <a:pt x="7761228" y="1746276"/>
                </a:lnTo>
                <a:lnTo>
                  <a:pt x="0" y="17462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TextBox 33"/>
          <p:cNvSpPr txBox="1"/>
          <p:nvPr/>
        </p:nvSpPr>
        <p:spPr>
          <a:xfrm>
            <a:off x="1280160" y="2055495"/>
            <a:ext cx="9144000" cy="596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1" spc="599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TECHNICAL MEETING</a:t>
            </a:r>
            <a:endParaRPr lang="en-US" sz="2200" b="1" spc="599">
              <a:solidFill>
                <a:srgbClr val="FFC81E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34" name="Freeform 34"/>
          <p:cNvSpPr/>
          <p:nvPr/>
        </p:nvSpPr>
        <p:spPr>
          <a:xfrm>
            <a:off x="2484532" y="36584"/>
            <a:ext cx="2084588" cy="2084588"/>
          </a:xfrm>
          <a:custGeom>
            <a:avLst/>
            <a:gdLst/>
            <a:ahLst/>
            <a:cxnLst/>
            <a:rect l="l" t="t" r="r" b="b"/>
            <a:pathLst>
              <a:path w="2084588" h="2084588">
                <a:moveTo>
                  <a:pt x="0" y="0"/>
                </a:moveTo>
                <a:lnTo>
                  <a:pt x="2084588" y="0"/>
                </a:lnTo>
                <a:lnTo>
                  <a:pt x="2084588" y="2084588"/>
                </a:lnTo>
                <a:lnTo>
                  <a:pt x="0" y="2084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>
            <a:off x="1418041" y="354026"/>
            <a:ext cx="1066491" cy="1449705"/>
          </a:xfrm>
          <a:custGeom>
            <a:avLst/>
            <a:gdLst/>
            <a:ahLst/>
            <a:cxnLst/>
            <a:rect l="l" t="t" r="r" b="b"/>
            <a:pathLst>
              <a:path w="1066491" h="1449705">
                <a:moveTo>
                  <a:pt x="0" y="0"/>
                </a:moveTo>
                <a:lnTo>
                  <a:pt x="1066491" y="0"/>
                </a:lnTo>
                <a:lnTo>
                  <a:pt x="1066491" y="1449705"/>
                </a:lnTo>
                <a:lnTo>
                  <a:pt x="0" y="14497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>
            <a:off x="5622241" y="607333"/>
            <a:ext cx="2600550" cy="943091"/>
          </a:xfrm>
          <a:custGeom>
            <a:avLst/>
            <a:gdLst/>
            <a:ahLst/>
            <a:cxnLst/>
            <a:rect l="l" t="t" r="r" b="b"/>
            <a:pathLst>
              <a:path w="2600550" h="943091">
                <a:moveTo>
                  <a:pt x="0" y="0"/>
                </a:moveTo>
                <a:lnTo>
                  <a:pt x="2600550" y="0"/>
                </a:lnTo>
                <a:lnTo>
                  <a:pt x="2600550" y="943091"/>
                </a:lnTo>
                <a:lnTo>
                  <a:pt x="0" y="9430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4543940" y="324580"/>
            <a:ext cx="1078301" cy="1479151"/>
          </a:xfrm>
          <a:custGeom>
            <a:avLst/>
            <a:gdLst/>
            <a:ahLst/>
            <a:cxnLst/>
            <a:rect l="l" t="t" r="r" b="b"/>
            <a:pathLst>
              <a:path w="1078301" h="1479151">
                <a:moveTo>
                  <a:pt x="0" y="0"/>
                </a:moveTo>
                <a:lnTo>
                  <a:pt x="1078301" y="0"/>
                </a:lnTo>
                <a:lnTo>
                  <a:pt x="1078301" y="1479151"/>
                </a:lnTo>
                <a:lnTo>
                  <a:pt x="0" y="147915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13446010" y="7224095"/>
            <a:ext cx="3308593" cy="3308593"/>
          </a:xfrm>
          <a:custGeom>
            <a:avLst/>
            <a:gdLst/>
            <a:ahLst/>
            <a:cxnLst/>
            <a:rect l="l" t="t" r="r" b="b"/>
            <a:pathLst>
              <a:path w="3308593" h="3308593">
                <a:moveTo>
                  <a:pt x="0" y="0"/>
                </a:moveTo>
                <a:lnTo>
                  <a:pt x="3308593" y="0"/>
                </a:lnTo>
                <a:lnTo>
                  <a:pt x="3308593" y="3308593"/>
                </a:lnTo>
                <a:lnTo>
                  <a:pt x="0" y="33085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39" name="TextBox 39"/>
          <p:cNvSpPr txBox="1"/>
          <p:nvPr/>
        </p:nvSpPr>
        <p:spPr>
          <a:xfrm>
            <a:off x="1280160" y="2806065"/>
            <a:ext cx="10241280" cy="2771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60"/>
              </a:lnSpc>
            </a:pPr>
            <a:r>
              <a:rPr lang="en-US" sz="5600" b="1">
                <a:solidFill>
                  <a:srgbClr val="FFFFFF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M-ONE TELKOMSEL</a:t>
            </a:r>
            <a:endParaRPr lang="en-US" sz="5600" b="1">
              <a:solidFill>
                <a:srgbClr val="FFFFFF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  <a:p>
            <a:pPr algn="l">
              <a:lnSpc>
                <a:spcPts val="8160"/>
              </a:lnSpc>
            </a:pPr>
            <a:r>
              <a:rPr lang="en-US" sz="5600" b="1">
                <a:solidFill>
                  <a:srgbClr val="FFFFFF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CODING COMPETITION</a:t>
            </a:r>
            <a:endParaRPr lang="en-US" sz="5600" b="1">
              <a:solidFill>
                <a:srgbClr val="FFFFFF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1280160" y="6217920"/>
            <a:ext cx="9875520" cy="7886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i="1">
                <a:solidFill>
                  <a:srgbClr val="FFD966"/>
                </a:solidFill>
                <a:latin typeface="Calibri (MS) Italics" panose="020F05020202040A0204"/>
                <a:ea typeface="Calibri (MS) Italics" panose="020F05020202040A0204"/>
                <a:cs typeface="Calibri (MS) Italics" panose="020F05020202040A0204"/>
                <a:sym typeface="Calibri (MS) Italics" panose="020F05020202040A0204"/>
              </a:rPr>
              <a:t>4 Oktober 2026 · Daring</a:t>
            </a:r>
            <a:endParaRPr lang="en-US" sz="3200" i="1">
              <a:solidFill>
                <a:srgbClr val="FFD966"/>
              </a:solidFill>
              <a:latin typeface="Calibri (MS) Italics" panose="020F05020202040A0204"/>
              <a:ea typeface="Calibri (MS) Italics" panose="020F05020202040A0204"/>
              <a:cs typeface="Calibri (MS) Italics" panose="020F05020202040A0204"/>
              <a:sym typeface="Calibri (MS) Italics" panose="020F05020202040A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901703" y="682247"/>
            <a:ext cx="976379" cy="976379"/>
            <a:chOff x="0" y="0"/>
            <a:chExt cx="1301839" cy="13018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433" y="0"/>
                  </a:lnTo>
                  <a:cubicBezTo>
                    <a:pt x="1189736" y="0"/>
                    <a:pt x="1301750" y="112141"/>
                    <a:pt x="1301750" y="250317"/>
                  </a:cubicBezTo>
                  <a:lnTo>
                    <a:pt x="1301750" y="1051433"/>
                  </a:lnTo>
                  <a:cubicBezTo>
                    <a:pt x="1301750" y="1189736"/>
                    <a:pt x="1189609" y="1301750"/>
                    <a:pt x="1051433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448C8"/>
            </a:solidFill>
            <a:ln w="25400" cap="sq">
              <a:solidFill>
                <a:srgbClr val="1448C8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 rot="0">
            <a:off x="914400" y="694944"/>
            <a:ext cx="950976" cy="950976"/>
            <a:chOff x="0" y="0"/>
            <a:chExt cx="1267968" cy="1267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C81E"/>
                  </a:solidFill>
                  <a:latin typeface="Consolas Bold" panose="020B0709020204030204"/>
                  <a:ea typeface="Consolas Bold" panose="020B0709020204030204"/>
                  <a:cs typeface="Consolas Bold" panose="020B0709020204030204"/>
                  <a:sym typeface="Consolas Bold" panose="020B0709020204030204"/>
                </a:rPr>
                <a:t>02</a:t>
              </a:r>
              <a:endParaRPr lang="en-US" sz="26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194560" y="621792"/>
            <a:ext cx="15179040" cy="731520"/>
            <a:chOff x="0" y="0"/>
            <a:chExt cx="2023872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38720" cy="975360"/>
            </a:xfrm>
            <a:custGeom>
              <a:avLst/>
              <a:gdLst/>
              <a:ahLst/>
              <a:cxnLst/>
              <a:rect l="l" t="t" r="r" b="b"/>
              <a:pathLst>
                <a:path w="20238720" h="97536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4314" b="-354314"/>
              </a:stretch>
            </a:blipFill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2387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0A1F44"/>
                  </a:solidFill>
                  <a:latin typeface="Arial Bold" panose="020B0704020202020204"/>
                  <a:ea typeface="Arial Bold" panose="020B0704020202020204"/>
                  <a:cs typeface="Arial Bold" panose="020B0704020202020204"/>
                  <a:sym typeface="Arial Bold" panose="020B0704020202020204"/>
                </a:rPr>
                <a:t>SMP · School Website Innovation</a:t>
              </a:r>
              <a:endParaRPr lang="en-US" sz="4800" b="1">
                <a:solidFill>
                  <a:srgbClr val="0A1F44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617964"/>
            <a:ext cx="109728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8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M-ONE TELKOMSEL CODING COMPETITION</a:t>
            </a:r>
            <a:endParaRPr lang="en-US" sz="1600">
              <a:solidFill>
                <a:srgbClr val="5B6B8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76320" y="9617964"/>
            <a:ext cx="109728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lang="en-US" sz="1600" b="1">
                <a:solidFill>
                  <a:srgbClr val="1448C8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1600" b="1">
              <a:solidFill>
                <a:srgbClr val="1448C8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59" y="2194560"/>
            <a:ext cx="3840479" cy="2331720"/>
          </a:xfrm>
          <a:prstGeom prst="roundRect">
            <a:avLst>
              <a:gd name="adj" fmla="val 42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194560"/>
            <a:ext cx="3840479" cy="2331720"/>
          </a:xfrm>
          <a:prstGeom prst="rect">
            <a:avLst/>
          </a:prstGeom>
          <a:noFill/>
        </p:spPr>
        <p:txBody>
          <a:bodyPr wrap="square" lIns="274320" tIns="274320" rIns="274320" bIns="27432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000" b="1">
                <a:solidFill>
                  <a:srgbClr val="FFFFFF"/>
                </a:solidFill>
                <a:latin typeface="Arial" panose="020B0604020202020204"/>
              </a:rPr>
              <a:t>Siswa Aktif SMP Sukoharjo &amp; Sekitarnya</a:t>
            </a:r>
            <a:endParaRPr sz="3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74920" y="2194560"/>
            <a:ext cx="3840479" cy="233172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194560"/>
            <a:ext cx="3840479" cy="2331720"/>
          </a:xfrm>
          <a:prstGeom prst="rect">
            <a:avLst/>
          </a:prstGeom>
          <a:noFill/>
        </p:spPr>
        <p:txBody>
          <a:bodyPr wrap="square" lIns="274320" tIns="274320" rIns="274320" bIns="27432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000" b="1">
                <a:solidFill>
                  <a:srgbClr val="0A1F44"/>
                </a:solidFill>
                <a:latin typeface="Arial" panose="020B0604020202020204"/>
              </a:rPr>
              <a:t>Individu</a:t>
            </a:r>
            <a:endParaRPr sz="30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326880" y="2194560"/>
            <a:ext cx="3840479" cy="233172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194560"/>
            <a:ext cx="3840479" cy="2331720"/>
          </a:xfrm>
          <a:prstGeom prst="rect">
            <a:avLst/>
          </a:prstGeom>
          <a:noFill/>
        </p:spPr>
        <p:txBody>
          <a:bodyPr wrap="square" lIns="274320" tIns="274320" rIns="274320" bIns="27432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000" b="1">
                <a:solidFill>
                  <a:srgbClr val="0A1F44"/>
                </a:solidFill>
                <a:latin typeface="Arial" panose="020B0604020202020204"/>
              </a:rPr>
              <a:t>Kartu Pelajar / Surat Aktif</a:t>
            </a:r>
            <a:endParaRPr sz="30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3578839" y="2194560"/>
            <a:ext cx="3840479" cy="233172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78839" y="2194560"/>
            <a:ext cx="3840479" cy="2331720"/>
          </a:xfrm>
          <a:prstGeom prst="rect">
            <a:avLst/>
          </a:prstGeom>
          <a:noFill/>
        </p:spPr>
        <p:txBody>
          <a:bodyPr wrap="square" lIns="274320" tIns="274320" rIns="274320" bIns="27432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000" b="1">
                <a:solidFill>
                  <a:srgbClr val="0A1F44"/>
                </a:solidFill>
                <a:latin typeface="Arial" panose="020B0604020202020204"/>
              </a:rPr>
              <a:t>Karya Orisinal</a:t>
            </a:r>
            <a:endParaRPr sz="30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008414" y="6655917"/>
            <a:ext cx="14225451" cy="93268"/>
          </a:xfrm>
          <a:prstGeom prst="rect">
            <a:avLst/>
          </a:prstGeom>
          <a:solidFill>
            <a:srgbClr val="D6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536691"/>
            <a:ext cx="237090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1448C8"/>
                </a:solidFill>
                <a:latin typeface="Arial" panose="020B0604020202020204"/>
              </a:rPr>
              <a:t>4 OKT</a:t>
            </a:r>
            <a:endParaRPr sz="22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1775242" y="6438290"/>
            <a:ext cx="466344" cy="528523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" y="7246619"/>
            <a:ext cx="2096588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TM Peserta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193868" y="5536691"/>
            <a:ext cx="237090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1448C8"/>
                </a:solidFill>
                <a:latin typeface="Arial" panose="020B0604020202020204"/>
              </a:rPr>
              <a:t>5 OKT</a:t>
            </a:r>
            <a:endParaRPr sz="22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146150" y="6438290"/>
            <a:ext cx="466344" cy="528523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1028" y="7246619"/>
            <a:ext cx="2096588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Mulai 09.30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564777" y="5536691"/>
            <a:ext cx="237090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1448C8"/>
                </a:solidFill>
                <a:latin typeface="Arial" panose="020B0604020202020204"/>
              </a:rPr>
              <a:t>24 OKT</a:t>
            </a:r>
            <a:endParaRPr sz="22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6517059" y="6438290"/>
            <a:ext cx="466344" cy="528523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701937" y="7246619"/>
            <a:ext cx="2096588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Batas Kumpul 15.30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935685" y="5536691"/>
            <a:ext cx="237090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1448C8"/>
                </a:solidFill>
                <a:latin typeface="Arial" panose="020B0604020202020204"/>
              </a:rPr>
              <a:t>25 OKT–13 NOV</a:t>
            </a:r>
            <a:endParaRPr sz="22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8887967" y="6438290"/>
            <a:ext cx="466344" cy="528523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72845" y="7246619"/>
            <a:ext cx="2096588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Penilaian Juri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0306594" y="5536691"/>
            <a:ext cx="237090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1448C8"/>
                </a:solidFill>
                <a:latin typeface="Arial" panose="020B0604020202020204"/>
              </a:rPr>
              <a:t>14 NOV</a:t>
            </a:r>
            <a:endParaRPr sz="22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1258876" y="6438290"/>
            <a:ext cx="466344" cy="528523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43754" y="7246619"/>
            <a:ext cx="2096588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10 Besar Diumumkan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2677502" y="5536691"/>
            <a:ext cx="237090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1448C8"/>
                </a:solidFill>
                <a:latin typeface="Arial" panose="020B0604020202020204"/>
              </a:rPr>
              <a:t>9 DES</a:t>
            </a:r>
            <a:endParaRPr sz="22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13629785" y="6438290"/>
            <a:ext cx="466344" cy="528523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814662" y="7246619"/>
            <a:ext cx="2096588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TM Finalis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5048411" y="5536691"/>
            <a:ext cx="2370908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0A1F44"/>
                </a:solidFill>
                <a:latin typeface="Arial" panose="020B0604020202020204"/>
              </a:rPr>
              <a:t>12 DES</a:t>
            </a:r>
            <a:endParaRPr sz="22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42" name="Oval 41"/>
          <p:cNvSpPr/>
          <p:nvPr/>
        </p:nvSpPr>
        <p:spPr>
          <a:xfrm>
            <a:off x="16000693" y="6438290"/>
            <a:ext cx="466344" cy="528523"/>
          </a:xfrm>
          <a:prstGeom prst="ellipse">
            <a:avLst/>
          </a:prstGeom>
          <a:solidFill>
            <a:srgbClr val="FFC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5185571" y="7246619"/>
            <a:ext cx="2096588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Final Luring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7620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901703" y="682247"/>
            <a:ext cx="976379" cy="976379"/>
            <a:chOff x="0" y="0"/>
            <a:chExt cx="1301839" cy="13018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433" y="0"/>
                  </a:lnTo>
                  <a:cubicBezTo>
                    <a:pt x="1189736" y="0"/>
                    <a:pt x="1301750" y="112141"/>
                    <a:pt x="1301750" y="250317"/>
                  </a:cubicBezTo>
                  <a:lnTo>
                    <a:pt x="1301750" y="1051433"/>
                  </a:lnTo>
                  <a:cubicBezTo>
                    <a:pt x="1301750" y="1189736"/>
                    <a:pt x="1189609" y="1301750"/>
                    <a:pt x="1051433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448C8"/>
            </a:solidFill>
            <a:ln w="25400" cap="sq">
              <a:solidFill>
                <a:srgbClr val="1448C8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 rot="0">
            <a:off x="914400" y="694944"/>
            <a:ext cx="950976" cy="950976"/>
            <a:chOff x="0" y="0"/>
            <a:chExt cx="1267968" cy="1267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C81E"/>
                  </a:solidFill>
                  <a:latin typeface="Consolas Bold" panose="020B0709020204030204"/>
                  <a:ea typeface="Consolas Bold" panose="020B0709020204030204"/>
                  <a:cs typeface="Consolas Bold" panose="020B0709020204030204"/>
                  <a:sym typeface="Consolas Bold" panose="020B0709020204030204"/>
                </a:rPr>
                <a:t>03</a:t>
              </a:r>
              <a:endParaRPr lang="en-US" sz="26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194560" y="621792"/>
            <a:ext cx="15179040" cy="731520"/>
            <a:chOff x="0" y="0"/>
            <a:chExt cx="2023872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38720" cy="975360"/>
            </a:xfrm>
            <a:custGeom>
              <a:avLst/>
              <a:gdLst/>
              <a:ahLst/>
              <a:cxnLst/>
              <a:rect l="l" t="t" r="r" b="b"/>
              <a:pathLst>
                <a:path w="20238720" h="97536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4314" b="-354314"/>
              </a:stretch>
            </a:blipFill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2387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0A1F44"/>
                  </a:solidFill>
                  <a:latin typeface="Arial Bold" panose="020B0704020202020204"/>
                  <a:ea typeface="Arial Bold" panose="020B0704020202020204"/>
                  <a:cs typeface="Arial Bold" panose="020B0704020202020204"/>
                  <a:sym typeface="Arial Bold" panose="020B0704020202020204"/>
                </a:rPr>
                <a:t>SMP · 6 Poin Wajib</a:t>
              </a:r>
              <a:endParaRPr lang="en-US" sz="4800" b="1">
                <a:solidFill>
                  <a:srgbClr val="0A1F44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617964"/>
            <a:ext cx="109728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8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M-ONE TELKOMSEL CODING COMPETITION</a:t>
            </a:r>
            <a:endParaRPr lang="en-US" sz="1600">
              <a:solidFill>
                <a:srgbClr val="5B6B8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76320" y="9617964"/>
            <a:ext cx="109728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lang="en-US" sz="1600" b="1">
                <a:solidFill>
                  <a:srgbClr val="1448C8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1600" b="1">
              <a:solidFill>
                <a:srgbClr val="1448C8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59" y="2194560"/>
            <a:ext cx="3387852" cy="310896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097280" y="2505456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505456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01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97280" y="3671315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Catatan Rencana Website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4485132" y="2194560"/>
            <a:ext cx="3387852" cy="310896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759452" y="2505456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9452" y="2505456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02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759452" y="3671315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GitHub Public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147304" y="2194560"/>
            <a:ext cx="3387852" cy="310896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421624" y="2505456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21624" y="2505456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03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421624" y="3671315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Catatan Prompt + Debugging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22959" y="5614416"/>
            <a:ext cx="3387852" cy="310896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5925312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5925312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04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097280" y="7091172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HTML + CSS + JS Native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4485132" y="5614416"/>
            <a:ext cx="3387852" cy="310896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59452" y="5925312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9452" y="5925312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05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759452" y="7091172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Seluruh Section Wajib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147304" y="5614416"/>
            <a:ext cx="3387852" cy="310896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421624" y="5925312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21624" y="5925312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06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421624" y="7091172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Deploy: Vercel / Server Panitia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2344400" y="2194560"/>
            <a:ext cx="5074920" cy="6528816"/>
          </a:xfrm>
          <a:prstGeom prst="roundRect">
            <a:avLst>
              <a:gd name="adj" fmla="val 42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44400" y="2194560"/>
            <a:ext cx="5074920" cy="6528816"/>
          </a:xfrm>
          <a:prstGeom prst="rect">
            <a:avLst/>
          </a:prstGeom>
          <a:noFill/>
        </p:spPr>
        <p:txBody>
          <a:bodyPr wrap="square" lIns="411479" tIns="411479" rIns="411479" bIns="411479" anchor="t">
            <a:spAutoFit/>
          </a:bodyPr>
          <a:lstStyle/>
          <a:p>
            <a:pPr algn="l">
              <a:spcAft>
                <a:spcPts val="555"/>
              </a:spcAft>
            </a:pPr>
            <a:r>
              <a:rPr sz="2600" b="1">
                <a:solidFill>
                  <a:srgbClr val="FFC81E"/>
                </a:solidFill>
                <a:latin typeface="Arial" panose="020B0604020202020204"/>
              </a:rPr>
              <a:t>BATAS AKHIR</a:t>
            </a:r>
            <a:endParaRPr sz="26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6300" b="1">
                <a:solidFill>
                  <a:srgbClr val="FFFFFF"/>
                </a:solidFill>
                <a:latin typeface="Arial" panose="020B0604020202020204"/>
              </a:rPr>
              <a:t>24 OKT</a:t>
            </a:r>
            <a:endParaRPr sz="63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4100" b="0">
                <a:solidFill>
                  <a:srgbClr val="FFFFFF"/>
                </a:solidFill>
                <a:latin typeface="Arial" panose="020B0604020202020204"/>
              </a:rPr>
              <a:t>15.30 WIB</a:t>
            </a:r>
            <a:endParaRPr sz="41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</a:p>
          <a:p>
            <a:pPr algn="l">
              <a:spcAft>
                <a:spcPts val="555"/>
              </a:spcAft>
            </a:pPr>
            <a:r>
              <a:rPr sz="2600" b="1">
                <a:solidFill>
                  <a:srgbClr val="FFC81E"/>
                </a:solidFill>
                <a:latin typeface="Arial" panose="020B0604020202020204"/>
              </a:rPr>
              <a:t>KUMPULKAN</a:t>
            </a:r>
            <a:endParaRPr sz="26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2600" b="0">
                <a:solidFill>
                  <a:srgbClr val="FFFFFF"/>
                </a:solidFill>
                <a:latin typeface="Arial" panose="020B0604020202020204"/>
              </a:rPr>
              <a:t>Link GitHub (Public)</a:t>
            </a:r>
            <a:endParaRPr sz="26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2600" b="0">
                <a:solidFill>
                  <a:srgbClr val="FFFFFF"/>
                </a:solidFill>
                <a:latin typeface="Arial" panose="020B0604020202020204"/>
              </a:rPr>
              <a:t>Catatan Rencana</a:t>
            </a:r>
            <a:endParaRPr sz="26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2600" b="0">
                <a:solidFill>
                  <a:srgbClr val="FFFFFF"/>
                </a:solidFill>
                <a:latin typeface="Arial" panose="020B0604020202020204"/>
              </a:rPr>
              <a:t>Catatan Prompt</a:t>
            </a:r>
            <a:endParaRPr sz="26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2600" b="0">
                <a:solidFill>
                  <a:srgbClr val="FFFFFF"/>
                </a:solidFill>
                <a:latin typeface="Arial" panose="020B0604020202020204"/>
              </a:rPr>
              <a:t>Link Website</a:t>
            </a:r>
            <a:endParaRPr sz="2600" b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901703" y="682247"/>
            <a:ext cx="976379" cy="976379"/>
            <a:chOff x="0" y="0"/>
            <a:chExt cx="1301839" cy="13018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433" y="0"/>
                  </a:lnTo>
                  <a:cubicBezTo>
                    <a:pt x="1189736" y="0"/>
                    <a:pt x="1301750" y="112141"/>
                    <a:pt x="1301750" y="250317"/>
                  </a:cubicBezTo>
                  <a:lnTo>
                    <a:pt x="1301750" y="1051433"/>
                  </a:lnTo>
                  <a:cubicBezTo>
                    <a:pt x="1301750" y="1189736"/>
                    <a:pt x="1189609" y="1301750"/>
                    <a:pt x="1051433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448C8"/>
            </a:solidFill>
            <a:ln w="25400" cap="sq">
              <a:solidFill>
                <a:srgbClr val="1448C8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 rot="0">
            <a:off x="914400" y="694944"/>
            <a:ext cx="950976" cy="950976"/>
            <a:chOff x="0" y="0"/>
            <a:chExt cx="1267968" cy="1267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C81E"/>
                  </a:solidFill>
                  <a:latin typeface="Consolas Bold" panose="020B0709020204030204"/>
                  <a:ea typeface="Consolas Bold" panose="020B0709020204030204"/>
                  <a:cs typeface="Consolas Bold" panose="020B0709020204030204"/>
                  <a:sym typeface="Consolas Bold" panose="020B0709020204030204"/>
                </a:rPr>
                <a:t>04</a:t>
              </a:r>
              <a:endParaRPr lang="en-US" sz="26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194560" y="621792"/>
            <a:ext cx="15179040" cy="731520"/>
            <a:chOff x="0" y="0"/>
            <a:chExt cx="2023872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38720" cy="975360"/>
            </a:xfrm>
            <a:custGeom>
              <a:avLst/>
              <a:gdLst/>
              <a:ahLst/>
              <a:cxnLst/>
              <a:rect l="l" t="t" r="r" b="b"/>
              <a:pathLst>
                <a:path w="20238720" h="97536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4314" b="-354314"/>
              </a:stretch>
            </a:blipFill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2387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0A1F44"/>
                  </a:solidFill>
                  <a:latin typeface="Arial Bold" panose="020B0704020202020204"/>
                  <a:ea typeface="Arial Bold" panose="020B0704020202020204"/>
                  <a:cs typeface="Arial Bold" panose="020B0704020202020204"/>
                  <a:sym typeface="Arial Bold" panose="020B0704020202020204"/>
                </a:rPr>
                <a:t>SMP · Penilaian &amp; Larangan</a:t>
              </a:r>
              <a:endParaRPr lang="en-US" sz="4800" b="1">
                <a:solidFill>
                  <a:srgbClr val="0A1F44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617964"/>
            <a:ext cx="109728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8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M-ONE TELKOMSEL CODING COMPETITION</a:t>
            </a:r>
            <a:endParaRPr lang="en-US" sz="1600">
              <a:solidFill>
                <a:srgbClr val="5B6B8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76320" y="9617964"/>
            <a:ext cx="109728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lang="en-US" sz="1600" b="1">
                <a:solidFill>
                  <a:srgbClr val="1448C8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1600" b="1">
              <a:solidFill>
                <a:srgbClr val="1448C8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59" y="2194560"/>
            <a:ext cx="5486400" cy="6839712"/>
          </a:xfrm>
          <a:prstGeom prst="roundRect">
            <a:avLst>
              <a:gd name="adj" fmla="val 42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194560"/>
            <a:ext cx="5486400" cy="6839712"/>
          </a:xfrm>
          <a:prstGeom prst="rect">
            <a:avLst/>
          </a:prstGeom>
          <a:noFill/>
        </p:spPr>
        <p:txBody>
          <a:bodyPr wrap="square" lIns="411479" tIns="411479" rIns="411479" bIns="411479" anchor="t">
            <a:spAutoFit/>
          </a:bodyPr>
          <a:lstStyle/>
          <a:p>
            <a:pPr algn="l">
              <a:spcAft>
                <a:spcPts val="1295"/>
              </a:spcAft>
            </a:pPr>
            <a:r>
              <a:rPr sz="2600" b="1">
                <a:solidFill>
                  <a:srgbClr val="FFC81E"/>
                </a:solidFill>
                <a:latin typeface="Arial" panose="020B0604020202020204"/>
              </a:rPr>
              <a:t>WAJIB · 5–10 / POIN</a:t>
            </a:r>
            <a:endParaRPr sz="26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Catatan Rencana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GitHub Public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Catatan Prompt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HTML/CSS/JS Native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Website Online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Seluruh Section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652259" y="2194560"/>
            <a:ext cx="5486400" cy="6839712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2259" y="2194560"/>
            <a:ext cx="5486400" cy="6839712"/>
          </a:xfrm>
          <a:prstGeom prst="rect">
            <a:avLst/>
          </a:prstGeom>
          <a:noFill/>
        </p:spPr>
        <p:txBody>
          <a:bodyPr wrap="square" lIns="411479" tIns="411479" rIns="411479" bIns="411479" anchor="t">
            <a:spAutoFit/>
          </a:bodyPr>
          <a:lstStyle/>
          <a:p>
            <a:pPr algn="l">
              <a:spcAft>
                <a:spcPts val="1295"/>
              </a:spcAft>
            </a:pPr>
            <a:r>
              <a:rPr sz="2600" b="1">
                <a:solidFill>
                  <a:srgbClr val="1448C8"/>
                </a:solidFill>
                <a:latin typeface="Arial" panose="020B0604020202020204"/>
              </a:rPr>
              <a:t>TAMBAHAN · 1–6 / POIN</a:t>
            </a:r>
            <a:endParaRPr sz="2600" b="1">
              <a:solidFill>
                <a:srgbClr val="1448C8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0A1F44"/>
                </a:solidFill>
                <a:latin typeface="Arial" panose="020B0604020202020204"/>
              </a:rPr>
              <a:t>Section Tambahan</a:t>
            </a:r>
            <a:endParaRPr sz="2800" b="0">
              <a:solidFill>
                <a:srgbClr val="0A1F44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0A1F44"/>
                </a:solidFill>
                <a:latin typeface="Arial" panose="020B0604020202020204"/>
              </a:rPr>
              <a:t>Gambar AI Relevan</a:t>
            </a:r>
            <a:endParaRPr sz="2800" b="0">
              <a:solidFill>
                <a:srgbClr val="0A1F44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0A1F44"/>
                </a:solidFill>
                <a:latin typeface="Arial" panose="020B0604020202020204"/>
              </a:rPr>
              <a:t>Fitur Kreatif</a:t>
            </a:r>
            <a:endParaRPr sz="2800" b="0">
              <a:solidFill>
                <a:srgbClr val="0A1F44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0A1F44"/>
                </a:solidFill>
                <a:latin typeface="Arial" panose="020B0604020202020204"/>
              </a:rPr>
              <a:t>Animasi &amp; Hover</a:t>
            </a:r>
            <a:endParaRPr sz="2800" b="0">
              <a:solidFill>
                <a:srgbClr val="0A1F44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0A1F44"/>
                </a:solidFill>
                <a:latin typeface="Arial" panose="020B0604020202020204"/>
              </a:rPr>
              <a:t>Rapi di HP &amp; Laptop</a:t>
            </a:r>
            <a:endParaRPr sz="2800" b="0">
              <a:solidFill>
                <a:srgbClr val="0A1F44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0A1F44"/>
                </a:solidFill>
                <a:latin typeface="Arial" panose="020B0604020202020204"/>
              </a:rPr>
              <a:t>Favicon &amp; Folder Rapi</a:t>
            </a:r>
            <a:endParaRPr sz="28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2481559" y="2194560"/>
            <a:ext cx="4937760" cy="6839712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481559" y="2194560"/>
            <a:ext cx="4937760" cy="6839712"/>
          </a:xfrm>
          <a:prstGeom prst="rect">
            <a:avLst/>
          </a:prstGeom>
          <a:noFill/>
        </p:spPr>
        <p:txBody>
          <a:bodyPr wrap="square" lIns="411479" tIns="411479" rIns="411479" bIns="411479" anchor="t">
            <a:spAutoFit/>
          </a:bodyPr>
          <a:lstStyle/>
          <a:p>
            <a:pPr algn="l">
              <a:spcAft>
                <a:spcPts val="1295"/>
              </a:spcAft>
            </a:pPr>
            <a:r>
              <a:rPr sz="2600" b="1">
                <a:solidFill>
                  <a:srgbClr val="FFC81E"/>
                </a:solidFill>
                <a:latin typeface="Arial" panose="020B0604020202020204"/>
              </a:rPr>
              <a:t>LARANGAN</a:t>
            </a:r>
            <a:endParaRPr sz="26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400" b="1">
                <a:solidFill>
                  <a:srgbClr val="FFC81E"/>
                </a:solidFill>
                <a:latin typeface="Arial" panose="020B0604020202020204"/>
              </a:rPr>
              <a:t>NILAI DIKURANGI</a:t>
            </a:r>
            <a:endParaRPr sz="24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✕ Framework / Library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✕ Repo Private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400" b="1">
                <a:solidFill>
                  <a:srgbClr val="FFC81E"/>
                </a:solidFill>
                <a:latin typeface="Arial" panose="020B0604020202020204"/>
              </a:rPr>
              <a:t>DISKUALIFIKASI</a:t>
            </a:r>
            <a:endParaRPr sz="24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✕ Bukan Karya Sendiri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✕ Menjiplak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✕ Prompt Palsu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640080" y="12382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822963" y="376812"/>
            <a:ext cx="976379" cy="976379"/>
            <a:chOff x="0" y="0"/>
            <a:chExt cx="1301839" cy="13018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433" y="0"/>
                  </a:lnTo>
                  <a:cubicBezTo>
                    <a:pt x="1189736" y="0"/>
                    <a:pt x="1301750" y="112141"/>
                    <a:pt x="1301750" y="250317"/>
                  </a:cubicBezTo>
                  <a:lnTo>
                    <a:pt x="1301750" y="1051433"/>
                  </a:lnTo>
                  <a:cubicBezTo>
                    <a:pt x="1301750" y="1189736"/>
                    <a:pt x="1189609" y="1301750"/>
                    <a:pt x="1051433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448C8"/>
            </a:solidFill>
            <a:ln w="25400" cap="sq">
              <a:solidFill>
                <a:srgbClr val="1448C8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 rot="0">
            <a:off x="822960" y="124079"/>
            <a:ext cx="950976" cy="1229106"/>
            <a:chOff x="0" y="0"/>
            <a:chExt cx="1267968" cy="163880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0" y="313690"/>
              <a:ext cx="1267968" cy="1325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C81E"/>
                  </a:solidFill>
                  <a:latin typeface="Consolas Bold" panose="020B0709020204030204"/>
                  <a:ea typeface="Consolas Bold" panose="020B0709020204030204"/>
                  <a:cs typeface="Consolas Bold" panose="020B0709020204030204"/>
                  <a:sym typeface="Consolas Bold" panose="020B0709020204030204"/>
                </a:rPr>
                <a:t>05</a:t>
              </a:r>
              <a:endParaRPr lang="en-US" sz="26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194560" y="376682"/>
            <a:ext cx="15179040" cy="852170"/>
            <a:chOff x="0" y="0"/>
            <a:chExt cx="20238720" cy="113622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38720" cy="975360"/>
            </a:xfrm>
            <a:custGeom>
              <a:avLst/>
              <a:gdLst/>
              <a:ahLst/>
              <a:cxnLst/>
              <a:rect l="l" t="t" r="r" b="b"/>
              <a:pathLst>
                <a:path w="20238720" h="97536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4314" b="-354314"/>
              </a:stretch>
            </a:blipFill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0" y="141816"/>
              <a:ext cx="202387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0A1F44"/>
                  </a:solidFill>
                  <a:latin typeface="Arial Bold" panose="020B0704020202020204"/>
                  <a:ea typeface="Arial Bold" panose="020B0704020202020204"/>
                  <a:cs typeface="Arial Bold" panose="020B0704020202020204"/>
                  <a:sym typeface="Arial Bold" panose="020B0704020202020204"/>
                </a:rPr>
                <a:t>SMP · Bobot Penyisihan</a:t>
              </a:r>
              <a:endParaRPr lang="en-US" sz="4800" b="1">
                <a:solidFill>
                  <a:srgbClr val="0A1F44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617964"/>
            <a:ext cx="109728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8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M-ONE TELKOMSEL CODING COMPETITION</a:t>
            </a:r>
            <a:endParaRPr lang="en-US" sz="1600">
              <a:solidFill>
                <a:srgbClr val="5B6B8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76320" y="9617964"/>
            <a:ext cx="109728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lang="en-US" sz="1600" b="1">
                <a:solidFill>
                  <a:srgbClr val="1448C8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1600" b="1">
              <a:solidFill>
                <a:srgbClr val="1448C8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59" y="2660396"/>
            <a:ext cx="1851660" cy="4663440"/>
          </a:xfrm>
          <a:prstGeom prst="roundRect">
            <a:avLst>
              <a:gd name="adj" fmla="val 6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1983423"/>
            <a:ext cx="1697990" cy="6769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4400" b="1">
                <a:solidFill>
                  <a:srgbClr val="0A1F44"/>
                </a:solidFill>
                <a:latin typeface="Arial" panose="020B0604020202020204"/>
              </a:rPr>
              <a:t>30%</a:t>
            </a:r>
            <a:endParaRPr sz="44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509" y="7584693"/>
            <a:ext cx="219456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100" b="0">
                <a:solidFill>
                  <a:srgbClr val="0A1F44"/>
                </a:solidFill>
                <a:latin typeface="Arial" panose="020B0604020202020204"/>
              </a:rPr>
              <a:t>Proses Belajar &amp; Prompt</a:t>
            </a:r>
            <a:endParaRPr sz="21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17520" y="3437636"/>
            <a:ext cx="1851660" cy="3886200"/>
          </a:xfrm>
          <a:prstGeom prst="roundRect">
            <a:avLst>
              <a:gd name="adj" fmla="val 6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2660523"/>
            <a:ext cx="1851660" cy="854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4400" b="1">
                <a:solidFill>
                  <a:srgbClr val="0A1F44"/>
                </a:solidFill>
                <a:latin typeface="Arial" panose="020B0604020202020204"/>
              </a:rPr>
              <a:t>25%</a:t>
            </a:r>
            <a:endParaRPr sz="44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017520" y="7584693"/>
            <a:ext cx="219456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100" b="0">
                <a:solidFill>
                  <a:srgbClr val="0A1F44"/>
                </a:solidFill>
                <a:latin typeface="Arial" panose="020B0604020202020204"/>
              </a:rPr>
              <a:t>Kelengkapan &amp; Section</a:t>
            </a:r>
            <a:endParaRPr sz="21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212080" y="4214876"/>
            <a:ext cx="1851660" cy="3108960"/>
          </a:xfrm>
          <a:prstGeom prst="roundRect">
            <a:avLst>
              <a:gd name="adj" fmla="val 60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3437763"/>
            <a:ext cx="1851660" cy="854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4400" b="1">
                <a:solidFill>
                  <a:srgbClr val="0A1F44"/>
                </a:solidFill>
                <a:latin typeface="Arial" panose="020B0604020202020204"/>
              </a:rPr>
              <a:t>20%</a:t>
            </a:r>
            <a:endParaRPr sz="44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40630" y="7584693"/>
            <a:ext cx="219456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100" b="0">
                <a:solidFill>
                  <a:srgbClr val="0A1F44"/>
                </a:solidFill>
                <a:latin typeface="Arial" panose="020B0604020202020204"/>
              </a:rPr>
              <a:t>Tampilan &amp; Responsif</a:t>
            </a:r>
            <a:endParaRPr sz="21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06640" y="4992116"/>
            <a:ext cx="1851660" cy="2331720"/>
          </a:xfrm>
          <a:prstGeom prst="roundRect">
            <a:avLst>
              <a:gd name="adj" fmla="val 60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4292473"/>
            <a:ext cx="1851660" cy="854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4400" b="1">
                <a:solidFill>
                  <a:srgbClr val="0A1F44"/>
                </a:solidFill>
                <a:latin typeface="Arial" panose="020B0604020202020204"/>
              </a:rPr>
              <a:t>15%</a:t>
            </a:r>
            <a:endParaRPr sz="44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35190" y="7584693"/>
            <a:ext cx="219456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100" b="0">
                <a:solidFill>
                  <a:srgbClr val="0A1F44"/>
                </a:solidFill>
                <a:latin typeface="Arial" panose="020B0604020202020204"/>
              </a:rPr>
              <a:t>Kualitas Teknis</a:t>
            </a:r>
            <a:endParaRPr sz="21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601200" y="5769356"/>
            <a:ext cx="1851660" cy="1554480"/>
          </a:xfrm>
          <a:prstGeom prst="roundRect">
            <a:avLst>
              <a:gd name="adj" fmla="val 60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4992243"/>
            <a:ext cx="1851660" cy="854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4400" b="1">
                <a:solidFill>
                  <a:srgbClr val="0A1F44"/>
                </a:solidFill>
                <a:latin typeface="Arial" panose="020B0604020202020204"/>
              </a:rPr>
              <a:t>10%</a:t>
            </a:r>
            <a:endParaRPr sz="44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429750" y="7584693"/>
            <a:ext cx="219456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100" b="0">
                <a:solidFill>
                  <a:srgbClr val="0A1F44"/>
                </a:solidFill>
                <a:latin typeface="Arial" panose="020B0604020202020204"/>
              </a:rPr>
              <a:t>Kreativitas &amp; Fitur</a:t>
            </a:r>
            <a:endParaRPr sz="21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2207240" y="2194560"/>
            <a:ext cx="5212079" cy="1399032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481559" y="2194560"/>
            <a:ext cx="233172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3000" b="1">
                <a:solidFill>
                  <a:srgbClr val="1448C8"/>
                </a:solidFill>
                <a:latin typeface="Arial" panose="020B0604020202020204"/>
              </a:rPr>
              <a:t>90–100%</a:t>
            </a:r>
            <a:endParaRPr sz="30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813280" y="2194560"/>
            <a:ext cx="246888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Sangat Baik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2207240" y="3904487"/>
            <a:ext cx="5212079" cy="1399032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81559" y="3904487"/>
            <a:ext cx="233172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3000" b="1">
                <a:solidFill>
                  <a:srgbClr val="1448C8"/>
                </a:solidFill>
                <a:latin typeface="Arial" panose="020B0604020202020204"/>
              </a:rPr>
              <a:t>75–89%</a:t>
            </a:r>
            <a:endParaRPr sz="30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813280" y="3904487"/>
            <a:ext cx="246888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Baik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2207240" y="5614416"/>
            <a:ext cx="5212079" cy="1399032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81559" y="5614416"/>
            <a:ext cx="233172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3000" b="1">
                <a:solidFill>
                  <a:srgbClr val="1448C8"/>
                </a:solidFill>
                <a:latin typeface="Arial" panose="020B0604020202020204"/>
              </a:rPr>
              <a:t>55–74%</a:t>
            </a:r>
            <a:endParaRPr sz="30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813280" y="5614416"/>
            <a:ext cx="246888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Cukup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2207240" y="7324344"/>
            <a:ext cx="5212079" cy="1399032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81559" y="7324344"/>
            <a:ext cx="233172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3000" b="1">
                <a:solidFill>
                  <a:srgbClr val="1448C8"/>
                </a:solidFill>
                <a:latin typeface="Arial" panose="020B0604020202020204"/>
              </a:rPr>
              <a:t>0–54%</a:t>
            </a:r>
            <a:endParaRPr sz="30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813280" y="7324344"/>
            <a:ext cx="246888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Kurang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901703" y="682247"/>
            <a:ext cx="976379" cy="976379"/>
            <a:chOff x="0" y="0"/>
            <a:chExt cx="1301839" cy="13018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433" y="0"/>
                  </a:lnTo>
                  <a:cubicBezTo>
                    <a:pt x="1189736" y="0"/>
                    <a:pt x="1301750" y="112141"/>
                    <a:pt x="1301750" y="250317"/>
                  </a:cubicBezTo>
                  <a:lnTo>
                    <a:pt x="1301750" y="1051433"/>
                  </a:lnTo>
                  <a:cubicBezTo>
                    <a:pt x="1301750" y="1189736"/>
                    <a:pt x="1189609" y="1301750"/>
                    <a:pt x="1051433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448C8"/>
            </a:solidFill>
            <a:ln w="25400" cap="sq">
              <a:solidFill>
                <a:srgbClr val="1448C8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 rot="0">
            <a:off x="914400" y="694944"/>
            <a:ext cx="950976" cy="950976"/>
            <a:chOff x="0" y="0"/>
            <a:chExt cx="1267968" cy="1267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C81E"/>
                  </a:solidFill>
                  <a:latin typeface="Consolas Bold" panose="020B0709020204030204"/>
                  <a:ea typeface="Consolas Bold" panose="020B0709020204030204"/>
                  <a:cs typeface="Consolas Bold" panose="020B0709020204030204"/>
                  <a:sym typeface="Consolas Bold" panose="020B0709020204030204"/>
                </a:rPr>
                <a:t>06</a:t>
              </a:r>
              <a:endParaRPr lang="en-US" sz="26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194560" y="621792"/>
            <a:ext cx="15179040" cy="731520"/>
            <a:chOff x="0" y="0"/>
            <a:chExt cx="2023872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38720" cy="975360"/>
            </a:xfrm>
            <a:custGeom>
              <a:avLst/>
              <a:gdLst/>
              <a:ahLst/>
              <a:cxnLst/>
              <a:rect l="l" t="t" r="r" b="b"/>
              <a:pathLst>
                <a:path w="20238720" h="97536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4314" b="-354314"/>
              </a:stretch>
            </a:blipFill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2387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0A1F44"/>
                  </a:solidFill>
                  <a:latin typeface="Arial Bold" panose="020B0704020202020204"/>
                  <a:ea typeface="Arial Bold" panose="020B0704020202020204"/>
                  <a:cs typeface="Arial Bold" panose="020B0704020202020204"/>
                  <a:sym typeface="Arial Bold" panose="020B0704020202020204"/>
                </a:rPr>
                <a:t>SMP · Hadiah &amp; Benefit</a:t>
              </a:r>
              <a:endParaRPr lang="en-US" sz="4800" b="1">
                <a:solidFill>
                  <a:srgbClr val="0A1F44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617964"/>
            <a:ext cx="109728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8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M-ONE TELKOMSEL CODING COMPETITION</a:t>
            </a:r>
            <a:endParaRPr lang="en-US" sz="1600">
              <a:solidFill>
                <a:srgbClr val="5B6B8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76320" y="9617964"/>
            <a:ext cx="109728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lang="en-US" sz="1600" b="1">
                <a:solidFill>
                  <a:srgbClr val="1448C8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1600" b="1">
              <a:solidFill>
                <a:srgbClr val="1448C8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45919" y="3360420"/>
            <a:ext cx="4663440" cy="3575303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19" y="3360420"/>
            <a:ext cx="4663440" cy="3575303"/>
          </a:xfrm>
          <a:prstGeom prst="rect">
            <a:avLst/>
          </a:prstGeom>
          <a:noFill/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1110"/>
              </a:spcAft>
            </a:pPr>
            <a:r>
              <a:rPr sz="2600" b="1">
                <a:solidFill>
                  <a:srgbClr val="1448C8"/>
                </a:solidFill>
                <a:latin typeface="Arial" panose="020B0604020202020204"/>
              </a:rPr>
              <a:t>JUARA 2</a:t>
            </a:r>
            <a:endParaRPr sz="2600" b="1">
              <a:solidFill>
                <a:srgbClr val="1448C8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5200" b="1">
                <a:solidFill>
                  <a:srgbClr val="0A1F44"/>
                </a:solidFill>
                <a:latin typeface="Arial" panose="020B0604020202020204"/>
              </a:rPr>
              <a:t>Rp300.000</a:t>
            </a:r>
            <a:endParaRPr sz="5200" b="1">
              <a:solidFill>
                <a:srgbClr val="0A1F44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2200" b="0">
                <a:solidFill>
                  <a:srgbClr val="0A1F44"/>
                </a:solidFill>
                <a:latin typeface="Arial" panose="020B0604020202020204"/>
              </a:rPr>
              <a:t>Piala + Sertifikat Fisik</a:t>
            </a:r>
            <a:endParaRPr sz="22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89420" y="2194560"/>
            <a:ext cx="4663440" cy="4741164"/>
          </a:xfrm>
          <a:prstGeom prst="roundRect">
            <a:avLst>
              <a:gd name="adj" fmla="val 42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9420" y="2194560"/>
            <a:ext cx="4663440" cy="4741164"/>
          </a:xfrm>
          <a:prstGeom prst="rect">
            <a:avLst/>
          </a:prstGeom>
          <a:noFill/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1110"/>
              </a:spcAft>
            </a:pPr>
            <a:r>
              <a:rPr sz="2600" b="1">
                <a:solidFill>
                  <a:srgbClr val="FFC81E"/>
                </a:solidFill>
                <a:latin typeface="Arial" panose="020B0604020202020204"/>
              </a:rPr>
              <a:t>JUARA 1</a:t>
            </a:r>
            <a:endParaRPr sz="2600" b="1">
              <a:solidFill>
                <a:srgbClr val="FFC81E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5200" b="1">
                <a:solidFill>
                  <a:srgbClr val="FFFFFF"/>
                </a:solidFill>
                <a:latin typeface="Arial" panose="020B0604020202020204"/>
              </a:rPr>
              <a:t>Rp500.000</a:t>
            </a:r>
            <a:endParaRPr sz="520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2200" b="0">
                <a:solidFill>
                  <a:srgbClr val="FFFFFF"/>
                </a:solidFill>
                <a:latin typeface="Arial" panose="020B0604020202020204"/>
              </a:rPr>
              <a:t>Piala + Sertifikat Fisik</a:t>
            </a:r>
            <a:endParaRPr sz="22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932919" y="4137660"/>
            <a:ext cx="4663440" cy="2798064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32919" y="4137660"/>
            <a:ext cx="4663440" cy="2798064"/>
          </a:xfrm>
          <a:prstGeom prst="rect">
            <a:avLst/>
          </a:prstGeom>
          <a:noFill/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1110"/>
              </a:spcAft>
            </a:pPr>
            <a:r>
              <a:rPr sz="2600" b="1">
                <a:solidFill>
                  <a:srgbClr val="1448C8"/>
                </a:solidFill>
                <a:latin typeface="Arial" panose="020B0604020202020204"/>
              </a:rPr>
              <a:t>JUARA 3</a:t>
            </a:r>
            <a:endParaRPr sz="2600" b="1">
              <a:solidFill>
                <a:srgbClr val="1448C8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5200" b="1">
                <a:solidFill>
                  <a:srgbClr val="0A1F44"/>
                </a:solidFill>
                <a:latin typeface="Arial" panose="020B0604020202020204"/>
              </a:rPr>
              <a:t>Rp200.000</a:t>
            </a:r>
            <a:endParaRPr sz="5200" b="1">
              <a:solidFill>
                <a:srgbClr val="0A1F44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2200" b="0">
                <a:solidFill>
                  <a:srgbClr val="0A1F44"/>
                </a:solidFill>
                <a:latin typeface="Arial" panose="020B0604020202020204"/>
              </a:rPr>
              <a:t>Piala + Sertifikat Fisik</a:t>
            </a:r>
            <a:endParaRPr sz="22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59" y="7091171"/>
            <a:ext cx="16596359" cy="2331720"/>
          </a:xfrm>
          <a:prstGeom prst="roundRect">
            <a:avLst>
              <a:gd name="adj" fmla="val 42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7448702"/>
            <a:ext cx="2743200" cy="6995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100" b="1">
                <a:solidFill>
                  <a:srgbClr val="FFC81E"/>
                </a:solidFill>
                <a:latin typeface="Arial" panose="020B0604020202020204"/>
              </a:rPr>
              <a:t>SEMUA PESERTA</a:t>
            </a:r>
            <a:endParaRPr sz="21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77639" y="7448702"/>
            <a:ext cx="13304519" cy="6995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100" b="0">
                <a:solidFill>
                  <a:srgbClr val="FFFFFF"/>
                </a:solidFill>
                <a:latin typeface="Arial" panose="020B0604020202020204"/>
              </a:rPr>
              <a:t>E-Sertifikat · Domain 1 Tahun · Free Hosting · Google AI Pro (5 Pertama &amp; Finalis)</a:t>
            </a:r>
            <a:endParaRPr sz="21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234440" y="8225942"/>
            <a:ext cx="2743200" cy="6995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100" b="1">
                <a:solidFill>
                  <a:srgbClr val="FFC81E"/>
                </a:solidFill>
                <a:latin typeface="Arial" panose="020B0604020202020204"/>
              </a:rPr>
              <a:t>FINAL LURING</a:t>
            </a:r>
            <a:endParaRPr sz="21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977639" y="8225942"/>
            <a:ext cx="13304519" cy="6995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100" b="0">
                <a:solidFill>
                  <a:srgbClr val="FFFFFF"/>
                </a:solidFill>
                <a:latin typeface="Arial" panose="020B0604020202020204"/>
              </a:rPr>
              <a:t>Ruang AC · WiFi · Coffee Corner · Lanyard + Stiker · Snack · Makan Siang</a:t>
            </a:r>
            <a:endParaRPr sz="2100" b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901703" y="682247"/>
            <a:ext cx="976379" cy="976379"/>
            <a:chOff x="0" y="0"/>
            <a:chExt cx="1301839" cy="13018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433" y="0"/>
                  </a:lnTo>
                  <a:cubicBezTo>
                    <a:pt x="1189736" y="0"/>
                    <a:pt x="1301750" y="112141"/>
                    <a:pt x="1301750" y="250317"/>
                  </a:cubicBezTo>
                  <a:lnTo>
                    <a:pt x="1301750" y="1051433"/>
                  </a:lnTo>
                  <a:cubicBezTo>
                    <a:pt x="1301750" y="1189736"/>
                    <a:pt x="1189609" y="1301750"/>
                    <a:pt x="1051433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448C8"/>
            </a:solidFill>
            <a:ln w="25400" cap="sq">
              <a:solidFill>
                <a:srgbClr val="1448C8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 rot="0">
            <a:off x="914400" y="694944"/>
            <a:ext cx="950976" cy="950976"/>
            <a:chOff x="0" y="0"/>
            <a:chExt cx="1267968" cy="1267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C81E"/>
                  </a:solidFill>
                  <a:latin typeface="Consolas Bold" panose="020B0709020204030204"/>
                  <a:ea typeface="Consolas Bold" panose="020B0709020204030204"/>
                  <a:cs typeface="Consolas Bold" panose="020B0709020204030204"/>
                  <a:sym typeface="Consolas Bold" panose="020B0709020204030204"/>
                </a:rPr>
                <a:t>07</a:t>
              </a:r>
              <a:endParaRPr lang="en-US" sz="26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194560" y="621792"/>
            <a:ext cx="15179040" cy="731520"/>
            <a:chOff x="0" y="0"/>
            <a:chExt cx="2023872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38720" cy="975360"/>
            </a:xfrm>
            <a:custGeom>
              <a:avLst/>
              <a:gdLst/>
              <a:ahLst/>
              <a:cxnLst/>
              <a:rect l="l" t="t" r="r" b="b"/>
              <a:pathLst>
                <a:path w="20238720" h="97536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4314" b="-354314"/>
              </a:stretch>
            </a:blipFill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2387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3600" b="1">
                  <a:solidFill>
                    <a:srgbClr val="0A1F44"/>
                  </a:solidFill>
                  <a:latin typeface="Arial Bold" panose="020B0704020202020204"/>
                  <a:ea typeface="Arial Bold" panose="020B0704020202020204"/>
                  <a:cs typeface="Arial Bold" panose="020B0704020202020204"/>
                  <a:sym typeface="Arial Bold" panose="020B0704020202020204"/>
                </a:rPr>
                <a:t>UMUM · Innovating Education Through Technology</a:t>
              </a:r>
              <a:endParaRPr lang="en-US" sz="3600" b="1">
                <a:solidFill>
                  <a:srgbClr val="0A1F44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617964"/>
            <a:ext cx="109728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8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M-ONE TELKOMSEL CODING COMPETITION</a:t>
            </a:r>
            <a:endParaRPr lang="en-US" sz="1600">
              <a:solidFill>
                <a:srgbClr val="5B6B8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76320" y="9617964"/>
            <a:ext cx="109728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lang="en-US" sz="1600" b="1">
                <a:solidFill>
                  <a:srgbClr val="1448C8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1600" b="1">
              <a:solidFill>
                <a:srgbClr val="1448C8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59" y="2194560"/>
            <a:ext cx="3840479" cy="233172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298700"/>
            <a:ext cx="3840479" cy="2123440"/>
          </a:xfrm>
          <a:prstGeom prst="rect">
            <a:avLst/>
          </a:prstGeom>
          <a:noFill/>
        </p:spPr>
        <p:txBody>
          <a:bodyPr wrap="square" lIns="274320" tIns="274320" rIns="274320" bIns="27432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000" b="1">
                <a:solidFill>
                  <a:srgbClr val="0A1F44"/>
                </a:solidFill>
                <a:latin typeface="Arial" panose="020B0604020202020204"/>
              </a:rPr>
              <a:t>SMA/SM</a:t>
            </a:r>
            <a:r>
              <a:rPr lang="en-US" sz="3000" b="1">
                <a:solidFill>
                  <a:srgbClr val="0A1F44"/>
                </a:solidFill>
                <a:latin typeface="Arial" panose="020B0604020202020204"/>
              </a:rPr>
              <a:t>K</a:t>
            </a:r>
            <a:endParaRPr lang="en-US" sz="3000" b="1">
              <a:solidFill>
                <a:srgbClr val="0A1F44"/>
              </a:solidFill>
              <a:latin typeface="Arial" panose="020B0604020202020204"/>
            </a:endParaRPr>
          </a:p>
          <a:p>
            <a:pPr algn="ctr">
              <a:spcAft>
                <a:spcPts val="740"/>
              </a:spcAft>
            </a:pPr>
            <a:r>
              <a:rPr sz="3000" b="1">
                <a:solidFill>
                  <a:srgbClr val="0A1F44"/>
                </a:solidFill>
                <a:latin typeface="Arial" panose="020B0604020202020204"/>
              </a:rPr>
              <a:t> · Mahasis</a:t>
            </a:r>
            <a:r>
              <a:rPr lang="en-US" sz="3000" b="1">
                <a:solidFill>
                  <a:srgbClr val="0A1F44"/>
                </a:solidFill>
                <a:latin typeface="Arial" panose="020B0604020202020204"/>
              </a:rPr>
              <a:t>wa</a:t>
            </a:r>
            <a:endParaRPr lang="en-US" sz="3000" b="1">
              <a:solidFill>
                <a:srgbClr val="0A1F44"/>
              </a:solidFill>
              <a:latin typeface="Arial" panose="020B0604020202020204"/>
            </a:endParaRPr>
          </a:p>
          <a:p>
            <a:pPr algn="ctr">
              <a:spcAft>
                <a:spcPts val="740"/>
              </a:spcAft>
            </a:pPr>
            <a:r>
              <a:rPr sz="3000" b="1">
                <a:solidFill>
                  <a:srgbClr val="0A1F44"/>
                </a:solidFill>
                <a:latin typeface="Arial" panose="020B0604020202020204"/>
              </a:rPr>
              <a:t> · Umum</a:t>
            </a:r>
            <a:endParaRPr sz="30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5074920" y="2194560"/>
            <a:ext cx="3840479" cy="233172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74920" y="2194560"/>
            <a:ext cx="3840479" cy="2331720"/>
          </a:xfrm>
          <a:prstGeom prst="rect">
            <a:avLst/>
          </a:prstGeom>
          <a:noFill/>
        </p:spPr>
        <p:txBody>
          <a:bodyPr wrap="square" lIns="274320" tIns="274320" rIns="274320" bIns="27432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000" b="1">
                <a:solidFill>
                  <a:srgbClr val="0A1F44"/>
                </a:solidFill>
                <a:latin typeface="Arial" panose="020B0604020202020204"/>
              </a:rPr>
              <a:t>Individu</a:t>
            </a:r>
            <a:endParaRPr sz="30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326880" y="2194560"/>
            <a:ext cx="3840479" cy="2331720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2194560"/>
            <a:ext cx="3840479" cy="2331720"/>
          </a:xfrm>
          <a:prstGeom prst="rect">
            <a:avLst/>
          </a:prstGeom>
          <a:noFill/>
        </p:spPr>
        <p:txBody>
          <a:bodyPr wrap="square" lIns="274320" tIns="274320" rIns="274320" bIns="27432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000" b="1">
                <a:solidFill>
                  <a:srgbClr val="0A1F44"/>
                </a:solidFill>
                <a:latin typeface="Arial" panose="020B0604020202020204"/>
              </a:rPr>
              <a:t>KTM / KTP / Identitas</a:t>
            </a:r>
            <a:endParaRPr sz="30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3578839" y="2194560"/>
            <a:ext cx="3840479" cy="2331720"/>
          </a:xfrm>
          <a:prstGeom prst="roundRect">
            <a:avLst>
              <a:gd name="adj" fmla="val 42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578839" y="2194560"/>
            <a:ext cx="3840479" cy="2331720"/>
          </a:xfrm>
          <a:prstGeom prst="rect">
            <a:avLst/>
          </a:prstGeom>
          <a:noFill/>
        </p:spPr>
        <p:txBody>
          <a:bodyPr wrap="square" lIns="274320" tIns="274320" rIns="274320" bIns="27432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000" b="1">
                <a:solidFill>
                  <a:srgbClr val="FFFFFF"/>
                </a:solidFill>
                <a:latin typeface="Arial" panose="020B0604020202020204"/>
              </a:rPr>
              <a:t>Subtema: Web Education for Kids (SD)</a:t>
            </a:r>
            <a:endParaRPr sz="30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2482596" y="6655917"/>
            <a:ext cx="13277088" cy="93268"/>
          </a:xfrm>
          <a:prstGeom prst="rect">
            <a:avLst/>
          </a:prstGeom>
          <a:solidFill>
            <a:srgbClr val="D6E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59" y="5536691"/>
            <a:ext cx="331927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1448C8"/>
                </a:solidFill>
                <a:latin typeface="Arial" panose="020B0604020202020204"/>
              </a:rPr>
              <a:t>5 OKT</a:t>
            </a:r>
            <a:endParaRPr sz="22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2249424" y="6438290"/>
            <a:ext cx="466344" cy="528523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19" y="7246619"/>
            <a:ext cx="3044951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Dibuka 09.00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142232" y="5536691"/>
            <a:ext cx="331927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1448C8"/>
                </a:solidFill>
                <a:latin typeface="Arial" panose="020B0604020202020204"/>
              </a:rPr>
              <a:t>5 OKT</a:t>
            </a:r>
            <a:endParaRPr sz="22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5568696" y="6438290"/>
            <a:ext cx="466344" cy="528523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79392" y="7246619"/>
            <a:ext cx="3044951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Mulai 09.30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461504" y="5536691"/>
            <a:ext cx="331927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1448C8"/>
                </a:solidFill>
                <a:latin typeface="Arial" panose="020B0604020202020204"/>
              </a:rPr>
              <a:t>15 OKT</a:t>
            </a:r>
            <a:endParaRPr sz="22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0" name="Oval 29"/>
          <p:cNvSpPr/>
          <p:nvPr/>
        </p:nvSpPr>
        <p:spPr>
          <a:xfrm>
            <a:off x="8887967" y="6438290"/>
            <a:ext cx="466344" cy="528523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98663" y="7246619"/>
            <a:ext cx="3044951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Batas Kumpul 15.30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780776" y="5536691"/>
            <a:ext cx="331927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1448C8"/>
                </a:solidFill>
                <a:latin typeface="Arial" panose="020B0604020202020204"/>
              </a:rPr>
              <a:t>16–24 OKT</a:t>
            </a:r>
            <a:endParaRPr sz="22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3" name="Oval 32"/>
          <p:cNvSpPr/>
          <p:nvPr/>
        </p:nvSpPr>
        <p:spPr>
          <a:xfrm>
            <a:off x="12207240" y="6438290"/>
            <a:ext cx="466344" cy="528523"/>
          </a:xfrm>
          <a:prstGeom prst="ellipse">
            <a:avLst/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917935" y="7246619"/>
            <a:ext cx="3044951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Penilaian Juri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14100047" y="5536691"/>
            <a:ext cx="3319272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2200" b="1">
                <a:solidFill>
                  <a:srgbClr val="0A1F44"/>
                </a:solidFill>
                <a:latin typeface="Arial" panose="020B0604020202020204"/>
              </a:rPr>
              <a:t>25 OKT</a:t>
            </a:r>
            <a:endParaRPr sz="22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6" name="Oval 35"/>
          <p:cNvSpPr/>
          <p:nvPr/>
        </p:nvSpPr>
        <p:spPr>
          <a:xfrm>
            <a:off x="15526511" y="6438290"/>
            <a:ext cx="466344" cy="528523"/>
          </a:xfrm>
          <a:prstGeom prst="ellipse">
            <a:avLst/>
          </a:prstGeom>
          <a:solidFill>
            <a:srgbClr val="FFC8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237207" y="7246619"/>
            <a:ext cx="3044951" cy="12435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Pengumuman 15.00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901703" y="682247"/>
            <a:ext cx="976379" cy="976379"/>
            <a:chOff x="0" y="0"/>
            <a:chExt cx="1301839" cy="13018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433" y="0"/>
                  </a:lnTo>
                  <a:cubicBezTo>
                    <a:pt x="1189736" y="0"/>
                    <a:pt x="1301750" y="112141"/>
                    <a:pt x="1301750" y="250317"/>
                  </a:cubicBezTo>
                  <a:lnTo>
                    <a:pt x="1301750" y="1051433"/>
                  </a:lnTo>
                  <a:cubicBezTo>
                    <a:pt x="1301750" y="1189736"/>
                    <a:pt x="1189609" y="1301750"/>
                    <a:pt x="1051433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448C8"/>
            </a:solidFill>
            <a:ln w="25400" cap="sq">
              <a:solidFill>
                <a:srgbClr val="1448C8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 rot="0">
            <a:off x="914400" y="694944"/>
            <a:ext cx="950976" cy="950976"/>
            <a:chOff x="0" y="0"/>
            <a:chExt cx="1267968" cy="1267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C81E"/>
                  </a:solidFill>
                  <a:latin typeface="Consolas Bold" panose="020B0709020204030204"/>
                  <a:ea typeface="Consolas Bold" panose="020B0709020204030204"/>
                  <a:cs typeface="Consolas Bold" panose="020B0709020204030204"/>
                  <a:sym typeface="Consolas Bold" panose="020B0709020204030204"/>
                </a:rPr>
                <a:t>08</a:t>
              </a:r>
              <a:endParaRPr lang="en-US" sz="26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194560" y="621792"/>
            <a:ext cx="15179040" cy="731520"/>
            <a:chOff x="0" y="0"/>
            <a:chExt cx="2023872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38720" cy="975360"/>
            </a:xfrm>
            <a:custGeom>
              <a:avLst/>
              <a:gdLst/>
              <a:ahLst/>
              <a:cxnLst/>
              <a:rect l="l" t="t" r="r" b="b"/>
              <a:pathLst>
                <a:path w="20238720" h="97536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4314" b="-354314"/>
              </a:stretch>
            </a:blipFill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2387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0A1F44"/>
                  </a:solidFill>
                  <a:latin typeface="Arial Bold" panose="020B0704020202020204"/>
                  <a:ea typeface="Arial Bold" panose="020B0704020202020204"/>
                  <a:cs typeface="Arial Bold" panose="020B0704020202020204"/>
                  <a:sym typeface="Arial Bold" panose="020B0704020202020204"/>
                </a:rPr>
                <a:t>UMUM · 6 Syarat Kelayakan</a:t>
              </a:r>
              <a:endParaRPr lang="en-US" sz="4800" b="1">
                <a:solidFill>
                  <a:srgbClr val="0A1F44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617964"/>
            <a:ext cx="109728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8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M-ONE TELKOMSEL CODING COMPETITION</a:t>
            </a:r>
            <a:endParaRPr lang="en-US" sz="1600">
              <a:solidFill>
                <a:srgbClr val="5B6B8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76320" y="9617964"/>
            <a:ext cx="109728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lang="en-US" sz="1600" b="1">
                <a:solidFill>
                  <a:srgbClr val="1448C8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1600" b="1">
              <a:solidFill>
                <a:srgbClr val="1448C8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59" y="2194560"/>
            <a:ext cx="5349240" cy="6684264"/>
          </a:xfrm>
          <a:prstGeom prst="roundRect">
            <a:avLst>
              <a:gd name="adj" fmla="val 42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194560"/>
            <a:ext cx="5349240" cy="6684264"/>
          </a:xfrm>
          <a:prstGeom prst="rect">
            <a:avLst/>
          </a:prstGeom>
          <a:noFill/>
        </p:spPr>
        <p:txBody>
          <a:bodyPr wrap="square" lIns="411479" tIns="411479" rIns="411479" bIns="411479" anchor="t">
            <a:spAutoFit/>
          </a:bodyPr>
          <a:lstStyle/>
          <a:p>
            <a:pPr algn="l">
              <a:spcAft>
                <a:spcPts val="555"/>
              </a:spcAft>
            </a:pPr>
            <a:r>
              <a:rPr sz="2600" b="1">
                <a:solidFill>
                  <a:srgbClr val="FFC81E"/>
                </a:solidFill>
                <a:latin typeface="Arial" panose="020B0604020202020204"/>
              </a:rPr>
              <a:t>BATAS AKHIR</a:t>
            </a:r>
            <a:endParaRPr sz="26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6300" b="1">
                <a:solidFill>
                  <a:srgbClr val="FFFFFF"/>
                </a:solidFill>
                <a:latin typeface="Arial" panose="020B0604020202020204"/>
              </a:rPr>
              <a:t>15 OKT</a:t>
            </a:r>
            <a:endParaRPr sz="6300" b="1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4100" b="0">
                <a:solidFill>
                  <a:srgbClr val="FFFFFF"/>
                </a:solidFill>
                <a:latin typeface="Arial" panose="020B0604020202020204"/>
              </a:rPr>
              <a:t>15.30 WIB</a:t>
            </a:r>
            <a:endParaRPr sz="41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</a:p>
          <a:p>
            <a:pPr algn="l">
              <a:spcAft>
                <a:spcPts val="555"/>
              </a:spcAft>
            </a:pPr>
            <a:r>
              <a:rPr sz="2600" b="1">
                <a:solidFill>
                  <a:srgbClr val="FFC81E"/>
                </a:solidFill>
                <a:latin typeface="Arial" panose="020B0604020202020204"/>
              </a:rPr>
              <a:t>KUMPULKAN</a:t>
            </a:r>
            <a:endParaRPr sz="26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2600" b="0">
                <a:solidFill>
                  <a:srgbClr val="FFFFFF"/>
                </a:solidFill>
                <a:latin typeface="Arial" panose="020B0604020202020204"/>
              </a:rPr>
              <a:t>Link GitHub (Public)</a:t>
            </a:r>
            <a:endParaRPr sz="26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2600" b="0">
                <a:solidFill>
                  <a:srgbClr val="FFFFFF"/>
                </a:solidFill>
                <a:latin typeface="Arial" panose="020B0604020202020204"/>
              </a:rPr>
              <a:t>Docs Acuan AI Agent</a:t>
            </a:r>
            <a:endParaRPr sz="26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2600" b="0">
                <a:solidFill>
                  <a:srgbClr val="FFFFFF"/>
                </a:solidFill>
                <a:latin typeface="Arial" panose="020B0604020202020204"/>
              </a:rPr>
              <a:t>Jurnal Prompt + Log Mentah</a:t>
            </a:r>
            <a:endParaRPr sz="26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555"/>
              </a:spcAft>
            </a:pPr>
            <a:r>
              <a:rPr sz="2600" b="0">
                <a:solidFill>
                  <a:srgbClr val="FFFFFF"/>
                </a:solidFill>
                <a:latin typeface="Arial" panose="020B0604020202020204"/>
              </a:rPr>
              <a:t>Link Deploy</a:t>
            </a:r>
            <a:endParaRPr sz="26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583679" y="2194560"/>
            <a:ext cx="5280660" cy="2020824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58000" y="2723083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0" y="2723083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01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229600" y="2194560"/>
            <a:ext cx="3497579" cy="2020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GitHub Public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2138659" y="2194560"/>
            <a:ext cx="5280660" cy="2020824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2412980" y="2723083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412980" y="2723083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02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3784580" y="2194560"/>
            <a:ext cx="3497579" cy="2020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Docs Acuan AI Agent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6583679" y="4526280"/>
            <a:ext cx="5280660" cy="2020824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858000" y="5054803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0" y="5054803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03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229600" y="4526280"/>
            <a:ext cx="3497579" cy="2020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Jurnal Prompt (Maks 5) + Log Mentah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12138659" y="4526280"/>
            <a:ext cx="5280660" cy="2020824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2412980" y="5054803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412980" y="5054803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04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3784580" y="4526280"/>
            <a:ext cx="3497579" cy="2020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Sesuai Tema &amp; Subtema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6583679" y="6858000"/>
            <a:ext cx="5280660" cy="2020824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858000" y="7386523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0" y="7386523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05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229600" y="6858000"/>
            <a:ext cx="3497579" cy="2020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Stack Bebas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12138659" y="6858000"/>
            <a:ext cx="5280660" cy="2020824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2412980" y="7386523"/>
            <a:ext cx="1165860" cy="963777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2412980" y="7386523"/>
            <a:ext cx="1165860" cy="963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3700" b="1">
                <a:solidFill>
                  <a:srgbClr val="FFC81E"/>
                </a:solidFill>
                <a:latin typeface="Arial" panose="020B0604020202020204"/>
              </a:rPr>
              <a:t>06</a:t>
            </a:r>
            <a:endParaRPr sz="37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3784580" y="6858000"/>
            <a:ext cx="3497579" cy="20208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800" b="1">
                <a:solidFill>
                  <a:srgbClr val="0A1F44"/>
                </a:solidFill>
                <a:latin typeface="Arial" panose="020B0604020202020204"/>
              </a:rPr>
              <a:t>Ter-Deploy (Hosting Bebas)</a:t>
            </a:r>
            <a:endParaRPr sz="2800" b="1">
              <a:solidFill>
                <a:srgbClr val="0A1F44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901703" y="682247"/>
            <a:ext cx="976379" cy="976379"/>
            <a:chOff x="0" y="0"/>
            <a:chExt cx="1301839" cy="13018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433" y="0"/>
                  </a:lnTo>
                  <a:cubicBezTo>
                    <a:pt x="1189736" y="0"/>
                    <a:pt x="1301750" y="112141"/>
                    <a:pt x="1301750" y="250317"/>
                  </a:cubicBezTo>
                  <a:lnTo>
                    <a:pt x="1301750" y="1051433"/>
                  </a:lnTo>
                  <a:cubicBezTo>
                    <a:pt x="1301750" y="1189736"/>
                    <a:pt x="1189609" y="1301750"/>
                    <a:pt x="1051433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448C8"/>
            </a:solidFill>
            <a:ln w="25400" cap="sq">
              <a:solidFill>
                <a:srgbClr val="1448C8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 rot="0">
            <a:off x="914400" y="694944"/>
            <a:ext cx="950976" cy="950976"/>
            <a:chOff x="0" y="0"/>
            <a:chExt cx="1267968" cy="1267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C81E"/>
                  </a:solidFill>
                  <a:latin typeface="Consolas Bold" panose="020B0709020204030204"/>
                  <a:ea typeface="Consolas Bold" panose="020B0709020204030204"/>
                  <a:cs typeface="Consolas Bold" panose="020B0709020204030204"/>
                  <a:sym typeface="Consolas Bold" panose="020B0709020204030204"/>
                </a:rPr>
                <a:t>09</a:t>
              </a:r>
              <a:endParaRPr lang="en-US" sz="26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194560" y="621792"/>
            <a:ext cx="15179040" cy="731520"/>
            <a:chOff x="0" y="0"/>
            <a:chExt cx="2023872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38720" cy="975360"/>
            </a:xfrm>
            <a:custGeom>
              <a:avLst/>
              <a:gdLst/>
              <a:ahLst/>
              <a:cxnLst/>
              <a:rect l="l" t="t" r="r" b="b"/>
              <a:pathLst>
                <a:path w="20238720" h="97536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4314" b="-354314"/>
              </a:stretch>
            </a:blipFill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2387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0A1F44"/>
                  </a:solidFill>
                  <a:latin typeface="Arial Bold" panose="020B0704020202020204"/>
                  <a:ea typeface="Arial Bold" panose="020B0704020202020204"/>
                  <a:cs typeface="Arial Bold" panose="020B0704020202020204"/>
                  <a:sym typeface="Arial Bold" panose="020B0704020202020204"/>
                </a:rPr>
                <a:t>UMUM · Bobot Penilaian</a:t>
              </a:r>
              <a:endParaRPr lang="en-US" sz="4800" b="1">
                <a:solidFill>
                  <a:srgbClr val="0A1F44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617964"/>
            <a:ext cx="109728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8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M-ONE TELKOMSEL CODING COMPETITION</a:t>
            </a:r>
            <a:endParaRPr lang="en-US" sz="1600">
              <a:solidFill>
                <a:srgbClr val="5B6B8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76320" y="9617964"/>
            <a:ext cx="109728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lang="en-US" sz="1600" b="1">
                <a:solidFill>
                  <a:srgbClr val="1448C8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1600" b="1">
              <a:solidFill>
                <a:srgbClr val="1448C8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59" y="2894076"/>
            <a:ext cx="1851660" cy="3886200"/>
          </a:xfrm>
          <a:prstGeom prst="roundRect">
            <a:avLst>
              <a:gd name="adj" fmla="val 6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1961388"/>
            <a:ext cx="1851660" cy="854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4400" b="1">
                <a:solidFill>
                  <a:srgbClr val="0A1F44"/>
                </a:solidFill>
                <a:latin typeface="Arial" panose="020B0604020202020204"/>
              </a:rPr>
              <a:t>25%</a:t>
            </a:r>
            <a:endParaRPr sz="44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51509" y="6935723"/>
            <a:ext cx="219456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100" b="0">
                <a:solidFill>
                  <a:srgbClr val="0A1F44"/>
                </a:solidFill>
                <a:latin typeface="Arial" panose="020B0604020202020204"/>
              </a:rPr>
              <a:t>Proses Vibe Coding</a:t>
            </a:r>
            <a:endParaRPr sz="21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3017520" y="2894076"/>
            <a:ext cx="1851660" cy="3886200"/>
          </a:xfrm>
          <a:prstGeom prst="roundRect">
            <a:avLst>
              <a:gd name="adj" fmla="val 60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1961388"/>
            <a:ext cx="1851660" cy="854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4400" b="1">
                <a:solidFill>
                  <a:srgbClr val="0A1F44"/>
                </a:solidFill>
                <a:latin typeface="Arial" panose="020B0604020202020204"/>
              </a:rPr>
              <a:t>25%</a:t>
            </a:r>
            <a:endParaRPr sz="44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46070" y="6935723"/>
            <a:ext cx="219456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100" b="0">
                <a:solidFill>
                  <a:srgbClr val="0A1F44"/>
                </a:solidFill>
                <a:latin typeface="Arial" panose="020B0604020202020204"/>
              </a:rPr>
              <a:t>Fungsionalitas &amp; Tema</a:t>
            </a:r>
            <a:endParaRPr sz="21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5212080" y="3671316"/>
            <a:ext cx="1851660" cy="3108960"/>
          </a:xfrm>
          <a:prstGeom prst="roundRect">
            <a:avLst>
              <a:gd name="adj" fmla="val 60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12080" y="2738628"/>
            <a:ext cx="1851660" cy="854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4400" b="1">
                <a:solidFill>
                  <a:srgbClr val="0A1F44"/>
                </a:solidFill>
                <a:latin typeface="Arial" panose="020B0604020202020204"/>
              </a:rPr>
              <a:t>20%</a:t>
            </a:r>
            <a:endParaRPr sz="44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040630" y="6935723"/>
            <a:ext cx="219456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100" b="0">
                <a:solidFill>
                  <a:srgbClr val="0A1F44"/>
                </a:solidFill>
                <a:latin typeface="Arial" panose="020B0604020202020204"/>
              </a:rPr>
              <a:t>UI/UX &amp; Responsif</a:t>
            </a:r>
            <a:endParaRPr sz="21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406640" y="4448556"/>
            <a:ext cx="1851660" cy="2331720"/>
          </a:xfrm>
          <a:prstGeom prst="roundRect">
            <a:avLst>
              <a:gd name="adj" fmla="val 60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3515868"/>
            <a:ext cx="1851660" cy="854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4400" b="1">
                <a:solidFill>
                  <a:srgbClr val="0A1F44"/>
                </a:solidFill>
                <a:latin typeface="Arial" panose="020B0604020202020204"/>
              </a:rPr>
              <a:t>15%</a:t>
            </a:r>
            <a:endParaRPr sz="44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235190" y="6935723"/>
            <a:ext cx="219456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100" b="0">
                <a:solidFill>
                  <a:srgbClr val="0A1F44"/>
                </a:solidFill>
                <a:latin typeface="Arial" panose="020B0604020202020204"/>
              </a:rPr>
              <a:t>Kualitas Teknis</a:t>
            </a:r>
            <a:endParaRPr sz="21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601200" y="4448556"/>
            <a:ext cx="1851660" cy="2331720"/>
          </a:xfrm>
          <a:prstGeom prst="roundRect">
            <a:avLst>
              <a:gd name="adj" fmla="val 60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3515868"/>
            <a:ext cx="1851660" cy="8549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740"/>
              </a:spcAft>
            </a:pPr>
            <a:r>
              <a:rPr sz="4400" b="1">
                <a:solidFill>
                  <a:srgbClr val="0A1F44"/>
                </a:solidFill>
                <a:latin typeface="Arial" panose="020B0604020202020204"/>
              </a:rPr>
              <a:t>15%</a:t>
            </a:r>
            <a:endParaRPr sz="4400" b="1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429750" y="6935723"/>
            <a:ext cx="2194560" cy="1399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740"/>
              </a:spcAft>
            </a:pPr>
            <a:r>
              <a:rPr sz="2100" b="0">
                <a:solidFill>
                  <a:srgbClr val="0A1F44"/>
                </a:solidFill>
                <a:latin typeface="Arial" panose="020B0604020202020204"/>
              </a:rPr>
              <a:t>Inovasi &amp; Kreativitas</a:t>
            </a:r>
            <a:endParaRPr sz="21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12207240" y="2194560"/>
            <a:ext cx="5212079" cy="1399032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2481559" y="2194560"/>
            <a:ext cx="233172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3000" b="1">
                <a:solidFill>
                  <a:srgbClr val="1448C8"/>
                </a:solidFill>
                <a:latin typeface="Arial" panose="020B0604020202020204"/>
              </a:rPr>
              <a:t>90–100%</a:t>
            </a:r>
            <a:endParaRPr sz="30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4813280" y="2194560"/>
            <a:ext cx="246888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Sangat Baik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12207240" y="3904487"/>
            <a:ext cx="5212079" cy="1399032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481559" y="3904487"/>
            <a:ext cx="233172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3000" b="1">
                <a:solidFill>
                  <a:srgbClr val="1448C8"/>
                </a:solidFill>
                <a:latin typeface="Arial" panose="020B0604020202020204"/>
              </a:rPr>
              <a:t>75–89%</a:t>
            </a:r>
            <a:endParaRPr sz="30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4813280" y="3904487"/>
            <a:ext cx="246888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Baik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2207240" y="5614416"/>
            <a:ext cx="5212079" cy="1399032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481559" y="5614416"/>
            <a:ext cx="233172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3000" b="1">
                <a:solidFill>
                  <a:srgbClr val="1448C8"/>
                </a:solidFill>
                <a:latin typeface="Arial" panose="020B0604020202020204"/>
              </a:rPr>
              <a:t>55–74%</a:t>
            </a:r>
            <a:endParaRPr sz="30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4813280" y="5614416"/>
            <a:ext cx="246888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Cukup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38" name="Rounded Rectangle 37"/>
          <p:cNvSpPr/>
          <p:nvPr/>
        </p:nvSpPr>
        <p:spPr>
          <a:xfrm>
            <a:off x="12207240" y="7324344"/>
            <a:ext cx="5212079" cy="1399032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481559" y="7324344"/>
            <a:ext cx="233172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3000" b="1">
                <a:solidFill>
                  <a:srgbClr val="1448C8"/>
                </a:solidFill>
                <a:latin typeface="Arial" panose="020B0604020202020204"/>
              </a:rPr>
              <a:t>0–54%</a:t>
            </a:r>
            <a:endParaRPr sz="3000" b="1">
              <a:solidFill>
                <a:srgbClr val="1448C8"/>
              </a:solidFill>
              <a:latin typeface="Arial" panose="020B0604020202020204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14813280" y="7324344"/>
            <a:ext cx="2468880" cy="1399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600" b="0">
                <a:solidFill>
                  <a:srgbClr val="0A1F44"/>
                </a:solidFill>
                <a:latin typeface="Arial" panose="020B0604020202020204"/>
              </a:rPr>
              <a:t>Kurang</a:t>
            </a:r>
            <a:endParaRPr sz="2600" b="0">
              <a:solidFill>
                <a:srgbClr val="0A1F44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901703" y="682247"/>
            <a:ext cx="976379" cy="976379"/>
            <a:chOff x="0" y="0"/>
            <a:chExt cx="1301839" cy="13018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433" y="0"/>
                  </a:lnTo>
                  <a:cubicBezTo>
                    <a:pt x="1189736" y="0"/>
                    <a:pt x="1301750" y="112141"/>
                    <a:pt x="1301750" y="250317"/>
                  </a:cubicBezTo>
                  <a:lnTo>
                    <a:pt x="1301750" y="1051433"/>
                  </a:lnTo>
                  <a:cubicBezTo>
                    <a:pt x="1301750" y="1189736"/>
                    <a:pt x="1189609" y="1301750"/>
                    <a:pt x="1051433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448C8"/>
            </a:solidFill>
            <a:ln w="25400" cap="sq">
              <a:solidFill>
                <a:srgbClr val="1448C8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 rot="0">
            <a:off x="914400" y="694944"/>
            <a:ext cx="950976" cy="950976"/>
            <a:chOff x="0" y="0"/>
            <a:chExt cx="1267968" cy="1267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C81E"/>
                  </a:solidFill>
                  <a:latin typeface="Consolas Bold" panose="020B0709020204030204"/>
                  <a:ea typeface="Consolas Bold" panose="020B0709020204030204"/>
                  <a:cs typeface="Consolas Bold" panose="020B0709020204030204"/>
                  <a:sym typeface="Consolas Bold" panose="020B0709020204030204"/>
                </a:rPr>
                <a:t>10</a:t>
              </a:r>
              <a:endParaRPr lang="en-US" sz="26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194560" y="621792"/>
            <a:ext cx="15179040" cy="731520"/>
            <a:chOff x="0" y="0"/>
            <a:chExt cx="2023872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38720" cy="975360"/>
            </a:xfrm>
            <a:custGeom>
              <a:avLst/>
              <a:gdLst/>
              <a:ahLst/>
              <a:cxnLst/>
              <a:rect l="l" t="t" r="r" b="b"/>
              <a:pathLst>
                <a:path w="20238720" h="97536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4314" b="-354314"/>
              </a:stretch>
            </a:blipFill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2387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0A1F44"/>
                  </a:solidFill>
                  <a:latin typeface="Arial Bold" panose="020B0704020202020204"/>
                  <a:ea typeface="Arial Bold" panose="020B0704020202020204"/>
                  <a:cs typeface="Arial Bold" panose="020B0704020202020204"/>
                  <a:sym typeface="Arial Bold" panose="020B0704020202020204"/>
                </a:rPr>
                <a:t>UMUM · Garis Start: 5 OKT 09.30</a:t>
              </a:r>
              <a:endParaRPr lang="en-US" sz="4800" b="1">
                <a:solidFill>
                  <a:srgbClr val="0A1F44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617964"/>
            <a:ext cx="109728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8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M-ONE TELKOMSEL CODING COMPETITION</a:t>
            </a:r>
            <a:endParaRPr lang="en-US" sz="1600">
              <a:solidFill>
                <a:srgbClr val="5B6B8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76320" y="9617964"/>
            <a:ext cx="109728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lang="en-US" sz="1600" b="1">
                <a:solidFill>
                  <a:srgbClr val="1448C8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1600" b="1">
              <a:solidFill>
                <a:srgbClr val="1448C8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22959" y="2194560"/>
            <a:ext cx="5074920" cy="6839712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2194560"/>
            <a:ext cx="5074920" cy="6839712"/>
          </a:xfrm>
          <a:prstGeom prst="rect">
            <a:avLst/>
          </a:prstGeom>
          <a:noFill/>
        </p:spPr>
        <p:txBody>
          <a:bodyPr wrap="square" lIns="411479" tIns="411479" rIns="411479" bIns="411479" anchor="t">
            <a:spAutoFit/>
          </a:bodyPr>
          <a:lstStyle/>
          <a:p>
            <a:pPr algn="l">
              <a:spcAft>
                <a:spcPts val="1295"/>
              </a:spcAft>
            </a:pPr>
            <a:r>
              <a:rPr sz="2600" b="1">
                <a:solidFill>
                  <a:srgbClr val="1448C8"/>
                </a:solidFill>
                <a:latin typeface="Arial" panose="020B0604020202020204"/>
              </a:rPr>
              <a:t>BOLEH</a:t>
            </a:r>
            <a:endParaRPr sz="2600" b="1">
              <a:solidFill>
                <a:srgbClr val="1448C8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0A1F44"/>
                </a:solidFill>
                <a:latin typeface="Arial" panose="020B0604020202020204"/>
              </a:rPr>
              <a:t>✓ Siapkan Akun &amp; Tools (09.00–09.30)</a:t>
            </a:r>
            <a:endParaRPr sz="2800" b="0">
              <a:solidFill>
                <a:srgbClr val="0A1F44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0A1F44"/>
                </a:solidFill>
                <a:latin typeface="Arial" panose="020B0604020202020204"/>
              </a:rPr>
              <a:t>✓ Ide &amp; Konsep</a:t>
            </a:r>
            <a:endParaRPr sz="2800" b="0">
              <a:solidFill>
                <a:srgbClr val="0A1F44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0A1F44"/>
                </a:solidFill>
                <a:latin typeface="Arial" panose="020B0604020202020204"/>
              </a:rPr>
              <a:t>✓ Framework &amp; Library</a:t>
            </a:r>
            <a:endParaRPr sz="28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172200" y="2194560"/>
            <a:ext cx="5486400" cy="6839712"/>
          </a:xfrm>
          <a:prstGeom prst="roundRect">
            <a:avLst>
              <a:gd name="adj" fmla="val 42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2194560"/>
            <a:ext cx="5486400" cy="6839712"/>
          </a:xfrm>
          <a:prstGeom prst="rect">
            <a:avLst/>
          </a:prstGeom>
          <a:noFill/>
        </p:spPr>
        <p:txBody>
          <a:bodyPr wrap="square" lIns="411479" tIns="411479" rIns="411479" bIns="411479" anchor="t">
            <a:spAutoFit/>
          </a:bodyPr>
          <a:lstStyle/>
          <a:p>
            <a:pPr algn="l">
              <a:spcAft>
                <a:spcPts val="1295"/>
              </a:spcAft>
            </a:pPr>
            <a:r>
              <a:rPr sz="2600" b="1">
                <a:solidFill>
                  <a:srgbClr val="FFC81E"/>
                </a:solidFill>
                <a:latin typeface="Arial" panose="020B0604020202020204"/>
              </a:rPr>
              <a:t>DILARANG</a:t>
            </a:r>
            <a:endParaRPr sz="26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✕ Project Lama / Fork / Template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✕ Docs &amp; Prompt Pra-Lomba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✕ Force Push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✕ Tanggal Commit Palsu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932919" y="2194560"/>
            <a:ext cx="5486400" cy="6839712"/>
          </a:xfrm>
          <a:prstGeom prst="roundRect">
            <a:avLst>
              <a:gd name="adj" fmla="val 4200"/>
            </a:avLst>
          </a:prstGeom>
          <a:solidFill>
            <a:srgbClr val="1448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32919" y="2194560"/>
            <a:ext cx="5486400" cy="5874385"/>
          </a:xfrm>
          <a:prstGeom prst="rect">
            <a:avLst/>
          </a:prstGeom>
          <a:noFill/>
        </p:spPr>
        <p:txBody>
          <a:bodyPr wrap="square" lIns="411479" tIns="411479" rIns="411479" bIns="411479" anchor="t">
            <a:spAutoFit/>
          </a:bodyPr>
          <a:lstStyle/>
          <a:p>
            <a:pPr algn="l">
              <a:spcAft>
                <a:spcPts val="1295"/>
              </a:spcAft>
            </a:pPr>
            <a:r>
              <a:rPr sz="2600" b="1">
                <a:solidFill>
                  <a:srgbClr val="FFC81E"/>
                </a:solidFill>
                <a:latin typeface="Arial" panose="020B0604020202020204"/>
              </a:rPr>
              <a:t>SANKSI</a:t>
            </a:r>
            <a:endParaRPr sz="26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400" b="1">
                <a:solidFill>
                  <a:srgbClr val="FFC81E"/>
                </a:solidFill>
                <a:latin typeface="Arial" panose="020B0604020202020204"/>
              </a:rPr>
              <a:t>DIKURANGI</a:t>
            </a:r>
            <a:endParaRPr sz="24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Project Lama −35%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Terlambat (Konfirmasi) −10%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lang="en-US" sz="2400" b="1">
                <a:solidFill>
                  <a:srgbClr val="FFC81E"/>
                </a:solidFill>
                <a:latin typeface="Arial" panose="020B0604020202020204"/>
              </a:rPr>
              <a:t>DISKUALIFIKASI</a:t>
            </a:r>
            <a:endParaRPr sz="2400" b="1">
              <a:solidFill>
                <a:srgbClr val="FFC81E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Plagiarisme · Repo Private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Manipulasi Prompt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Tidak Terbukti Dari Nol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  <a:p>
            <a:pPr algn="l">
              <a:spcAft>
                <a:spcPts val="1295"/>
              </a:spcAft>
            </a:pPr>
            <a:r>
              <a:rPr sz="2800" b="0">
                <a:solidFill>
                  <a:srgbClr val="FFFFFF"/>
                </a:solidFill>
                <a:latin typeface="Arial" panose="020B0604020202020204"/>
              </a:rPr>
              <a:t>Telat Tanpa Konfirmasi</a:t>
            </a:r>
            <a:endParaRPr sz="2800" b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  <p:txBody>
          <a:bodyPr/>
          <a:p/>
        </p:txBody>
      </p:sp>
      <p:grpSp>
        <p:nvGrpSpPr>
          <p:cNvPr id="3" name="Group 3"/>
          <p:cNvGrpSpPr/>
          <p:nvPr/>
        </p:nvGrpSpPr>
        <p:grpSpPr>
          <a:xfrm rot="0">
            <a:off x="901703" y="682247"/>
            <a:ext cx="976379" cy="976379"/>
            <a:chOff x="0" y="0"/>
            <a:chExt cx="1301839" cy="1301839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01750" cy="1301750"/>
            </a:xfrm>
            <a:custGeom>
              <a:avLst/>
              <a:gdLst/>
              <a:ahLst/>
              <a:cxnLst/>
              <a:rect l="l" t="t" r="r" b="b"/>
              <a:pathLst>
                <a:path w="1301750" h="1301750">
                  <a:moveTo>
                    <a:pt x="0" y="250317"/>
                  </a:moveTo>
                  <a:cubicBezTo>
                    <a:pt x="0" y="112141"/>
                    <a:pt x="112141" y="0"/>
                    <a:pt x="250317" y="0"/>
                  </a:cubicBezTo>
                  <a:lnTo>
                    <a:pt x="1051433" y="0"/>
                  </a:lnTo>
                  <a:cubicBezTo>
                    <a:pt x="1189736" y="0"/>
                    <a:pt x="1301750" y="112141"/>
                    <a:pt x="1301750" y="250317"/>
                  </a:cubicBezTo>
                  <a:lnTo>
                    <a:pt x="1301750" y="1051433"/>
                  </a:lnTo>
                  <a:cubicBezTo>
                    <a:pt x="1301750" y="1189736"/>
                    <a:pt x="1189609" y="1301750"/>
                    <a:pt x="1051433" y="1301750"/>
                  </a:cubicBezTo>
                  <a:lnTo>
                    <a:pt x="250317" y="1301750"/>
                  </a:lnTo>
                  <a:cubicBezTo>
                    <a:pt x="112141" y="1301877"/>
                    <a:pt x="0" y="1189736"/>
                    <a:pt x="0" y="1051433"/>
                  </a:cubicBezTo>
                  <a:close/>
                </a:path>
              </a:pathLst>
            </a:custGeom>
            <a:solidFill>
              <a:srgbClr val="1448C8"/>
            </a:solidFill>
            <a:ln w="25400" cap="sq">
              <a:solidFill>
                <a:srgbClr val="1448C8"/>
              </a:solidFill>
              <a:prstDash val="solid"/>
              <a:miter/>
            </a:ln>
          </p:spPr>
        </p:sp>
      </p:grpSp>
      <p:grpSp>
        <p:nvGrpSpPr>
          <p:cNvPr id="5" name="Group 5"/>
          <p:cNvGrpSpPr/>
          <p:nvPr/>
        </p:nvGrpSpPr>
        <p:grpSpPr>
          <a:xfrm rot="0">
            <a:off x="914400" y="694944"/>
            <a:ext cx="950976" cy="950976"/>
            <a:chOff x="0" y="0"/>
            <a:chExt cx="1267968" cy="12679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67968" cy="1267968"/>
            </a:xfrm>
            <a:custGeom>
              <a:avLst/>
              <a:gdLst/>
              <a:ahLst/>
              <a:cxnLst/>
              <a:rect l="l" t="t" r="r" b="b"/>
              <a:pathLst>
                <a:path w="1267968" h="1267968">
                  <a:moveTo>
                    <a:pt x="0" y="0"/>
                  </a:moveTo>
                  <a:lnTo>
                    <a:pt x="1267968" y="0"/>
                  </a:lnTo>
                  <a:lnTo>
                    <a:pt x="1267968" y="1267968"/>
                  </a:lnTo>
                  <a:lnTo>
                    <a:pt x="0" y="12679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3"/>
              </a:stretch>
            </a:blipFill>
          </p:spPr>
          <p:txBody>
            <a:bodyPr/>
            <a:p/>
          </p:txBody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1267968" cy="132511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3120"/>
                </a:lnSpc>
              </a:pPr>
              <a:r>
                <a:rPr lang="en-US" sz="2600" b="1">
                  <a:solidFill>
                    <a:srgbClr val="FFC81E"/>
                  </a:solidFill>
                  <a:latin typeface="Consolas Bold" panose="020B0709020204030204"/>
                  <a:ea typeface="Consolas Bold" panose="020B0709020204030204"/>
                  <a:cs typeface="Consolas Bold" panose="020B0709020204030204"/>
                  <a:sym typeface="Consolas Bold" panose="020B0709020204030204"/>
                </a:rPr>
                <a:t>11</a:t>
              </a:r>
              <a:endParaRPr lang="en-US" sz="26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 rot="0">
            <a:off x="2194560" y="621792"/>
            <a:ext cx="15179040" cy="731520"/>
            <a:chOff x="0" y="0"/>
            <a:chExt cx="20238720" cy="9753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238720" cy="975360"/>
            </a:xfrm>
            <a:custGeom>
              <a:avLst/>
              <a:gdLst/>
              <a:ahLst/>
              <a:cxnLst/>
              <a:rect l="l" t="t" r="r" b="b"/>
              <a:pathLst>
                <a:path w="20238720" h="975360">
                  <a:moveTo>
                    <a:pt x="0" y="0"/>
                  </a:moveTo>
                  <a:lnTo>
                    <a:pt x="20238720" y="0"/>
                  </a:lnTo>
                  <a:lnTo>
                    <a:pt x="202387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4314" b="-354314"/>
              </a:stretch>
            </a:blipFill>
          </p:spPr>
          <p:txBody>
            <a:bodyPr/>
            <a:p/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20238720" cy="9944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760"/>
                </a:lnSpc>
              </a:pPr>
              <a:r>
                <a:rPr lang="en-US" sz="4800" b="1">
                  <a:solidFill>
                    <a:srgbClr val="0A1F44"/>
                  </a:solidFill>
                  <a:latin typeface="Arial Bold" panose="020B0704020202020204"/>
                  <a:ea typeface="Arial Bold" panose="020B0704020202020204"/>
                  <a:cs typeface="Arial Bold" panose="020B0704020202020204"/>
                  <a:sym typeface="Arial Bold" panose="020B0704020202020204"/>
                </a:rPr>
                <a:t>UMUM · Hadiah &amp; Benefit</a:t>
              </a:r>
              <a:endParaRPr lang="en-US" sz="4800" b="1">
                <a:solidFill>
                  <a:srgbClr val="0A1F44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endParaRPr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" y="9617964"/>
            <a:ext cx="1097280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lang="en-US" sz="1600">
                <a:solidFill>
                  <a:srgbClr val="5B6B8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M-ONE TELKOMSEL CODING COMPETITION</a:t>
            </a:r>
            <a:endParaRPr lang="en-US" sz="1600">
              <a:solidFill>
                <a:srgbClr val="5B6B85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6276320" y="9617964"/>
            <a:ext cx="1097280" cy="403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920"/>
              </a:lnSpc>
            </a:pPr>
            <a:r>
              <a:rPr lang="en-US" sz="1600" b="1">
                <a:solidFill>
                  <a:srgbClr val="1448C8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1600" b="1">
              <a:solidFill>
                <a:srgbClr val="1448C8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45919" y="3360420"/>
            <a:ext cx="4663440" cy="3575303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19" y="3360420"/>
            <a:ext cx="4663440" cy="3575303"/>
          </a:xfrm>
          <a:prstGeom prst="rect">
            <a:avLst/>
          </a:prstGeom>
          <a:noFill/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1110"/>
              </a:spcAft>
            </a:pPr>
            <a:r>
              <a:rPr sz="2600" b="1">
                <a:solidFill>
                  <a:srgbClr val="1448C8"/>
                </a:solidFill>
                <a:latin typeface="Arial" panose="020B0604020202020204"/>
              </a:rPr>
              <a:t>JUARA 2</a:t>
            </a:r>
            <a:endParaRPr sz="2600" b="1">
              <a:solidFill>
                <a:srgbClr val="1448C8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5200" b="1">
                <a:solidFill>
                  <a:srgbClr val="0A1F44"/>
                </a:solidFill>
                <a:latin typeface="Arial" panose="020B0604020202020204"/>
              </a:rPr>
              <a:t>Rp700.000</a:t>
            </a:r>
            <a:endParaRPr sz="5200" b="1">
              <a:solidFill>
                <a:srgbClr val="0A1F44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2200" b="0">
                <a:solidFill>
                  <a:srgbClr val="0A1F44"/>
                </a:solidFill>
                <a:latin typeface="Arial" panose="020B0604020202020204"/>
              </a:rPr>
              <a:t>E-Sertifikat + Google AI Pro</a:t>
            </a:r>
            <a:endParaRPr sz="22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789420" y="2194560"/>
            <a:ext cx="4663440" cy="4741164"/>
          </a:xfrm>
          <a:prstGeom prst="roundRect">
            <a:avLst>
              <a:gd name="adj" fmla="val 42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89420" y="2194560"/>
            <a:ext cx="4663440" cy="4741164"/>
          </a:xfrm>
          <a:prstGeom prst="rect">
            <a:avLst/>
          </a:prstGeom>
          <a:noFill/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1110"/>
              </a:spcAft>
            </a:pPr>
            <a:r>
              <a:rPr sz="2600" b="1">
                <a:solidFill>
                  <a:srgbClr val="FFC81E"/>
                </a:solidFill>
                <a:latin typeface="Arial" panose="020B0604020202020204"/>
              </a:rPr>
              <a:t>JUARA 1</a:t>
            </a:r>
            <a:endParaRPr sz="2600" b="1">
              <a:solidFill>
                <a:srgbClr val="FFC81E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5200" b="1">
                <a:solidFill>
                  <a:srgbClr val="FFFFFF"/>
                </a:solidFill>
                <a:latin typeface="Arial" panose="020B0604020202020204"/>
              </a:rPr>
              <a:t>Rp1.000.000</a:t>
            </a:r>
            <a:endParaRPr sz="5200" b="1">
              <a:solidFill>
                <a:srgbClr val="FFFFFF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2200" b="0">
                <a:solidFill>
                  <a:srgbClr val="FFFFFF"/>
                </a:solidFill>
                <a:latin typeface="Arial" panose="020B0604020202020204"/>
              </a:rPr>
              <a:t>E-Sertifikat + Google AI Pro</a:t>
            </a:r>
            <a:endParaRPr sz="2200" b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11932919" y="4137660"/>
            <a:ext cx="4663440" cy="2798064"/>
          </a:xfrm>
          <a:prstGeom prst="roundRect">
            <a:avLst>
              <a:gd name="adj" fmla="val 4200"/>
            </a:avLst>
          </a:prstGeom>
          <a:solidFill>
            <a:srgbClr val="E8F0FF"/>
          </a:solidFill>
          <a:ln w="12700">
            <a:solidFill>
              <a:srgbClr val="D6E0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932919" y="4137660"/>
            <a:ext cx="4663440" cy="2798064"/>
          </a:xfrm>
          <a:prstGeom prst="rect">
            <a:avLst/>
          </a:prstGeom>
          <a:noFill/>
        </p:spPr>
        <p:txBody>
          <a:bodyPr wrap="square" lIns="137160" tIns="137160" rIns="137160" bIns="137160" anchor="ctr">
            <a:spAutoFit/>
          </a:bodyPr>
          <a:lstStyle/>
          <a:p>
            <a:pPr algn="ctr">
              <a:spcAft>
                <a:spcPts val="1110"/>
              </a:spcAft>
            </a:pPr>
            <a:r>
              <a:rPr sz="2600" b="1">
                <a:solidFill>
                  <a:srgbClr val="1448C8"/>
                </a:solidFill>
                <a:latin typeface="Arial" panose="020B0604020202020204"/>
              </a:rPr>
              <a:t>JUARA 3</a:t>
            </a:r>
            <a:endParaRPr sz="2600" b="1">
              <a:solidFill>
                <a:srgbClr val="1448C8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5200" b="1">
                <a:solidFill>
                  <a:srgbClr val="0A1F44"/>
                </a:solidFill>
                <a:latin typeface="Arial" panose="020B0604020202020204"/>
              </a:rPr>
              <a:t>Rp500.000</a:t>
            </a:r>
            <a:endParaRPr sz="5200" b="1">
              <a:solidFill>
                <a:srgbClr val="0A1F44"/>
              </a:solidFill>
              <a:latin typeface="Arial" panose="020B0604020202020204"/>
            </a:endParaRPr>
          </a:p>
          <a:p>
            <a:pPr algn="ctr">
              <a:spcAft>
                <a:spcPts val="1110"/>
              </a:spcAft>
            </a:pPr>
            <a:r>
              <a:rPr sz="2200" b="0">
                <a:solidFill>
                  <a:srgbClr val="0A1F44"/>
                </a:solidFill>
                <a:latin typeface="Arial" panose="020B0604020202020204"/>
              </a:rPr>
              <a:t>E-Sertifikat + Google AI Pro</a:t>
            </a:r>
            <a:endParaRPr sz="2200" b="0">
              <a:solidFill>
                <a:srgbClr val="0A1F44"/>
              </a:solidFill>
              <a:latin typeface="Arial" panose="020B060402020202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822959" y="7868411"/>
            <a:ext cx="16596359" cy="1554480"/>
          </a:xfrm>
          <a:prstGeom prst="roundRect">
            <a:avLst>
              <a:gd name="adj" fmla="val 4200"/>
            </a:avLst>
          </a:prstGeom>
          <a:solidFill>
            <a:srgbClr val="0A1F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8225942"/>
            <a:ext cx="2743200" cy="69951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100" b="1">
                <a:solidFill>
                  <a:srgbClr val="FFC81E"/>
                </a:solidFill>
                <a:latin typeface="Arial" panose="020B0604020202020204"/>
              </a:rPr>
              <a:t>SEMUA PESERTA</a:t>
            </a:r>
            <a:endParaRPr sz="21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977639" y="8414410"/>
            <a:ext cx="13304519" cy="3225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740"/>
              </a:spcAft>
            </a:pPr>
            <a:r>
              <a:rPr sz="2100" b="0">
                <a:solidFill>
                  <a:srgbClr val="FFFFFF"/>
                </a:solidFill>
                <a:latin typeface="Arial" panose="020B0604020202020204"/>
              </a:rPr>
              <a:t>E-Sertifikat · Domain 1 Tahun · Hosting  · Google AI Pro (</a:t>
            </a:r>
            <a:r>
              <a:rPr lang="en-US" sz="2100" b="0">
                <a:solidFill>
                  <a:srgbClr val="FFFFFF"/>
                </a:solidFill>
                <a:latin typeface="Arial" panose="020B0604020202020204"/>
              </a:rPr>
              <a:t>3 pemenang</a:t>
            </a:r>
            <a:r>
              <a:rPr sz="2100" b="0">
                <a:solidFill>
                  <a:srgbClr val="FFFFFF"/>
                </a:solidFill>
                <a:latin typeface="Arial" panose="020B0604020202020204"/>
              </a:rPr>
              <a:t>)</a:t>
            </a:r>
            <a:endParaRPr sz="2100" b="0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80160" y="2051685"/>
            <a:ext cx="5486400" cy="160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8000" b="1">
              <a:solidFill>
                <a:srgbClr val="FFC81E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80160" y="3802380"/>
            <a:ext cx="14630400" cy="15011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20"/>
              </a:lnSpc>
            </a:pPr>
            <a:r>
              <a:rPr lang="en-US" sz="7600" b="1">
                <a:solidFill>
                  <a:srgbClr val="FFFFFF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TANYA JAWAB</a:t>
            </a:r>
            <a:endParaRPr lang="en-US" sz="7600" b="1">
              <a:solidFill>
                <a:srgbClr val="FFFFFF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280160" y="5486400"/>
            <a:ext cx="14630400" cy="11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lang="id-ID" sz="3400" b="1">
                <a:solidFill>
                  <a:srgbClr val="FFC81E"/>
                </a:solidFill>
                <a:latin typeface="Arial" panose="020B0604020202020204"/>
              </a:rPr>
              <a:t>Silakan ajukan pertanyaan seputar lomba</a:t>
            </a:r>
            <a:endParaRPr lang="id-ID" sz="3400" b="1">
              <a:solidFill>
                <a:srgbClr val="FFC81E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80160" y="2051685"/>
            <a:ext cx="5486400" cy="160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8000" b="1">
              <a:solidFill>
                <a:srgbClr val="FFC81E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1280160" y="3802380"/>
            <a:ext cx="14630400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120"/>
              </a:lnSpc>
            </a:pPr>
            <a:r>
              <a:rPr lang="en-US" sz="7600" b="1">
                <a:solidFill>
                  <a:srgbClr val="FFFFFF"/>
                </a:solidFill>
                <a:latin typeface="Arial Bold" panose="020B0704020202020204"/>
                <a:ea typeface="Arial Bold" panose="020B0704020202020204"/>
                <a:cs typeface="Arial Bold" panose="020B0704020202020204"/>
                <a:sym typeface="Arial Bold" panose="020B0704020202020204"/>
              </a:rPr>
              <a:t>TERIMAKASIH TELAH MENYIMAK TECHNICAL MEETING PADA PAGI HARI INI</a:t>
            </a:r>
            <a:endParaRPr lang="en-US" sz="7600" b="1">
              <a:solidFill>
                <a:srgbClr val="FFFFFF"/>
              </a:solidFill>
              <a:latin typeface="Arial Bold" panose="020B0704020202020204"/>
              <a:ea typeface="Arial Bold" panose="020B0704020202020204"/>
              <a:cs typeface="Arial Bold" panose="020B0704020202020204"/>
              <a:sym typeface="Arial Bold" panose="020B0704020202020204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75120" y="5486400"/>
            <a:ext cx="521208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sz="34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2070080" y="5486400"/>
            <a:ext cx="5212080" cy="614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endParaRPr sz="3400" b="1">
              <a:solidFill>
                <a:srgbClr val="FFC81E"/>
              </a:solidFill>
              <a:latin typeface="Arial" panose="020B0604020202020204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5486400" y="7900000"/>
            <a:ext cx="11300000" cy="4921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endParaRPr lang="id-ID" sz="3200" b="1">
              <a:solidFill>
                <a:srgbClr val="FFFFFF"/>
              </a:solidFill>
              <a:latin typeface="Arial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1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1280160" y="2051685"/>
            <a:ext cx="5486400" cy="1605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00"/>
              </a:lnSpc>
            </a:pPr>
            <a:r>
              <a:rPr lang="en-US" sz="8000" b="1">
                <a:solidFill>
                  <a:srgbClr val="FFC81E"/>
                </a:solidFill>
                <a:latin typeface="Consolas Bold" panose="020B0709020204030204"/>
                <a:ea typeface="Consolas Bold" panose="020B0709020204030204"/>
                <a:cs typeface="Consolas Bold" panose="020B0709020204030204"/>
                <a:sym typeface="Consolas Bold" panose="020B0709020204030204"/>
              </a:rPr>
              <a:t>&lt;/&gt;</a:t>
            </a:r>
            <a:endParaRPr lang="en-US" sz="8000" b="1">
              <a:solidFill>
                <a:srgbClr val="FFC81E"/>
              </a:solidFill>
              <a:latin typeface="Consolas Bold" panose="020B0709020204030204"/>
              <a:ea typeface="Consolas Bold" panose="020B0709020204030204"/>
              <a:cs typeface="Consolas Bold" panose="020B0709020204030204"/>
              <a:sym typeface="Consolas Bold" panose="020B0709020204030204"/>
            </a:endParaRPr>
          </a:p>
        </p:txBody>
      </p:sp>
      <p:sp>
        <p:nvSpPr>
          <p:cNvPr id="4" name="Label Format"/>
          <p:cNvSpPr txBox="1"/>
          <p:nvPr/>
        </p:nvSpPr>
        <p:spPr>
          <a:xfrm>
            <a:off x="1280160" y="4300000"/>
            <a:ext cx="9400000" cy="6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/>
            <a:r>
              <a:rPr lang="id-ID" sz="3400" b="1">
                <a:solidFill>
                  <a:srgbClr val="FFC81E"/>
                </a:solidFill>
                <a:latin typeface="Arial" panose="020B0604020202020204"/>
              </a:rPr>
              <a:t>Format nama tanya jawab :</a:t>
            </a:r>
          </a:p>
        </p:txBody>
      </p:sp>
      <p:sp>
        <p:nvSpPr>
          <p:cNvPr id="5" name="Format Nama"/>
          <p:cNvSpPr txBox="1"/>
          <p:nvPr/>
        </p:nvSpPr>
        <p:spPr>
          <a:xfrm>
            <a:off x="1280160" y="5100000"/>
            <a:ext cx="9400000" cy="24000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0000"/>
              </a:lnSpc>
            </a:pPr>
            <a:r>
              <a:rPr lang="id-ID" sz="5000" b="1">
                <a:solidFill>
                  <a:srgbClr val="FFFFFF"/>
                </a:solidFill>
                <a:latin typeface="Arial" panose="020B0604020202020204"/>
              </a:rPr>
              <a:t>Nama Peserta_Kategori Umum/Sekolah</a:t>
            </a:r>
          </a:p>
        </p:txBody>
      </p:sp>
      <p:sp>
        <p:nvSpPr>
          <p:cNvPr id="6" name="QR Card"/>
          <p:cNvSpPr/>
          <p:nvPr/>
        </p:nvSpPr>
        <p:spPr>
          <a:xfrm>
            <a:off x="11200000" y="2243500"/>
            <a:ext cx="5800000" cy="58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 lang="id-ID"/>
          </a:p>
        </p:txBody>
      </p:sp>
      <p:pic>
        <p:nvPicPr>
          <p:cNvPr id="7" name="QR Tanya Jawab" descr="QR code tanya jawa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50000" y="2593500"/>
            <a:ext cx="5100000" cy="5100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3278</Words>
  <Application>WPS Presentation</Application>
  <PresentationFormat>On-screen Show (4:3)</PresentationFormat>
  <Paragraphs>385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Consolas Bold</vt:lpstr>
      <vt:lpstr>Arial Bold</vt:lpstr>
      <vt:lpstr>Calibri (MS) Italics</vt:lpstr>
      <vt:lpstr>Consolas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Guidebook_MONE_Coding_Competition_Redesign_Tech.pptx</dc:title>
  <dc:creator/>
  <cp:lastModifiedBy>Lenovo</cp:lastModifiedBy>
  <cp:revision>5</cp:revision>
  <dcterms:created xsi:type="dcterms:W3CDTF">2026-10-04T06:30:00Z</dcterms:created>
  <dcterms:modified xsi:type="dcterms:W3CDTF">2026-10-03T09:18:45Z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2DAD9B22822B4E3B8633BF0341C239E3_12</vt:lpwstr>
  </property>
</Properties>
</file>